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it is" id="{12e2509d-821c-da6a-2cd2-a55aeac2ea72}">
          <p14:sldIdLst>
            <p14:sldId id="256"/>
            <p14:sldId id="257"/>
            <p14:sldId id="258"/>
          </p14:sldIdLst>
        </p14:section>
        <p14:section name="How it runs" id="{88822ec2-17af-9039-f7b3-0b19d04f31bd}">
          <p14:sldIdLst>
            <p14:sldId id="259"/>
            <p14:sldId id="260"/>
            <p14:sldId id="261"/>
            <p14:sldId id="262"/>
          </p14:sldIdLst>
        </p14:section>
        <p14:section name="Write tests" id="{a2380ea5-4557-2a08-524a-f63cac134222}">
          <p14:sldIdLst>
            <p14:sldId id="263"/>
            <p14:sldId id="264"/>
            <p14:sldId id="265"/>
            <p14:sldId id="266"/>
            <p14:sldId id="267"/>
            <p14:sldId id="268"/>
            <p14:sldId id="269"/>
          </p14:sldIdLst>
        </p14:section>
        <p14:section name="Demo" id="{afb537f2-c8ae-6762-927e-bbd61a1c38ed}">
          <p14:sldIdLst>
            <p14:sldId id="270"/>
          </p14:sldIdLst>
        </p14:section>
        <p14:section name="When it is red" id="{43dbf687-01df-0cb9-06cc-46d05a937d7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what our end-to-end suite is, how it is organised, when it runs, how to set it up, and how to write a test with an AI agent. One live demo at the end that you can follow on your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obi-e2e drives the real web app in a real browser, against staging every morning and production by hand. You describe what should happen in scenario.md, in plain English. The /e2e-generate command turns that into a Playwright test and runs it until it passes twice. An engineer or scientist reviews the pull request like any other change. From then on it runs every morning and posts to Teams. Example of what it catches: on 15 September, an e-feature launch failure that the browser reported as a CORS error was really a server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 scenario files hold 300 cases. Some cases run once per configuration in their seed, which is why there are 312 tests. A regular run takes 31 to 42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tag decides which Playwright project picks a test up. You never type it: the User line in the scenario sets it. visitor is @public, signed out. authenticated is @private, the QA user inside a project the run creates for itself. credits adds @credits: the test launches a build or simulation, so it waits until the project has been funded; if the lab cannot pay, only these tests are skipped. onboarding uses a second user who owns nothing yet, for signing up and first labs. @slow comes from the seed, not the User line. To run one group: make test -- --grep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suites start together at 06:00 Swiss time, as two separate jobs of one run: same Teams thread, same report folder on the dashboard. The regular suite holds 308 tests (public, private, credits, onboarding) and finishes in 31 to 42 minutes; a campaign it launches has 5 minutes to reach done. The slow suite exists because some campaigns take hours: microcircuit, brain region and whole-brain simulation, and e-model optimization. Left in the regular suite they would hold up every other result, so they run in their own job, with six hours on the clock, and each one is followed to the end. A workflow case moves there with "slow": true in its seed. Most of you will only write regular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morning at 06:00 Swiss time both suites run on staging, and when the web app releases both suites run on staging in a Teams thread named after the release. A merge to this repository’s main runs both suites on the preview, which is the web app’s main branch on the staging backend; a merge to the web app’s main runs the regular suite there once that build is live. A manual run picks its deployment, and ticking “slow” adds the slow suite to the same thread; today it is the only way to run on production. At 08:00 Swiss time Lighthouse measures the public website’s speed on staging and production. Each run gets its own Teams thread and its own report folder, and runs never cancel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test, the run checks ten backend services; if one is down, the run fails with its name instead of a wall of red tests. It signs in each user once, creates a project in the QA lab named after the run, and moves credits into it: 2,000 for the regular suite, 500 for slow. After the tests it returns the credits and deletes the project, even when the run is cancelled. If anything is ever left behind: make auth, then make reclaim. Results go to a Teams thread, a GitHub Pages dashboard with five days of reports and trends across 400 runs, and the full Playwright report with traces and screenshots. Each failing test shows its likely cause, such as a backend error, above its own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once, then everything in the rest of the talk works on your machine. You need git to clone the repository and an AI agent of your choice. make setup does the rest: it installs Bun 1.4 when it is missing, the packages, Chromium, and the playwright-cli skill the agent browses with, and it creates .env.staging.local from the example. It is safe to run again: it only installs what is missing. Fill in the QA user and LAB_ID in .env.staging.local; ask the team for the values, they are never committed. Run make setup again or make auth to check the sign-in, then make test scenarios/site runs the 30 public website tests: green means you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says what the file covers, and User says who is signed in. Each ## heading is one case and becomes one test with exactly that title. Precondition is where the test starts: what is already true before the first step, for example being on the Morphology listing. Steps are what the user does, numbered, in order. Expected is what must be true afterwards, one check per line; it is the only required part, and you can repeat Steps and Expected to act, check, act, check. Three habits: words in quotes must appear on screen exactly; one Expected line checks one thing; and to compare, note the value in a step, then say "as noted". Optional lines when needed: Seed, Page, After, For each, Only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such as a simulation or a build, has a long form with many fields. Typing all of those in English would be noise, so the form values live in a seed.json file next to scenario.md. The scenario says Seed: seed.json. env says where the workflow runs: staging, production or both; a workflow never uses a tag for this. selection says what to pick in the project first, here one ME-model. cases is a list, and each entry is one configuration with its own form values: under a case, For each: configuration in the seed makes one test per entry, so two entries give two tests. A seed can also say "slow": true to move a workflow into the slow suite. If the Seed file does not exist, casebook stops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casebook is the validator and the parser for scenario files. make casebook takes a folder or a file and checks its shape, not its meaning. Five problems stop it, because each one breaks a test silently: no User or an unknown one (the test would never run), a case with no Expected (it would check nothing), a line it cannot place, a Seed file that does not exist, and your own lab id pasted into Page. Everything else is a warning that never blocks you. The output on the slide is real. The second half is casebook skeleton. It reads the scenario and writes the spec file next to it: one empty test per case, a test.fixme, titled exactly as the case, with your English as comments. The title is the only thing that ties a test to its case. Run it again after you edit the scenario: it adds a stub for each new case ("+ new case"), reports "? test with no case" for a test whose case was renamed or removed, and leaves everything else alone. /e2e-generate runs it for you and then fills the stubs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Paths work at any depth: a whole area such as scenarios/data, one feature, or one scenario folder. make scenario writes a starter file under scenarios/. make casebook checks the file. make test runs on staging by default; --grep picks one tag; make test-headed shows the browser and make test-ui opens Playwright’s step-by-step UI. make report opens the last HTML report with traces and screenshots. make check runs format, lint, types and unit tests before a pull request. make auth refreshes the saved sign-in, which lasts 60 minutes; you need it when the agent’s browser lands on /app/log-in. For production, E2E_ENV=production make test … uses the production users and lab from .env.production.local.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commands do the coding. /e2e-generate takes a scenario folder, and optionally one case title in quotes. It runs the checker, writes one empty test per case, opens the real app with the Playwright CLI, finds each quoted word on the page, fills in the test, and runs it until it passes twice; then it reports each Expected line and the check behind it. /e2e-heal is for when the scenario or the app changed: it adds tests for new cases, renames or deletes tests whose case changed, repairs how tests find elements, and runs each test three times. It never changes what a test expects. Every agent runs the same procedure from prompts/ under the same rules: Claude Code and Cursor have the slash commands; Kiro has steering files; Codex reads AGENTS.md, so ask it to follow prompts/e2e-generate.md for your folder. Adding another agent is one small file pointing at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/e2e-generate or /e2e-heal needs to find something on a page, the agent opens the real app with the Playwright CLI rather than guessing from your English. It signs in with the session make auth saved, opens the page your scenario starts on, and looks for each word your scenario quotes. It writes the check with the element it actually found, and runs the test to prove it. One browser stays open for the whole job, headless, in its own named session, so nothing appears on your screen and it never touches another agent’s browser. It also reads the page’s test ids, console and network calls, which is how it tells a moved button from a backend error. make setup installs it as a skill for Claude Code and for every other agent. If the agent lands on the log-in page, the 60-minute sign-in expired: run make auth.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from the obi-e2e folder. 1: make scenario "pricing demo" writes a starter file. 2: replace its contents with the case on the slide; change User to visitor. 3: make casebook should be green; to show the checker working, delete the Expected section first, run it, see the error, put it back. 4: in Claude Code or Cursor, /e2e-generate scenarios/pricing-demo; narrate as the agent looks for "Pricing" and "Pro" on the page. 5: make test runs it signed out. 6: make report opens the HTML report. Afterwards: rm -rf scenarios/pricing-demo so the demo is not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test turns red, ask one question. If the product changed on purpose, the scenario is out of date: update scenario.md, then run /e2e-heal. In September the app regrouped circuit files as "Circuit directory": that was a yes, so six workflow scenarios were updated. If the product did not change on purpose, it is a bug: report it with the evidence and leave the test red. The report helps: each failing test shows its likely cause, such as a backend error or a task’s own error, above the test’s error. "Expected: Running, Actual: Failed" is a bug, never a test update. A flaky test is a bug too: fix it or delete it, no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05840" y="2148840"/>
            <a:ext cx="10058400" cy="210312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3" name="Text 0"/>
          <p:cNvSpPr/>
          <p:nvPr>
            <p:ph idx="101" type="body" hasCustomPrompt="1"/>
          </p:nvPr>
        </p:nvSpPr>
        <p:spPr>
          <a:xfrm>
            <a:off x="1005840" y="4434840"/>
            <a:ext cx="9144000" cy="54864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2743200" cy="274320"/>
          </a:xfrm>
          <a:prstGeom prst="rect">
            <a:avLst/>
          </a:prstGeom>
          <a:noFill/>
          <a:ln/>
        </p:spPr>
        <p:txBody>
          <a:bodyPr wrap="square" lIns="0" tIns="0" rIns="0" bIns="0" rtlCol="0" anchor="ctr"/>
          <a:lstStyle/>
          <a:p>
            <a:pPr indent="0" marL="0">
              <a:buNone/>
            </a:pPr>
            <a:r>
              <a:rPr lang="en-US" sz="1000" dirty="0">
                <a:solidFill>
                  <a:srgbClr val="4A5870"/>
                </a:solidFill>
              </a:rPr>
              <a:t>obi-e2e</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1005840" y="1600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OBI · END-TO-END TESTS</a:t>
            </a:r>
            <a:endParaRPr lang="en-US" sz="1300" dirty="0"/>
          </a:p>
        </p:txBody>
      </p:sp>
      <p:sp>
        <p:nvSpPr>
          <p:cNvPr id="3" name="Text 0"/>
          <p:cNvSpPr/>
          <p:nvPr>
            <p:ph idx="100" type="title" hasCustomPrompt="1"/>
          </p:nvPr>
        </p:nvSpPr>
        <p:spPr>
          <a:xfrm>
            <a:off x="1005840" y="2148840"/>
            <a:ext cx="10058400" cy="2103120"/>
          </a:xfrm>
          <a:prstGeom prst="rect">
            <a:avLst/>
          </a:prstGeom>
          <a:noFill/>
          <a:ln/>
        </p:spPr>
        <p:txBody>
          <a:bodyPr wrap="square" lIns="0" tIns="0" rIns="0" bIns="0" rtlCol="0" anchor="t"/>
          <a:lstStyle/>
          <a:p>
            <a:pPr algn="l" indent="0" marL="0">
              <a:buNone/>
            </a:pPr>
            <a:r>
              <a:rPr lang="en-US" sz="6000" b="1" dirty="0">
                <a:solidFill>
                  <a:schemeClr val="tx1"/>
                </a:solidFill>
              </a:rPr>
              <a:t>You write the test.</a:t>
            </a:r>
            <a:endParaRPr lang="en-US" sz="6000" dirty="0"/>
          </a:p>
          <a:p>
            <a:pPr algn="l" indent="0" marL="0">
              <a:buNone/>
            </a:pPr>
            <a:r>
              <a:rPr lang="en-US" sz="6000" b="1" dirty="0">
                <a:solidFill>
                  <a:schemeClr val="accent1"/>
                </a:solidFill>
              </a:rPr>
              <a:t>In English.</a:t>
            </a:r>
            <a:endParaRPr lang="en-US" sz="6000" dirty="0"/>
          </a:p>
        </p:txBody>
      </p:sp>
      <p:sp>
        <p:nvSpPr>
          <p:cNvPr id="4" name="Text 0"/>
          <p:cNvSpPr/>
          <p:nvPr>
            <p:ph idx="101" type="body" hasCustomPrompt="1"/>
          </p:nvPr>
        </p:nvSpPr>
        <p:spPr>
          <a:xfrm>
            <a:off x="1005840" y="4434840"/>
            <a:ext cx="9144000" cy="548640"/>
          </a:xfrm>
          <a:prstGeom prst="rect">
            <a:avLst/>
          </a:prstGeom>
          <a:noFill/>
          <a:ln/>
        </p:spPr>
        <p:txBody>
          <a:bodyPr wrap="square" lIns="0" tIns="0" rIns="0" bIns="0" rtlCol="0" anchor="t"/>
          <a:lstStyle/>
          <a:p>
            <a:pPr algn="l" indent="0" marL="0">
              <a:buNone/>
            </a:pPr>
            <a:r>
              <a:rPr lang="en-US" sz="2200" dirty="0">
                <a:solidFill>
                  <a:schemeClr val="tx2"/>
                </a:solidFill>
              </a:rPr>
              <a:t>How obi-e2e works, and how to write tests with AI</a:t>
            </a:r>
            <a:endParaRPr lang="en-US" sz="2200" dirty="0"/>
          </a:p>
        </p:txBody>
      </p:sp>
      <p:sp>
        <p:nvSpPr>
          <p:cNvPr id="5" name="text-2"/>
          <p:cNvSpPr txBox="1"/>
          <p:nvPr/>
        </p:nvSpPr>
        <p:spPr>
          <a:xfrm>
            <a:off x="1005840" y="5989320"/>
            <a:ext cx="5486400" cy="320040"/>
          </a:xfrm>
          <a:prstGeom prst="rect">
            <a:avLst/>
          </a:prstGeom>
          <a:noFill/>
          <a:ln/>
        </p:spPr>
        <p:txBody>
          <a:bodyPr wrap="square" lIns="0" tIns="0" rIns="0" bIns="0" rtlCol="0" anchor="ctr"/>
          <a:lstStyle/>
          <a:p>
            <a:pPr indent="0" marL="0">
              <a:buNone/>
            </a:pPr>
            <a:r>
              <a:rPr lang="en-US" sz="1200" dirty="0">
                <a:solidFill>
                  <a:schemeClr val="tx2"/>
                </a:solidFill>
              </a:rPr>
              <a:t>obi-e2e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What obi-e2e does</a:t>
            </a:r>
            <a:endParaRPr lang="en-US" sz="3400" dirty="0"/>
          </a:p>
        </p:txBody>
      </p:sp>
      <p:sp>
        <p:nvSpPr>
          <p:cNvPr id="3" name="text-3"/>
          <p:cNvSpPr txBox="1"/>
          <p:nvPr/>
        </p:nvSpPr>
        <p:spPr>
          <a:xfrm>
            <a:off x="548640" y="1216152"/>
            <a:ext cx="10515600" cy="411480"/>
          </a:xfrm>
          <a:prstGeom prst="rect">
            <a:avLst/>
          </a:prstGeom>
          <a:noFill/>
          <a:ln/>
        </p:spPr>
        <p:txBody>
          <a:bodyPr wrap="square" lIns="0" tIns="0" rIns="0" bIns="0" rtlCol="0" anchor="ctr"/>
          <a:lstStyle/>
          <a:p>
            <a:pPr indent="0" marL="0">
              <a:buNone/>
            </a:pPr>
            <a:r>
              <a:rPr lang="en-US" sz="1800" dirty="0">
                <a:solidFill>
                  <a:schemeClr val="tx2"/>
                </a:solidFill>
              </a:rPr>
              <a:t>Tests that use the platform the way a scientist does: a real browser, a real account, every morning.</a:t>
            </a:r>
            <a:endParaRPr lang="en-US" sz="1800" dirty="0"/>
          </a:p>
        </p:txBody>
      </p:sp>
      <p:sp>
        <p:nvSpPr>
          <p:cNvPr id="4" name="link-4"/>
          <p:cNvSpPr/>
          <p:nvPr/>
        </p:nvSpPr>
        <p:spPr>
          <a:xfrm>
            <a:off x="2606040" y="2788920"/>
            <a:ext cx="1344168" cy="0"/>
          </a:xfrm>
          <a:prstGeom prst="line">
            <a:avLst/>
          </a:prstGeom>
          <a:noFill/>
          <a:ln w="19050">
            <a:solidFill>
              <a:srgbClr val="4A5870"/>
            </a:solidFill>
            <a:prstDash val="solid"/>
          </a:ln>
        </p:spPr>
      </p:sp>
      <p:sp>
        <p:nvSpPr>
          <p:cNvPr id="5" name="node-5"/>
          <p:cNvSpPr/>
          <p:nvPr/>
        </p:nvSpPr>
        <p:spPr>
          <a:xfrm>
            <a:off x="3895344" y="2734056"/>
            <a:ext cx="109728" cy="109728"/>
          </a:xfrm>
          <a:prstGeom prst="ellipse">
            <a:avLst/>
          </a:prstGeom>
          <a:solidFill>
            <a:srgbClr val="026FD7"/>
          </a:solidFill>
          <a:ln/>
        </p:spPr>
      </p:sp>
      <p:sp>
        <p:nvSpPr>
          <p:cNvPr id="6" name="node-6"/>
          <p:cNvSpPr/>
          <p:nvPr/>
        </p:nvSpPr>
        <p:spPr>
          <a:xfrm>
            <a:off x="1280160" y="2194560"/>
            <a:ext cx="1188720" cy="1188720"/>
          </a:xfrm>
          <a:prstGeom prst="ellipse">
            <a:avLst/>
          </a:prstGeom>
          <a:solidFill>
            <a:schemeClr val="accent1"/>
          </a:solidFill>
          <a:ln/>
        </p:spPr>
      </p:sp>
      <p:pic>
        <p:nvPicPr>
          <p:cNvPr id="7" name="icon-7" descr="preencoded.png">    </p:cNvPr>
          <p:cNvPicPr>
            <a:picLocks noChangeAspect="1"/>
          </p:cNvPicPr>
          <p:nvPr/>
        </p:nvPicPr>
        <p:blipFill>
          <a:blip r:embed="rId1"/>
          <a:stretch>
            <a:fillRect/>
          </a:stretch>
        </p:blipFill>
        <p:spPr>
          <a:xfrm>
            <a:off x="1577340" y="2491740"/>
            <a:ext cx="594360" cy="594360"/>
          </a:xfrm>
          <a:prstGeom prst="rect">
            <a:avLst/>
          </a:prstGeom>
        </p:spPr>
      </p:pic>
      <p:sp>
        <p:nvSpPr>
          <p:cNvPr id="8" name="text-8"/>
          <p:cNvSpPr txBox="1"/>
          <p:nvPr/>
        </p:nvSpPr>
        <p:spPr>
          <a:xfrm>
            <a:off x="548640" y="3566160"/>
            <a:ext cx="2651760" cy="685800"/>
          </a:xfrm>
          <a:prstGeom prst="rect">
            <a:avLst/>
          </a:prstGeom>
          <a:noFill/>
          <a:ln/>
        </p:spPr>
        <p:txBody>
          <a:bodyPr wrap="square" lIns="0" tIns="0" rIns="0" bIns="0" rtlCol="0" anchor="ctr"/>
          <a:lstStyle/>
          <a:p>
            <a:pPr algn="ctr" indent="0" marL="0">
              <a:buNone/>
            </a:pPr>
            <a:r>
              <a:rPr lang="en-US" sz="1700" b="1" dirty="0">
                <a:solidFill>
                  <a:schemeClr val="tx1"/>
                </a:solidFill>
              </a:rPr>
              <a:t>You write it</a:t>
            </a:r>
            <a:endParaRPr lang="en-US" sz="1700" dirty="0"/>
          </a:p>
        </p:txBody>
      </p:sp>
      <p:sp>
        <p:nvSpPr>
          <p:cNvPr id="9" name="text-9"/>
          <p:cNvSpPr txBox="1"/>
          <p:nvPr/>
        </p:nvSpPr>
        <p:spPr>
          <a:xfrm>
            <a:off x="502920" y="4279392"/>
            <a:ext cx="2743200" cy="365760"/>
          </a:xfrm>
          <a:prstGeom prst="rect">
            <a:avLst/>
          </a:prstGeom>
          <a:noFill/>
          <a:ln/>
        </p:spPr>
        <p:txBody>
          <a:bodyPr wrap="square" lIns="0" tIns="0" rIns="0" bIns="0" rtlCol="0" anchor="ctr"/>
          <a:lstStyle/>
          <a:p>
            <a:pPr algn="ctr" indent="0" marL="0">
              <a:buNone/>
            </a:pPr>
            <a:r>
              <a:rPr lang="en-US" sz="1300" dirty="0">
                <a:solidFill>
                  <a:schemeClr val="tx2"/>
                </a:solidFill>
              </a:rPr>
              <a:t>scenario.md, in plain English</a:t>
            </a:r>
            <a:endParaRPr lang="en-US" sz="1300" dirty="0"/>
          </a:p>
        </p:txBody>
      </p:sp>
      <p:sp>
        <p:nvSpPr>
          <p:cNvPr id="10" name="link-10"/>
          <p:cNvSpPr/>
          <p:nvPr/>
        </p:nvSpPr>
        <p:spPr>
          <a:xfrm>
            <a:off x="5413248" y="2788920"/>
            <a:ext cx="1344168" cy="0"/>
          </a:xfrm>
          <a:prstGeom prst="line">
            <a:avLst/>
          </a:prstGeom>
          <a:noFill/>
          <a:ln w="19050">
            <a:solidFill>
              <a:srgbClr val="4A5870"/>
            </a:solidFill>
            <a:prstDash val="solid"/>
          </a:ln>
        </p:spPr>
      </p:sp>
      <p:sp>
        <p:nvSpPr>
          <p:cNvPr id="11" name="node-11"/>
          <p:cNvSpPr/>
          <p:nvPr/>
        </p:nvSpPr>
        <p:spPr>
          <a:xfrm>
            <a:off x="6702552" y="2734056"/>
            <a:ext cx="109728" cy="109728"/>
          </a:xfrm>
          <a:prstGeom prst="ellipse">
            <a:avLst/>
          </a:prstGeom>
          <a:solidFill>
            <a:srgbClr val="026FD7"/>
          </a:solidFill>
          <a:ln/>
        </p:spPr>
      </p:sp>
      <p:sp>
        <p:nvSpPr>
          <p:cNvPr id="12" name="node-12"/>
          <p:cNvSpPr/>
          <p:nvPr/>
        </p:nvSpPr>
        <p:spPr>
          <a:xfrm>
            <a:off x="4087368" y="2194560"/>
            <a:ext cx="1188720" cy="1188720"/>
          </a:xfrm>
          <a:prstGeom prst="ellipse">
            <a:avLst/>
          </a:prstGeom>
          <a:solidFill>
            <a:schemeClr val="tx1"/>
          </a:solidFill>
          <a:ln/>
        </p:spPr>
      </p:sp>
      <p:pic>
        <p:nvPicPr>
          <p:cNvPr id="13" name="icon-13" descr="preencoded.png">    </p:cNvPr>
          <p:cNvPicPr>
            <a:picLocks noChangeAspect="1"/>
          </p:cNvPicPr>
          <p:nvPr/>
        </p:nvPicPr>
        <p:blipFill>
          <a:blip r:embed="rId2"/>
          <a:stretch>
            <a:fillRect/>
          </a:stretch>
        </p:blipFill>
        <p:spPr>
          <a:xfrm>
            <a:off x="4384548" y="2491740"/>
            <a:ext cx="594360" cy="594360"/>
          </a:xfrm>
          <a:prstGeom prst="rect">
            <a:avLst/>
          </a:prstGeom>
        </p:spPr>
      </p:pic>
      <p:sp>
        <p:nvSpPr>
          <p:cNvPr id="14" name="text-14"/>
          <p:cNvSpPr txBox="1"/>
          <p:nvPr/>
        </p:nvSpPr>
        <p:spPr>
          <a:xfrm>
            <a:off x="3355848" y="3566160"/>
            <a:ext cx="2651760" cy="685800"/>
          </a:xfrm>
          <a:prstGeom prst="rect">
            <a:avLst/>
          </a:prstGeom>
          <a:noFill/>
          <a:ln/>
        </p:spPr>
        <p:txBody>
          <a:bodyPr wrap="square" lIns="0" tIns="0" rIns="0" bIns="0" rtlCol="0" anchor="ctr"/>
          <a:lstStyle/>
          <a:p>
            <a:pPr algn="ctr" indent="0" marL="0">
              <a:buNone/>
            </a:pPr>
            <a:r>
              <a:rPr lang="en-US" sz="1700" b="1" dirty="0">
                <a:solidFill>
                  <a:schemeClr val="tx1"/>
                </a:solidFill>
              </a:rPr>
              <a:t>AI builds it</a:t>
            </a:r>
            <a:endParaRPr lang="en-US" sz="1700" dirty="0"/>
          </a:p>
        </p:txBody>
      </p:sp>
      <p:sp>
        <p:nvSpPr>
          <p:cNvPr id="15" name="text-15"/>
          <p:cNvSpPr txBox="1"/>
          <p:nvPr/>
        </p:nvSpPr>
        <p:spPr>
          <a:xfrm>
            <a:off x="3310128" y="4279392"/>
            <a:ext cx="2743200" cy="365760"/>
          </a:xfrm>
          <a:prstGeom prst="rect">
            <a:avLst/>
          </a:prstGeom>
          <a:noFill/>
          <a:ln/>
        </p:spPr>
        <p:txBody>
          <a:bodyPr wrap="square" lIns="0" tIns="0" rIns="0" bIns="0" rtlCol="0" anchor="ctr"/>
          <a:lstStyle/>
          <a:p>
            <a:pPr algn="ctr" indent="0" marL="0">
              <a:buNone/>
            </a:pPr>
            <a:r>
              <a:rPr lang="en-US" sz="1300" dirty="0">
                <a:solidFill>
                  <a:schemeClr val="tx2"/>
                </a:solidFill>
              </a:rPr>
              <a:t>a Playwright test, run until green</a:t>
            </a:r>
            <a:endParaRPr lang="en-US" sz="1300" dirty="0"/>
          </a:p>
        </p:txBody>
      </p:sp>
      <p:sp>
        <p:nvSpPr>
          <p:cNvPr id="16" name="link-16"/>
          <p:cNvSpPr/>
          <p:nvPr/>
        </p:nvSpPr>
        <p:spPr>
          <a:xfrm>
            <a:off x="8220456" y="2788920"/>
            <a:ext cx="1344168" cy="0"/>
          </a:xfrm>
          <a:prstGeom prst="line">
            <a:avLst/>
          </a:prstGeom>
          <a:noFill/>
          <a:ln w="19050">
            <a:solidFill>
              <a:srgbClr val="4A5870"/>
            </a:solidFill>
            <a:prstDash val="solid"/>
          </a:ln>
        </p:spPr>
      </p:sp>
      <p:sp>
        <p:nvSpPr>
          <p:cNvPr id="17" name="node-17"/>
          <p:cNvSpPr/>
          <p:nvPr/>
        </p:nvSpPr>
        <p:spPr>
          <a:xfrm>
            <a:off x="9509760" y="2734056"/>
            <a:ext cx="109728" cy="109728"/>
          </a:xfrm>
          <a:prstGeom prst="ellipse">
            <a:avLst/>
          </a:prstGeom>
          <a:solidFill>
            <a:srgbClr val="026FD7"/>
          </a:solidFill>
          <a:ln/>
        </p:spPr>
      </p:sp>
      <p:sp>
        <p:nvSpPr>
          <p:cNvPr id="18" name="node-18"/>
          <p:cNvSpPr/>
          <p:nvPr/>
        </p:nvSpPr>
        <p:spPr>
          <a:xfrm>
            <a:off x="6894576" y="2194560"/>
            <a:ext cx="1188720" cy="1188720"/>
          </a:xfrm>
          <a:prstGeom prst="ellipse">
            <a:avLst/>
          </a:prstGeom>
          <a:solidFill>
            <a:schemeClr val="tx1"/>
          </a:solidFill>
          <a:ln/>
        </p:spPr>
      </p:sp>
      <p:pic>
        <p:nvPicPr>
          <p:cNvPr id="19" name="icon-19" descr="preencoded.png">    </p:cNvPr>
          <p:cNvPicPr>
            <a:picLocks noChangeAspect="1"/>
          </p:cNvPicPr>
          <p:nvPr/>
        </p:nvPicPr>
        <p:blipFill>
          <a:blip r:embed="rId3"/>
          <a:stretch>
            <a:fillRect/>
          </a:stretch>
        </p:blipFill>
        <p:spPr>
          <a:xfrm>
            <a:off x="7191756" y="2491740"/>
            <a:ext cx="594360" cy="594360"/>
          </a:xfrm>
          <a:prstGeom prst="rect">
            <a:avLst/>
          </a:prstGeom>
        </p:spPr>
      </p:pic>
      <p:sp>
        <p:nvSpPr>
          <p:cNvPr id="20" name="text-20"/>
          <p:cNvSpPr txBox="1"/>
          <p:nvPr/>
        </p:nvSpPr>
        <p:spPr>
          <a:xfrm>
            <a:off x="6163056" y="3566160"/>
            <a:ext cx="2651760" cy="685800"/>
          </a:xfrm>
          <a:prstGeom prst="rect">
            <a:avLst/>
          </a:prstGeom>
          <a:noFill/>
          <a:ln/>
        </p:spPr>
        <p:txBody>
          <a:bodyPr wrap="square" lIns="0" tIns="0" rIns="0" bIns="0" rtlCol="0" anchor="ctr"/>
          <a:lstStyle/>
          <a:p>
            <a:pPr algn="ctr" indent="0" marL="0">
              <a:buNone/>
            </a:pPr>
            <a:r>
              <a:rPr lang="en-US" sz="1700" b="1" dirty="0">
                <a:solidFill>
                  <a:schemeClr val="tx1"/>
                </a:solidFill>
              </a:rPr>
              <a:t>An engineer or scientist reviews it</a:t>
            </a:r>
            <a:endParaRPr lang="en-US" sz="1700" dirty="0"/>
          </a:p>
        </p:txBody>
      </p:sp>
      <p:sp>
        <p:nvSpPr>
          <p:cNvPr id="21" name="text-21"/>
          <p:cNvSpPr txBox="1"/>
          <p:nvPr/>
        </p:nvSpPr>
        <p:spPr>
          <a:xfrm>
            <a:off x="6117336" y="4279392"/>
            <a:ext cx="2743200" cy="365760"/>
          </a:xfrm>
          <a:prstGeom prst="rect">
            <a:avLst/>
          </a:prstGeom>
          <a:noFill/>
          <a:ln/>
        </p:spPr>
        <p:txBody>
          <a:bodyPr wrap="square" lIns="0" tIns="0" rIns="0" bIns="0" rtlCol="0" anchor="ctr"/>
          <a:lstStyle/>
          <a:p>
            <a:pPr algn="ctr" indent="0" marL="0">
              <a:buNone/>
            </a:pPr>
            <a:r>
              <a:rPr lang="en-US" sz="1300" dirty="0">
                <a:solidFill>
                  <a:schemeClr val="tx2"/>
                </a:solidFill>
              </a:rPr>
              <a:t>an ordinary pull request</a:t>
            </a:r>
            <a:endParaRPr lang="en-US" sz="1300" dirty="0"/>
          </a:p>
        </p:txBody>
      </p:sp>
      <p:sp>
        <p:nvSpPr>
          <p:cNvPr id="22" name="node-22"/>
          <p:cNvSpPr/>
          <p:nvPr/>
        </p:nvSpPr>
        <p:spPr>
          <a:xfrm>
            <a:off x="9701784" y="2194560"/>
            <a:ext cx="1188720" cy="1188720"/>
          </a:xfrm>
          <a:prstGeom prst="ellipse">
            <a:avLst/>
          </a:prstGeom>
          <a:solidFill>
            <a:schemeClr val="tx1"/>
          </a:solidFill>
          <a:ln/>
        </p:spPr>
      </p:sp>
      <p:pic>
        <p:nvPicPr>
          <p:cNvPr id="23" name="icon-23" descr="preencoded.png">    </p:cNvPr>
          <p:cNvPicPr>
            <a:picLocks noChangeAspect="1"/>
          </p:cNvPicPr>
          <p:nvPr/>
        </p:nvPicPr>
        <p:blipFill>
          <a:blip r:embed="rId4"/>
          <a:stretch>
            <a:fillRect/>
          </a:stretch>
        </p:blipFill>
        <p:spPr>
          <a:xfrm>
            <a:off x="9998964" y="2491740"/>
            <a:ext cx="594360" cy="594360"/>
          </a:xfrm>
          <a:prstGeom prst="rect">
            <a:avLst/>
          </a:prstGeom>
        </p:spPr>
      </p:pic>
      <p:sp>
        <p:nvSpPr>
          <p:cNvPr id="24" name="text-24"/>
          <p:cNvSpPr txBox="1"/>
          <p:nvPr/>
        </p:nvSpPr>
        <p:spPr>
          <a:xfrm>
            <a:off x="8970264" y="3566160"/>
            <a:ext cx="2651760" cy="685800"/>
          </a:xfrm>
          <a:prstGeom prst="rect">
            <a:avLst/>
          </a:prstGeom>
          <a:noFill/>
          <a:ln/>
        </p:spPr>
        <p:txBody>
          <a:bodyPr wrap="square" lIns="0" tIns="0" rIns="0" bIns="0" rtlCol="0" anchor="ctr"/>
          <a:lstStyle/>
          <a:p>
            <a:pPr algn="ctr" indent="0" marL="0">
              <a:buNone/>
            </a:pPr>
            <a:r>
              <a:rPr lang="en-US" sz="1700" b="1" dirty="0">
                <a:solidFill>
                  <a:schemeClr val="tx1"/>
                </a:solidFill>
              </a:rPr>
              <a:t>It runs every morning</a:t>
            </a:r>
            <a:endParaRPr lang="en-US" sz="1700" dirty="0"/>
          </a:p>
        </p:txBody>
      </p:sp>
      <p:sp>
        <p:nvSpPr>
          <p:cNvPr id="25" name="text-25"/>
          <p:cNvSpPr txBox="1"/>
          <p:nvPr/>
        </p:nvSpPr>
        <p:spPr>
          <a:xfrm>
            <a:off x="8924544" y="4279392"/>
            <a:ext cx="2743200" cy="365760"/>
          </a:xfrm>
          <a:prstGeom prst="rect">
            <a:avLst/>
          </a:prstGeom>
          <a:noFill/>
          <a:ln/>
        </p:spPr>
        <p:txBody>
          <a:bodyPr wrap="square" lIns="0" tIns="0" rIns="0" bIns="0" rtlCol="0" anchor="ctr"/>
          <a:lstStyle/>
          <a:p>
            <a:pPr algn="ctr" indent="0" marL="0">
              <a:buNone/>
            </a:pPr>
            <a:r>
              <a:rPr lang="en-US" sz="1300" dirty="0">
                <a:solidFill>
                  <a:schemeClr val="tx2"/>
                </a:solidFill>
              </a:rPr>
              <a:t>on staging, reported to Teams</a:t>
            </a:r>
            <a:endParaRPr lang="en-US" sz="1300" dirty="0"/>
          </a:p>
        </p:txBody>
      </p:sp>
      <p:sp>
        <p:nvSpPr>
          <p:cNvPr id="26" name="card-26"/>
          <p:cNvSpPr/>
          <p:nvPr/>
        </p:nvSpPr>
        <p:spPr>
          <a:xfrm>
            <a:off x="548640" y="4983480"/>
            <a:ext cx="11091672" cy="1005840"/>
          </a:xfrm>
          <a:prstGeom prst="roundRect">
            <a:avLst>
              <a:gd name="adj" fmla="val 9091"/>
            </a:avLst>
          </a:prstGeom>
          <a:solidFill>
            <a:schemeClr val="bg2"/>
          </a:solidFill>
          <a:ln/>
        </p:spPr>
      </p:sp>
      <p:sp>
        <p:nvSpPr>
          <p:cNvPr id="27" name="node-27"/>
          <p:cNvSpPr/>
          <p:nvPr/>
        </p:nvSpPr>
        <p:spPr>
          <a:xfrm>
            <a:off x="768096" y="5202936"/>
            <a:ext cx="566928" cy="566928"/>
          </a:xfrm>
          <a:prstGeom prst="ellipse">
            <a:avLst/>
          </a:prstGeom>
          <a:solidFill>
            <a:schemeClr val="accent3"/>
          </a:solidFill>
          <a:ln/>
        </p:spPr>
      </p:sp>
      <p:pic>
        <p:nvPicPr>
          <p:cNvPr id="28" name="icon-28" descr="preencoded.png">    </p:cNvPr>
          <p:cNvPicPr>
            <a:picLocks noChangeAspect="1"/>
          </p:cNvPicPr>
          <p:nvPr/>
        </p:nvPicPr>
        <p:blipFill>
          <a:blip r:embed="rId5"/>
          <a:stretch>
            <a:fillRect/>
          </a:stretch>
        </p:blipFill>
        <p:spPr>
          <a:xfrm>
            <a:off x="909828" y="5344668"/>
            <a:ext cx="283464" cy="283464"/>
          </a:xfrm>
          <a:prstGeom prst="rect">
            <a:avLst/>
          </a:prstGeom>
        </p:spPr>
      </p:pic>
      <p:sp>
        <p:nvSpPr>
          <p:cNvPr id="29" name="text-29"/>
          <p:cNvSpPr txBox="1"/>
          <p:nvPr/>
        </p:nvSpPr>
        <p:spPr>
          <a:xfrm>
            <a:off x="1554480" y="5120640"/>
            <a:ext cx="9875520" cy="731520"/>
          </a:xfrm>
          <a:prstGeom prst="rect">
            <a:avLst/>
          </a:prstGeom>
          <a:noFill/>
          <a:ln/>
        </p:spPr>
        <p:txBody>
          <a:bodyPr wrap="square" lIns="0" tIns="0" rIns="0" bIns="0" rtlCol="0" anchor="ctr"/>
          <a:lstStyle/>
          <a:p>
            <a:pPr indent="0" marL="0">
              <a:buNone/>
            </a:pPr>
            <a:r>
              <a:rPr lang="en-US" sz="1700" b="1" dirty="0">
                <a:solidFill>
                  <a:schemeClr val="tx1"/>
                </a:solidFill>
              </a:rPr>
              <a:t>Outcome  </a:t>
            </a:r>
            <a:pPr indent="0" marL="0">
              <a:buNone/>
            </a:pPr>
            <a:r>
              <a:rPr lang="en-US" sz="1700" dirty="0">
                <a:solidFill>
                  <a:schemeClr val="tx1"/>
                </a:solidFill>
              </a:rPr>
              <a:t>every page and workflow you own is checked in a real browser each day, against the result you wrote down.</a:t>
            </a:r>
            <a:endParaRPr lang="en-US" sz="17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Where we are today</a:t>
            </a:r>
            <a:endParaRPr lang="en-US" sz="3400" dirty="0"/>
          </a:p>
        </p:txBody>
      </p:sp>
      <p:sp>
        <p:nvSpPr>
          <p:cNvPr id="3" name="card-30"/>
          <p:cNvSpPr/>
          <p:nvPr/>
        </p:nvSpPr>
        <p:spPr>
          <a:xfrm>
            <a:off x="548640" y="1600200"/>
            <a:ext cx="3545129" cy="3840480"/>
          </a:xfrm>
          <a:prstGeom prst="roundRect">
            <a:avLst>
              <a:gd name="adj" fmla="val 2579"/>
            </a:avLst>
          </a:prstGeom>
          <a:solidFill>
            <a:schemeClr val="bg2"/>
          </a:solidFill>
          <a:ln/>
        </p:spPr>
      </p:sp>
      <p:sp>
        <p:nvSpPr>
          <p:cNvPr id="4" name="node-31"/>
          <p:cNvSpPr/>
          <p:nvPr/>
        </p:nvSpPr>
        <p:spPr>
          <a:xfrm>
            <a:off x="914400" y="1892808"/>
            <a:ext cx="694944" cy="694944"/>
          </a:xfrm>
          <a:prstGeom prst="ellipse">
            <a:avLst/>
          </a:prstGeom>
          <a:solidFill>
            <a:schemeClr val="accent1"/>
          </a:solidFill>
          <a:ln/>
        </p:spPr>
      </p:sp>
      <p:pic>
        <p:nvPicPr>
          <p:cNvPr id="5" name="icon-32" descr="preencoded.png">    </p:cNvPr>
          <p:cNvPicPr>
            <a:picLocks noChangeAspect="1"/>
          </p:cNvPicPr>
          <p:nvPr/>
        </p:nvPicPr>
        <p:blipFill>
          <a:blip r:embed="rId1"/>
          <a:stretch>
            <a:fillRect/>
          </a:stretch>
        </p:blipFill>
        <p:spPr>
          <a:xfrm>
            <a:off x="1088136" y="2066544"/>
            <a:ext cx="347472" cy="347472"/>
          </a:xfrm>
          <a:prstGeom prst="rect">
            <a:avLst/>
          </a:prstGeom>
        </p:spPr>
      </p:pic>
      <p:sp>
        <p:nvSpPr>
          <p:cNvPr id="6" name="text-33"/>
          <p:cNvSpPr txBox="1"/>
          <p:nvPr/>
        </p:nvSpPr>
        <p:spPr>
          <a:xfrm>
            <a:off x="914400" y="2834640"/>
            <a:ext cx="2813609" cy="1097280"/>
          </a:xfrm>
          <a:prstGeom prst="rect">
            <a:avLst/>
          </a:prstGeom>
          <a:noFill/>
          <a:ln/>
        </p:spPr>
        <p:txBody>
          <a:bodyPr wrap="square" lIns="0" tIns="0" rIns="0" bIns="0" rtlCol="0" anchor="ctr"/>
          <a:lstStyle/>
          <a:p>
            <a:pPr indent="0" marL="0">
              <a:buNone/>
            </a:pPr>
            <a:r>
              <a:rPr lang="en-US" sz="7200" b="1" dirty="0">
                <a:solidFill>
                  <a:schemeClr val="tx1"/>
                </a:solidFill>
                <a:latin typeface="+mj-lt" pitchFamily="34" charset="0"/>
                <a:ea typeface="+mj-lt" pitchFamily="34" charset="-122"/>
                <a:cs typeface="+mj-lt" pitchFamily="34" charset="-120"/>
              </a:rPr>
              <a:t>84</a:t>
            </a:r>
            <a:endParaRPr lang="en-US" sz="7200" dirty="0"/>
          </a:p>
        </p:txBody>
      </p:sp>
      <p:sp>
        <p:nvSpPr>
          <p:cNvPr id="7" name="text-34"/>
          <p:cNvSpPr txBox="1"/>
          <p:nvPr/>
        </p:nvSpPr>
        <p:spPr>
          <a:xfrm>
            <a:off x="914400" y="3977640"/>
            <a:ext cx="2813609" cy="365760"/>
          </a:xfrm>
          <a:prstGeom prst="rect">
            <a:avLst/>
          </a:prstGeom>
          <a:noFill/>
          <a:ln/>
        </p:spPr>
        <p:txBody>
          <a:bodyPr wrap="square" lIns="0" tIns="0" rIns="0" bIns="0" rtlCol="0" anchor="ctr"/>
          <a:lstStyle/>
          <a:p>
            <a:pPr indent="0" marL="0">
              <a:buNone/>
            </a:pPr>
            <a:r>
              <a:rPr lang="en-US" sz="1800" b="1" dirty="0">
                <a:solidFill>
                  <a:schemeClr val="tx1"/>
                </a:solidFill>
              </a:rPr>
              <a:t>scenarios</a:t>
            </a:r>
            <a:endParaRPr lang="en-US" sz="1800" dirty="0"/>
          </a:p>
        </p:txBody>
      </p:sp>
      <p:sp>
        <p:nvSpPr>
          <p:cNvPr id="8" name="text-35"/>
          <p:cNvSpPr txBox="1"/>
          <p:nvPr/>
        </p:nvSpPr>
        <p:spPr>
          <a:xfrm>
            <a:off x="914400" y="4434840"/>
            <a:ext cx="2813609" cy="731520"/>
          </a:xfrm>
          <a:prstGeom prst="rect">
            <a:avLst/>
          </a:prstGeom>
          <a:noFill/>
          <a:ln/>
        </p:spPr>
        <p:txBody>
          <a:bodyPr wrap="square" lIns="0" tIns="0" rIns="0" bIns="0" rtlCol="0" anchor="t"/>
          <a:lstStyle/>
          <a:p>
            <a:pPr indent="0" marL="0">
              <a:buNone/>
            </a:pPr>
            <a:r>
              <a:rPr lang="en-US" sz="1400" dirty="0">
                <a:solidFill>
                  <a:schemeClr val="tx2"/>
                </a:solidFill>
              </a:rPr>
              <a:t>52 data · 18 workflows</a:t>
            </a:r>
            <a:endParaRPr lang="en-US" sz="1400" dirty="0"/>
          </a:p>
          <a:p>
            <a:pPr indent="0" marL="0">
              <a:buNone/>
            </a:pPr>
            <a:r>
              <a:rPr lang="en-US" sz="1400" dirty="0">
                <a:solidFill>
                  <a:schemeClr val="tx2"/>
                </a:solidFill>
              </a:rPr>
              <a:t>10 website · 4 virtual labs</a:t>
            </a:r>
            <a:endParaRPr lang="en-US" sz="1400" dirty="0"/>
          </a:p>
        </p:txBody>
      </p:sp>
      <p:sp>
        <p:nvSpPr>
          <p:cNvPr id="9" name="card-36"/>
          <p:cNvSpPr/>
          <p:nvPr/>
        </p:nvSpPr>
        <p:spPr>
          <a:xfrm>
            <a:off x="4322369" y="1600200"/>
            <a:ext cx="3545129" cy="3840480"/>
          </a:xfrm>
          <a:prstGeom prst="roundRect">
            <a:avLst>
              <a:gd name="adj" fmla="val 2579"/>
            </a:avLst>
          </a:prstGeom>
          <a:solidFill>
            <a:schemeClr val="bg2"/>
          </a:solidFill>
          <a:ln/>
        </p:spPr>
      </p:sp>
      <p:sp>
        <p:nvSpPr>
          <p:cNvPr id="10" name="node-37"/>
          <p:cNvSpPr/>
          <p:nvPr/>
        </p:nvSpPr>
        <p:spPr>
          <a:xfrm>
            <a:off x="4688129" y="1892808"/>
            <a:ext cx="694944" cy="694944"/>
          </a:xfrm>
          <a:prstGeom prst="ellipse">
            <a:avLst/>
          </a:prstGeom>
          <a:solidFill>
            <a:schemeClr val="tx1"/>
          </a:solidFill>
          <a:ln/>
        </p:spPr>
      </p:sp>
      <p:pic>
        <p:nvPicPr>
          <p:cNvPr id="11" name="icon-38" descr="preencoded.png">    </p:cNvPr>
          <p:cNvPicPr>
            <a:picLocks noChangeAspect="1"/>
          </p:cNvPicPr>
          <p:nvPr/>
        </p:nvPicPr>
        <p:blipFill>
          <a:blip r:embed="rId2"/>
          <a:stretch>
            <a:fillRect/>
          </a:stretch>
        </p:blipFill>
        <p:spPr>
          <a:xfrm>
            <a:off x="4861865" y="2066544"/>
            <a:ext cx="347472" cy="347472"/>
          </a:xfrm>
          <a:prstGeom prst="rect">
            <a:avLst/>
          </a:prstGeom>
        </p:spPr>
      </p:pic>
      <p:sp>
        <p:nvSpPr>
          <p:cNvPr id="12" name="text-39"/>
          <p:cNvSpPr txBox="1"/>
          <p:nvPr/>
        </p:nvSpPr>
        <p:spPr>
          <a:xfrm>
            <a:off x="4688129" y="2834640"/>
            <a:ext cx="2813609" cy="1097280"/>
          </a:xfrm>
          <a:prstGeom prst="rect">
            <a:avLst/>
          </a:prstGeom>
          <a:noFill/>
          <a:ln/>
        </p:spPr>
        <p:txBody>
          <a:bodyPr wrap="square" lIns="0" tIns="0" rIns="0" bIns="0" rtlCol="0" anchor="ctr"/>
          <a:lstStyle/>
          <a:p>
            <a:pPr indent="0" marL="0">
              <a:buNone/>
            </a:pPr>
            <a:r>
              <a:rPr lang="en-US" sz="7200" b="1" dirty="0">
                <a:solidFill>
                  <a:schemeClr val="tx1"/>
                </a:solidFill>
                <a:latin typeface="+mj-lt" pitchFamily="34" charset="0"/>
                <a:ea typeface="+mj-lt" pitchFamily="34" charset="-122"/>
                <a:cs typeface="+mj-lt" pitchFamily="34" charset="-120"/>
              </a:rPr>
              <a:t>300</a:t>
            </a:r>
            <a:endParaRPr lang="en-US" sz="7200" dirty="0"/>
          </a:p>
        </p:txBody>
      </p:sp>
      <p:sp>
        <p:nvSpPr>
          <p:cNvPr id="13" name="text-40"/>
          <p:cNvSpPr txBox="1"/>
          <p:nvPr/>
        </p:nvSpPr>
        <p:spPr>
          <a:xfrm>
            <a:off x="4688129" y="3977640"/>
            <a:ext cx="2813609" cy="365760"/>
          </a:xfrm>
          <a:prstGeom prst="rect">
            <a:avLst/>
          </a:prstGeom>
          <a:noFill/>
          <a:ln/>
        </p:spPr>
        <p:txBody>
          <a:bodyPr wrap="square" lIns="0" tIns="0" rIns="0" bIns="0" rtlCol="0" anchor="ctr"/>
          <a:lstStyle/>
          <a:p>
            <a:pPr indent="0" marL="0">
              <a:buNone/>
            </a:pPr>
            <a:r>
              <a:rPr lang="en-US" sz="1800" b="1" dirty="0">
                <a:solidFill>
                  <a:schemeClr val="tx1"/>
                </a:solidFill>
              </a:rPr>
              <a:t>cases</a:t>
            </a:r>
            <a:endParaRPr lang="en-US" sz="1800" dirty="0"/>
          </a:p>
        </p:txBody>
      </p:sp>
      <p:sp>
        <p:nvSpPr>
          <p:cNvPr id="14" name="text-41"/>
          <p:cNvSpPr txBox="1"/>
          <p:nvPr/>
        </p:nvSpPr>
        <p:spPr>
          <a:xfrm>
            <a:off x="4688129" y="4434840"/>
            <a:ext cx="2813609" cy="731520"/>
          </a:xfrm>
          <a:prstGeom prst="rect">
            <a:avLst/>
          </a:prstGeom>
          <a:noFill/>
          <a:ln/>
        </p:spPr>
        <p:txBody>
          <a:bodyPr wrap="square" lIns="0" tIns="0" rIns="0" bIns="0" rtlCol="0" anchor="t"/>
          <a:lstStyle/>
          <a:p>
            <a:pPr indent="0" marL="0">
              <a:buNone/>
            </a:pPr>
            <a:r>
              <a:rPr lang="en-US" sz="1400" dirty="0">
                <a:solidFill>
                  <a:schemeClr val="tx2"/>
                </a:solidFill>
              </a:rPr>
              <a:t>written in plain English,</a:t>
            </a:r>
            <a:endParaRPr lang="en-US" sz="1400" dirty="0"/>
          </a:p>
          <a:p>
            <a:pPr indent="0" marL="0">
              <a:buNone/>
            </a:pPr>
            <a:r>
              <a:rPr lang="en-US" sz="1400" dirty="0">
                <a:solidFill>
                  <a:schemeClr val="tx2"/>
                </a:solidFill>
              </a:rPr>
              <a:t>one per ## heading</a:t>
            </a:r>
            <a:endParaRPr lang="en-US" sz="1400" dirty="0"/>
          </a:p>
        </p:txBody>
      </p:sp>
      <p:sp>
        <p:nvSpPr>
          <p:cNvPr id="15" name="card-42"/>
          <p:cNvSpPr/>
          <p:nvPr/>
        </p:nvSpPr>
        <p:spPr>
          <a:xfrm>
            <a:off x="8096098" y="1600200"/>
            <a:ext cx="3545129" cy="3840480"/>
          </a:xfrm>
          <a:prstGeom prst="roundRect">
            <a:avLst>
              <a:gd name="adj" fmla="val 2579"/>
            </a:avLst>
          </a:prstGeom>
          <a:solidFill>
            <a:schemeClr val="bg2"/>
          </a:solidFill>
          <a:ln/>
        </p:spPr>
      </p:sp>
      <p:sp>
        <p:nvSpPr>
          <p:cNvPr id="16" name="node-43"/>
          <p:cNvSpPr/>
          <p:nvPr/>
        </p:nvSpPr>
        <p:spPr>
          <a:xfrm>
            <a:off x="8461858" y="1892808"/>
            <a:ext cx="694944" cy="694944"/>
          </a:xfrm>
          <a:prstGeom prst="ellipse">
            <a:avLst/>
          </a:prstGeom>
          <a:solidFill>
            <a:schemeClr val="tx1"/>
          </a:solidFill>
          <a:ln/>
        </p:spPr>
      </p:sp>
      <p:pic>
        <p:nvPicPr>
          <p:cNvPr id="17" name="icon-44" descr="preencoded.png">    </p:cNvPr>
          <p:cNvPicPr>
            <a:picLocks noChangeAspect="1"/>
          </p:cNvPicPr>
          <p:nvPr/>
        </p:nvPicPr>
        <p:blipFill>
          <a:blip r:embed="rId3"/>
          <a:stretch>
            <a:fillRect/>
          </a:stretch>
        </p:blipFill>
        <p:spPr>
          <a:xfrm>
            <a:off x="8635594" y="2066544"/>
            <a:ext cx="347472" cy="347472"/>
          </a:xfrm>
          <a:prstGeom prst="rect">
            <a:avLst/>
          </a:prstGeom>
        </p:spPr>
      </p:pic>
      <p:sp>
        <p:nvSpPr>
          <p:cNvPr id="18" name="text-45"/>
          <p:cNvSpPr txBox="1"/>
          <p:nvPr/>
        </p:nvSpPr>
        <p:spPr>
          <a:xfrm>
            <a:off x="8461858" y="2834640"/>
            <a:ext cx="2813609" cy="1097280"/>
          </a:xfrm>
          <a:prstGeom prst="rect">
            <a:avLst/>
          </a:prstGeom>
          <a:noFill/>
          <a:ln/>
        </p:spPr>
        <p:txBody>
          <a:bodyPr wrap="square" lIns="0" tIns="0" rIns="0" bIns="0" rtlCol="0" anchor="ctr"/>
          <a:lstStyle/>
          <a:p>
            <a:pPr indent="0" marL="0">
              <a:buNone/>
            </a:pPr>
            <a:r>
              <a:rPr lang="en-US" sz="7200" b="1" dirty="0">
                <a:solidFill>
                  <a:schemeClr val="tx1"/>
                </a:solidFill>
                <a:latin typeface="+mj-lt" pitchFamily="34" charset="0"/>
                <a:ea typeface="+mj-lt" pitchFamily="34" charset="-122"/>
                <a:cs typeface="+mj-lt" pitchFamily="34" charset="-120"/>
              </a:rPr>
              <a:t>312</a:t>
            </a:r>
            <a:endParaRPr lang="en-US" sz="7200" dirty="0"/>
          </a:p>
        </p:txBody>
      </p:sp>
      <p:sp>
        <p:nvSpPr>
          <p:cNvPr id="19" name="text-46"/>
          <p:cNvSpPr txBox="1"/>
          <p:nvPr/>
        </p:nvSpPr>
        <p:spPr>
          <a:xfrm>
            <a:off x="8461858" y="3977640"/>
            <a:ext cx="2813609" cy="365760"/>
          </a:xfrm>
          <a:prstGeom prst="rect">
            <a:avLst/>
          </a:prstGeom>
          <a:noFill/>
          <a:ln/>
        </p:spPr>
        <p:txBody>
          <a:bodyPr wrap="square" lIns="0" tIns="0" rIns="0" bIns="0" rtlCol="0" anchor="ctr"/>
          <a:lstStyle/>
          <a:p>
            <a:pPr indent="0" marL="0">
              <a:buNone/>
            </a:pPr>
            <a:r>
              <a:rPr lang="en-US" sz="1800" b="1" dirty="0">
                <a:solidFill>
                  <a:schemeClr val="tx1"/>
                </a:solidFill>
              </a:rPr>
              <a:t>tests</a:t>
            </a:r>
            <a:endParaRPr lang="en-US" sz="1800" dirty="0"/>
          </a:p>
        </p:txBody>
      </p:sp>
      <p:sp>
        <p:nvSpPr>
          <p:cNvPr id="20" name="text-47"/>
          <p:cNvSpPr txBox="1"/>
          <p:nvPr/>
        </p:nvSpPr>
        <p:spPr>
          <a:xfrm>
            <a:off x="8461858" y="4434840"/>
            <a:ext cx="2813609" cy="731520"/>
          </a:xfrm>
          <a:prstGeom prst="rect">
            <a:avLst/>
          </a:prstGeom>
          <a:noFill/>
          <a:ln/>
        </p:spPr>
        <p:txBody>
          <a:bodyPr wrap="square" lIns="0" tIns="0" rIns="0" bIns="0" rtlCol="0" anchor="t"/>
          <a:lstStyle/>
          <a:p>
            <a:pPr indent="0" marL="0">
              <a:buNone/>
            </a:pPr>
            <a:r>
              <a:rPr lang="en-US" sz="1400" dirty="0">
                <a:solidFill>
                  <a:schemeClr val="tx2"/>
                </a:solidFill>
              </a:rPr>
              <a:t>a case can run once</a:t>
            </a:r>
            <a:endParaRPr lang="en-US" sz="1400" dirty="0"/>
          </a:p>
          <a:p>
            <a:pPr indent="0" marL="0">
              <a:buNone/>
            </a:pPr>
            <a:r>
              <a:rPr lang="en-US" sz="1400" dirty="0">
                <a:solidFill>
                  <a:schemeClr val="tx2"/>
                </a:solidFill>
              </a:rPr>
              <a:t>per seed configuration</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Every test carries a tag</a:t>
            </a:r>
            <a:endParaRPr lang="en-US" sz="3400" dirty="0"/>
          </a:p>
        </p:txBody>
      </p:sp>
      <p:sp>
        <p:nvSpPr>
          <p:cNvPr id="3" name="text-48"/>
          <p:cNvSpPr txBox="1"/>
          <p:nvPr/>
        </p:nvSpPr>
        <p:spPr>
          <a:xfrm>
            <a:off x="548640" y="1216152"/>
            <a:ext cx="10972800" cy="411480"/>
          </a:xfrm>
          <a:prstGeom prst="rect">
            <a:avLst/>
          </a:prstGeom>
          <a:noFill/>
          <a:ln/>
        </p:spPr>
        <p:txBody>
          <a:bodyPr wrap="square" lIns="0" tIns="0" rIns="0" bIns="0" rtlCol="0" anchor="ctr"/>
          <a:lstStyle/>
          <a:p>
            <a:pPr indent="0" marL="0">
              <a:buNone/>
            </a:pPr>
            <a:r>
              <a:rPr lang="en-US" sz="1800" dirty="0">
                <a:solidFill>
                  <a:schemeClr val="tx2"/>
                </a:solidFill>
              </a:rPr>
              <a:t>It says who is signed in and what the test may spend. You write </a:t>
            </a:r>
            <a:pPr indent="0" marL="0">
              <a:buNone/>
            </a:pPr>
            <a:r>
              <a:rPr lang="en-US" sz="1800" b="1" dirty="0">
                <a:solidFill>
                  <a:schemeClr val="accent1"/>
                </a:solidFill>
                <a:latin typeface="Menlo" pitchFamily="34" charset="0"/>
                <a:ea typeface="Menlo" pitchFamily="34" charset="-122"/>
                <a:cs typeface="Menlo" pitchFamily="34" charset="-120"/>
              </a:rPr>
              <a:t>User:</a:t>
            </a:r>
            <a:pPr indent="0" marL="0">
              <a:buNone/>
            </a:pPr>
            <a:r>
              <a:rPr lang="en-US" sz="1800" dirty="0">
                <a:solidFill>
                  <a:schemeClr val="tx2"/>
                </a:solidFill>
              </a:rPr>
              <a:t>, the tag follows.</a:t>
            </a:r>
            <a:endParaRPr lang="en-US" sz="1800" dirty="0"/>
          </a:p>
        </p:txBody>
      </p:sp>
      <p:sp>
        <p:nvSpPr>
          <p:cNvPr id="4" name="card-49"/>
          <p:cNvSpPr/>
          <p:nvPr/>
        </p:nvSpPr>
        <p:spPr>
          <a:xfrm>
            <a:off x="548640" y="1920240"/>
            <a:ext cx="2072030" cy="3657600"/>
          </a:xfrm>
          <a:prstGeom prst="roundRect">
            <a:avLst>
              <a:gd name="adj" fmla="val 4413"/>
            </a:avLst>
          </a:prstGeom>
          <a:solidFill>
            <a:schemeClr val="bg2"/>
          </a:solidFill>
          <a:ln/>
        </p:spPr>
      </p:sp>
      <p:sp>
        <p:nvSpPr>
          <p:cNvPr id="5" name="node-50"/>
          <p:cNvSpPr/>
          <p:nvPr/>
        </p:nvSpPr>
        <p:spPr>
          <a:xfrm>
            <a:off x="777240" y="2157984"/>
            <a:ext cx="658368" cy="658368"/>
          </a:xfrm>
          <a:prstGeom prst="ellipse">
            <a:avLst/>
          </a:prstGeom>
          <a:solidFill>
            <a:schemeClr val="accent2"/>
          </a:solidFill>
          <a:ln/>
        </p:spPr>
      </p:sp>
      <p:pic>
        <p:nvPicPr>
          <p:cNvPr id="6" name="icon-51" descr="preencoded.png">    </p:cNvPr>
          <p:cNvPicPr>
            <a:picLocks noChangeAspect="1"/>
          </p:cNvPicPr>
          <p:nvPr/>
        </p:nvPicPr>
        <p:blipFill>
          <a:blip r:embed="rId1"/>
          <a:stretch>
            <a:fillRect/>
          </a:stretch>
        </p:blipFill>
        <p:spPr>
          <a:xfrm>
            <a:off x="941832" y="2322576"/>
            <a:ext cx="329184" cy="329184"/>
          </a:xfrm>
          <a:prstGeom prst="rect">
            <a:avLst/>
          </a:prstGeom>
        </p:spPr>
      </p:pic>
      <p:sp>
        <p:nvSpPr>
          <p:cNvPr id="7" name="text-52"/>
          <p:cNvSpPr txBox="1"/>
          <p:nvPr/>
        </p:nvSpPr>
        <p:spPr>
          <a:xfrm>
            <a:off x="777240" y="2971800"/>
            <a:ext cx="1614830" cy="731520"/>
          </a:xfrm>
          <a:prstGeom prst="rect">
            <a:avLst/>
          </a:prstGeom>
          <a:noFill/>
          <a:ln/>
        </p:spPr>
        <p:txBody>
          <a:bodyPr wrap="square" lIns="0" tIns="0" rIns="0" bIns="0" rtlCol="0" anchor="ctr"/>
          <a:lstStyle/>
          <a:p>
            <a:pPr indent="0" marL="0">
              <a:buNone/>
            </a:pPr>
            <a:r>
              <a:rPr lang="en-US" sz="4800" b="1" dirty="0">
                <a:solidFill>
                  <a:schemeClr val="tx1"/>
                </a:solidFill>
                <a:latin typeface="+mj-lt" pitchFamily="34" charset="0"/>
                <a:ea typeface="+mj-lt" pitchFamily="34" charset="-122"/>
                <a:cs typeface="+mj-lt" pitchFamily="34" charset="-120"/>
              </a:rPr>
              <a:t>30</a:t>
            </a:r>
            <a:endParaRPr lang="en-US" sz="4800" dirty="0"/>
          </a:p>
        </p:txBody>
      </p:sp>
      <p:sp>
        <p:nvSpPr>
          <p:cNvPr id="8" name="text-53"/>
          <p:cNvSpPr txBox="1"/>
          <p:nvPr/>
        </p:nvSpPr>
        <p:spPr>
          <a:xfrm>
            <a:off x="777240" y="3675888"/>
            <a:ext cx="1614830" cy="274320"/>
          </a:xfrm>
          <a:prstGeom prst="rect">
            <a:avLst/>
          </a:prstGeom>
          <a:noFill/>
          <a:ln/>
        </p:spPr>
        <p:txBody>
          <a:bodyPr wrap="square" lIns="0" tIns="0" rIns="0" bIns="0" rtlCol="0" anchor="ctr"/>
          <a:lstStyle/>
          <a:p>
            <a:pPr indent="0" marL="0">
              <a:buNone/>
            </a:pPr>
            <a:r>
              <a:rPr lang="en-US" sz="1300" dirty="0">
                <a:solidFill>
                  <a:schemeClr val="tx2"/>
                </a:solidFill>
              </a:rPr>
              <a:t>tests</a:t>
            </a:r>
            <a:endParaRPr lang="en-US" sz="1300" dirty="0"/>
          </a:p>
        </p:txBody>
      </p:sp>
      <p:sp>
        <p:nvSpPr>
          <p:cNvPr id="9" name="text-54"/>
          <p:cNvSpPr txBox="1"/>
          <p:nvPr/>
        </p:nvSpPr>
        <p:spPr>
          <a:xfrm>
            <a:off x="777240" y="4096512"/>
            <a:ext cx="1706270" cy="365760"/>
          </a:xfrm>
          <a:prstGeom prst="rect">
            <a:avLst/>
          </a:prstGeom>
          <a:noFill/>
          <a:ln/>
        </p:spPr>
        <p:txBody>
          <a:bodyPr wrap="square" lIns="0" tIns="0" rIns="0" bIns="0" rtlCol="0" anchor="ctr"/>
          <a:lstStyle/>
          <a:p>
            <a:pPr indent="0" marL="0">
              <a:buNone/>
            </a:pPr>
            <a:r>
              <a:rPr lang="en-US" sz="1700" b="1" dirty="0">
                <a:solidFill>
                  <a:schemeClr val="tx1"/>
                </a:solidFill>
                <a:latin typeface="Menlo" pitchFamily="34" charset="0"/>
                <a:ea typeface="Menlo" pitchFamily="34" charset="-122"/>
                <a:cs typeface="Menlo" pitchFamily="34" charset="-120"/>
              </a:rPr>
              <a:t>@public</a:t>
            </a:r>
            <a:endParaRPr lang="en-US" sz="1700" dirty="0"/>
          </a:p>
        </p:txBody>
      </p:sp>
      <p:sp>
        <p:nvSpPr>
          <p:cNvPr id="10" name="text-55"/>
          <p:cNvSpPr txBox="1"/>
          <p:nvPr/>
        </p:nvSpPr>
        <p:spPr>
          <a:xfrm>
            <a:off x="777240" y="4480560"/>
            <a:ext cx="170627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User: visitor</a:t>
            </a:r>
            <a:endParaRPr lang="en-US" sz="1100" dirty="0"/>
          </a:p>
        </p:txBody>
      </p:sp>
      <p:sp>
        <p:nvSpPr>
          <p:cNvPr id="11" name="text-56"/>
          <p:cNvSpPr txBox="1"/>
          <p:nvPr/>
        </p:nvSpPr>
        <p:spPr>
          <a:xfrm>
            <a:off x="777240" y="4800600"/>
            <a:ext cx="1660550" cy="594360"/>
          </a:xfrm>
          <a:prstGeom prst="rect">
            <a:avLst/>
          </a:prstGeom>
          <a:noFill/>
          <a:ln/>
        </p:spPr>
        <p:txBody>
          <a:bodyPr wrap="square" lIns="0" tIns="0" rIns="0" bIns="0" rtlCol="0" anchor="t"/>
          <a:lstStyle/>
          <a:p>
            <a:pPr indent="0" marL="0">
              <a:buNone/>
            </a:pPr>
            <a:r>
              <a:rPr lang="en-US" sz="1400" dirty="0">
                <a:solidFill>
                  <a:schemeClr val="tx1"/>
                </a:solidFill>
              </a:rPr>
              <a:t>Signed out: the public website</a:t>
            </a:r>
            <a:endParaRPr lang="en-US" sz="1400" dirty="0"/>
          </a:p>
        </p:txBody>
      </p:sp>
      <p:sp>
        <p:nvSpPr>
          <p:cNvPr id="12" name="card-57"/>
          <p:cNvSpPr/>
          <p:nvPr/>
        </p:nvSpPr>
        <p:spPr>
          <a:xfrm>
            <a:off x="2803550" y="1920240"/>
            <a:ext cx="2072030" cy="3657600"/>
          </a:xfrm>
          <a:prstGeom prst="roundRect">
            <a:avLst>
              <a:gd name="adj" fmla="val 4413"/>
            </a:avLst>
          </a:prstGeom>
          <a:solidFill>
            <a:schemeClr val="bg2"/>
          </a:solidFill>
          <a:ln/>
        </p:spPr>
      </p:sp>
      <p:sp>
        <p:nvSpPr>
          <p:cNvPr id="13" name="node-58"/>
          <p:cNvSpPr/>
          <p:nvPr/>
        </p:nvSpPr>
        <p:spPr>
          <a:xfrm>
            <a:off x="3032150" y="2157984"/>
            <a:ext cx="658368" cy="658368"/>
          </a:xfrm>
          <a:prstGeom prst="ellipse">
            <a:avLst/>
          </a:prstGeom>
          <a:solidFill>
            <a:schemeClr val="accent1"/>
          </a:solidFill>
          <a:ln/>
        </p:spPr>
      </p:sp>
      <p:pic>
        <p:nvPicPr>
          <p:cNvPr id="14" name="icon-59" descr="preencoded.png">    </p:cNvPr>
          <p:cNvPicPr>
            <a:picLocks noChangeAspect="1"/>
          </p:cNvPicPr>
          <p:nvPr/>
        </p:nvPicPr>
        <p:blipFill>
          <a:blip r:embed="rId2"/>
          <a:stretch>
            <a:fillRect/>
          </a:stretch>
        </p:blipFill>
        <p:spPr>
          <a:xfrm>
            <a:off x="3196742" y="2322576"/>
            <a:ext cx="329184" cy="329184"/>
          </a:xfrm>
          <a:prstGeom prst="rect">
            <a:avLst/>
          </a:prstGeom>
        </p:spPr>
      </p:pic>
      <p:sp>
        <p:nvSpPr>
          <p:cNvPr id="15" name="text-60"/>
          <p:cNvSpPr txBox="1"/>
          <p:nvPr/>
        </p:nvSpPr>
        <p:spPr>
          <a:xfrm>
            <a:off x="3032150" y="2971800"/>
            <a:ext cx="1614830" cy="731520"/>
          </a:xfrm>
          <a:prstGeom prst="rect">
            <a:avLst/>
          </a:prstGeom>
          <a:noFill/>
          <a:ln/>
        </p:spPr>
        <p:txBody>
          <a:bodyPr wrap="square" lIns="0" tIns="0" rIns="0" bIns="0" rtlCol="0" anchor="ctr"/>
          <a:lstStyle/>
          <a:p>
            <a:pPr indent="0" marL="0">
              <a:buNone/>
            </a:pPr>
            <a:r>
              <a:rPr lang="en-US" sz="4800" b="1" dirty="0">
                <a:solidFill>
                  <a:schemeClr val="tx1"/>
                </a:solidFill>
                <a:latin typeface="+mj-lt" pitchFamily="34" charset="0"/>
                <a:ea typeface="+mj-lt" pitchFamily="34" charset="-122"/>
                <a:cs typeface="+mj-lt" pitchFamily="34" charset="-120"/>
              </a:rPr>
              <a:t>235</a:t>
            </a:r>
            <a:endParaRPr lang="en-US" sz="4800" dirty="0"/>
          </a:p>
        </p:txBody>
      </p:sp>
      <p:sp>
        <p:nvSpPr>
          <p:cNvPr id="16" name="text-61"/>
          <p:cNvSpPr txBox="1"/>
          <p:nvPr/>
        </p:nvSpPr>
        <p:spPr>
          <a:xfrm>
            <a:off x="3032150" y="3675888"/>
            <a:ext cx="1614830" cy="274320"/>
          </a:xfrm>
          <a:prstGeom prst="rect">
            <a:avLst/>
          </a:prstGeom>
          <a:noFill/>
          <a:ln/>
        </p:spPr>
        <p:txBody>
          <a:bodyPr wrap="square" lIns="0" tIns="0" rIns="0" bIns="0" rtlCol="0" anchor="ctr"/>
          <a:lstStyle/>
          <a:p>
            <a:pPr indent="0" marL="0">
              <a:buNone/>
            </a:pPr>
            <a:r>
              <a:rPr lang="en-US" sz="1300" dirty="0">
                <a:solidFill>
                  <a:schemeClr val="tx2"/>
                </a:solidFill>
              </a:rPr>
              <a:t>tests</a:t>
            </a:r>
            <a:endParaRPr lang="en-US" sz="1300" dirty="0"/>
          </a:p>
        </p:txBody>
      </p:sp>
      <p:sp>
        <p:nvSpPr>
          <p:cNvPr id="17" name="text-62"/>
          <p:cNvSpPr txBox="1"/>
          <p:nvPr/>
        </p:nvSpPr>
        <p:spPr>
          <a:xfrm>
            <a:off x="3032150" y="4096512"/>
            <a:ext cx="1706270" cy="365760"/>
          </a:xfrm>
          <a:prstGeom prst="rect">
            <a:avLst/>
          </a:prstGeom>
          <a:noFill/>
          <a:ln/>
        </p:spPr>
        <p:txBody>
          <a:bodyPr wrap="square" lIns="0" tIns="0" rIns="0" bIns="0" rtlCol="0" anchor="ctr"/>
          <a:lstStyle/>
          <a:p>
            <a:pPr indent="0" marL="0">
              <a:buNone/>
            </a:pPr>
            <a:r>
              <a:rPr lang="en-US" sz="1700" b="1" dirty="0">
                <a:solidFill>
                  <a:schemeClr val="tx1"/>
                </a:solidFill>
                <a:latin typeface="Menlo" pitchFamily="34" charset="0"/>
                <a:ea typeface="Menlo" pitchFamily="34" charset="-122"/>
                <a:cs typeface="Menlo" pitchFamily="34" charset="-120"/>
              </a:rPr>
              <a:t>@private</a:t>
            </a:r>
            <a:endParaRPr lang="en-US" sz="1700" dirty="0"/>
          </a:p>
        </p:txBody>
      </p:sp>
      <p:sp>
        <p:nvSpPr>
          <p:cNvPr id="18" name="text-63"/>
          <p:cNvSpPr txBox="1"/>
          <p:nvPr/>
        </p:nvSpPr>
        <p:spPr>
          <a:xfrm>
            <a:off x="3032150" y="4480560"/>
            <a:ext cx="170627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User: authenticated</a:t>
            </a:r>
            <a:endParaRPr lang="en-US" sz="1100" dirty="0"/>
          </a:p>
        </p:txBody>
      </p:sp>
      <p:sp>
        <p:nvSpPr>
          <p:cNvPr id="19" name="text-64"/>
          <p:cNvSpPr txBox="1"/>
          <p:nvPr/>
        </p:nvSpPr>
        <p:spPr>
          <a:xfrm>
            <a:off x="3032150" y="4800600"/>
            <a:ext cx="1660550" cy="594360"/>
          </a:xfrm>
          <a:prstGeom prst="rect">
            <a:avLst/>
          </a:prstGeom>
          <a:noFill/>
          <a:ln/>
        </p:spPr>
        <p:txBody>
          <a:bodyPr wrap="square" lIns="0" tIns="0" rIns="0" bIns="0" rtlCol="0" anchor="t"/>
          <a:lstStyle/>
          <a:p>
            <a:pPr indent="0" marL="0">
              <a:buNone/>
            </a:pPr>
            <a:r>
              <a:rPr lang="en-US" sz="1400" dirty="0">
                <a:solidFill>
                  <a:schemeClr val="tx1"/>
                </a:solidFill>
              </a:rPr>
              <a:t>The QA user, in the run’s own project</a:t>
            </a:r>
            <a:endParaRPr lang="en-US" sz="1400" dirty="0"/>
          </a:p>
        </p:txBody>
      </p:sp>
      <p:sp>
        <p:nvSpPr>
          <p:cNvPr id="20" name="card-65"/>
          <p:cNvSpPr/>
          <p:nvPr/>
        </p:nvSpPr>
        <p:spPr>
          <a:xfrm>
            <a:off x="5058461" y="1920240"/>
            <a:ext cx="2072030" cy="3657600"/>
          </a:xfrm>
          <a:prstGeom prst="roundRect">
            <a:avLst>
              <a:gd name="adj" fmla="val 4413"/>
            </a:avLst>
          </a:prstGeom>
          <a:solidFill>
            <a:schemeClr val="bg2"/>
          </a:solidFill>
          <a:ln/>
        </p:spPr>
      </p:sp>
      <p:sp>
        <p:nvSpPr>
          <p:cNvPr id="21" name="node-66"/>
          <p:cNvSpPr/>
          <p:nvPr/>
        </p:nvSpPr>
        <p:spPr>
          <a:xfrm>
            <a:off x="5287061" y="2157984"/>
            <a:ext cx="658368" cy="658368"/>
          </a:xfrm>
          <a:prstGeom prst="ellipse">
            <a:avLst/>
          </a:prstGeom>
          <a:solidFill>
            <a:schemeClr val="accent5"/>
          </a:solidFill>
          <a:ln/>
        </p:spPr>
      </p:sp>
      <p:pic>
        <p:nvPicPr>
          <p:cNvPr id="22" name="icon-67" descr="preencoded.png">    </p:cNvPr>
          <p:cNvPicPr>
            <a:picLocks noChangeAspect="1"/>
          </p:cNvPicPr>
          <p:nvPr/>
        </p:nvPicPr>
        <p:blipFill>
          <a:blip r:embed="rId3"/>
          <a:stretch>
            <a:fillRect/>
          </a:stretch>
        </p:blipFill>
        <p:spPr>
          <a:xfrm>
            <a:off x="5451653" y="2322576"/>
            <a:ext cx="329184" cy="329184"/>
          </a:xfrm>
          <a:prstGeom prst="rect">
            <a:avLst/>
          </a:prstGeom>
        </p:spPr>
      </p:pic>
      <p:sp>
        <p:nvSpPr>
          <p:cNvPr id="23" name="text-68"/>
          <p:cNvSpPr txBox="1"/>
          <p:nvPr/>
        </p:nvSpPr>
        <p:spPr>
          <a:xfrm>
            <a:off x="5287061" y="2971800"/>
            <a:ext cx="1614830" cy="731520"/>
          </a:xfrm>
          <a:prstGeom prst="rect">
            <a:avLst/>
          </a:prstGeom>
          <a:noFill/>
          <a:ln/>
        </p:spPr>
        <p:txBody>
          <a:bodyPr wrap="square" lIns="0" tIns="0" rIns="0" bIns="0" rtlCol="0" anchor="ctr"/>
          <a:lstStyle/>
          <a:p>
            <a:pPr indent="0" marL="0">
              <a:buNone/>
            </a:pPr>
            <a:r>
              <a:rPr lang="en-US" sz="4800" b="1" dirty="0">
                <a:solidFill>
                  <a:schemeClr val="tx1"/>
                </a:solidFill>
                <a:latin typeface="+mj-lt" pitchFamily="34" charset="0"/>
                <a:ea typeface="+mj-lt" pitchFamily="34" charset="-122"/>
                <a:cs typeface="+mj-lt" pitchFamily="34" charset="-120"/>
              </a:rPr>
              <a:t>37</a:t>
            </a:r>
            <a:endParaRPr lang="en-US" sz="4800" dirty="0"/>
          </a:p>
        </p:txBody>
      </p:sp>
      <p:sp>
        <p:nvSpPr>
          <p:cNvPr id="24" name="text-69"/>
          <p:cNvSpPr txBox="1"/>
          <p:nvPr/>
        </p:nvSpPr>
        <p:spPr>
          <a:xfrm>
            <a:off x="5287061" y="3675888"/>
            <a:ext cx="1614830" cy="274320"/>
          </a:xfrm>
          <a:prstGeom prst="rect">
            <a:avLst/>
          </a:prstGeom>
          <a:noFill/>
          <a:ln/>
        </p:spPr>
        <p:txBody>
          <a:bodyPr wrap="square" lIns="0" tIns="0" rIns="0" bIns="0" rtlCol="0" anchor="ctr"/>
          <a:lstStyle/>
          <a:p>
            <a:pPr indent="0" marL="0">
              <a:buNone/>
            </a:pPr>
            <a:r>
              <a:rPr lang="en-US" sz="1300" dirty="0">
                <a:solidFill>
                  <a:schemeClr val="tx2"/>
                </a:solidFill>
              </a:rPr>
              <a:t>tests</a:t>
            </a:r>
            <a:endParaRPr lang="en-US" sz="1300" dirty="0"/>
          </a:p>
        </p:txBody>
      </p:sp>
      <p:sp>
        <p:nvSpPr>
          <p:cNvPr id="25" name="text-70"/>
          <p:cNvSpPr txBox="1"/>
          <p:nvPr/>
        </p:nvSpPr>
        <p:spPr>
          <a:xfrm>
            <a:off x="5287061" y="4096512"/>
            <a:ext cx="1706270" cy="365760"/>
          </a:xfrm>
          <a:prstGeom prst="rect">
            <a:avLst/>
          </a:prstGeom>
          <a:noFill/>
          <a:ln/>
        </p:spPr>
        <p:txBody>
          <a:bodyPr wrap="square" lIns="0" tIns="0" rIns="0" bIns="0" rtlCol="0" anchor="ctr"/>
          <a:lstStyle/>
          <a:p>
            <a:pPr indent="0" marL="0">
              <a:buNone/>
            </a:pPr>
            <a:r>
              <a:rPr lang="en-US" sz="1700" b="1" dirty="0">
                <a:solidFill>
                  <a:schemeClr val="tx1"/>
                </a:solidFill>
                <a:latin typeface="Menlo" pitchFamily="34" charset="0"/>
                <a:ea typeface="Menlo" pitchFamily="34" charset="-122"/>
                <a:cs typeface="Menlo" pitchFamily="34" charset="-120"/>
              </a:rPr>
              <a:t>@credits</a:t>
            </a:r>
            <a:endParaRPr lang="en-US" sz="1700" dirty="0"/>
          </a:p>
        </p:txBody>
      </p:sp>
      <p:sp>
        <p:nvSpPr>
          <p:cNvPr id="26" name="text-71"/>
          <p:cNvSpPr txBox="1"/>
          <p:nvPr/>
        </p:nvSpPr>
        <p:spPr>
          <a:xfrm>
            <a:off x="5287061" y="4480560"/>
            <a:ext cx="170627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User: credits</a:t>
            </a:r>
            <a:endParaRPr lang="en-US" sz="1100" dirty="0"/>
          </a:p>
        </p:txBody>
      </p:sp>
      <p:sp>
        <p:nvSpPr>
          <p:cNvPr id="27" name="text-72"/>
          <p:cNvSpPr txBox="1"/>
          <p:nvPr/>
        </p:nvSpPr>
        <p:spPr>
          <a:xfrm>
            <a:off x="5287061" y="4800600"/>
            <a:ext cx="1660550" cy="594360"/>
          </a:xfrm>
          <a:prstGeom prst="rect">
            <a:avLst/>
          </a:prstGeom>
          <a:noFill/>
          <a:ln/>
        </p:spPr>
        <p:txBody>
          <a:bodyPr wrap="square" lIns="0" tIns="0" rIns="0" bIns="0" rtlCol="0" anchor="t"/>
          <a:lstStyle/>
          <a:p>
            <a:pPr indent="0" marL="0">
              <a:buNone/>
            </a:pPr>
            <a:r>
              <a:rPr lang="en-US" sz="1400" dirty="0">
                <a:solidFill>
                  <a:schemeClr val="tx1"/>
                </a:solidFill>
              </a:rPr>
              <a:t>Launches what the project pays for</a:t>
            </a:r>
            <a:endParaRPr lang="en-US" sz="1400" dirty="0"/>
          </a:p>
        </p:txBody>
      </p:sp>
      <p:sp>
        <p:nvSpPr>
          <p:cNvPr id="28" name="card-73"/>
          <p:cNvSpPr/>
          <p:nvPr/>
        </p:nvSpPr>
        <p:spPr>
          <a:xfrm>
            <a:off x="7313371" y="1920240"/>
            <a:ext cx="2072030" cy="3657600"/>
          </a:xfrm>
          <a:prstGeom prst="roundRect">
            <a:avLst>
              <a:gd name="adj" fmla="val 4413"/>
            </a:avLst>
          </a:prstGeom>
          <a:solidFill>
            <a:schemeClr val="bg2"/>
          </a:solidFill>
          <a:ln/>
        </p:spPr>
      </p:sp>
      <p:sp>
        <p:nvSpPr>
          <p:cNvPr id="29" name="node-74"/>
          <p:cNvSpPr/>
          <p:nvPr/>
        </p:nvSpPr>
        <p:spPr>
          <a:xfrm>
            <a:off x="7541971" y="2157984"/>
            <a:ext cx="658368" cy="658368"/>
          </a:xfrm>
          <a:prstGeom prst="ellipse">
            <a:avLst/>
          </a:prstGeom>
          <a:solidFill>
            <a:schemeClr val="accent6"/>
          </a:solidFill>
          <a:ln/>
        </p:spPr>
      </p:sp>
      <p:pic>
        <p:nvPicPr>
          <p:cNvPr id="30" name="icon-75" descr="preencoded.png">    </p:cNvPr>
          <p:cNvPicPr>
            <a:picLocks noChangeAspect="1"/>
          </p:cNvPicPr>
          <p:nvPr/>
        </p:nvPicPr>
        <p:blipFill>
          <a:blip r:embed="rId4"/>
          <a:stretch>
            <a:fillRect/>
          </a:stretch>
        </p:blipFill>
        <p:spPr>
          <a:xfrm>
            <a:off x="7706563" y="2322576"/>
            <a:ext cx="329184" cy="329184"/>
          </a:xfrm>
          <a:prstGeom prst="rect">
            <a:avLst/>
          </a:prstGeom>
        </p:spPr>
      </p:pic>
      <p:sp>
        <p:nvSpPr>
          <p:cNvPr id="31" name="text-76"/>
          <p:cNvSpPr txBox="1"/>
          <p:nvPr/>
        </p:nvSpPr>
        <p:spPr>
          <a:xfrm>
            <a:off x="7541971" y="2971800"/>
            <a:ext cx="1614830" cy="731520"/>
          </a:xfrm>
          <a:prstGeom prst="rect">
            <a:avLst/>
          </a:prstGeom>
          <a:noFill/>
          <a:ln/>
        </p:spPr>
        <p:txBody>
          <a:bodyPr wrap="square" lIns="0" tIns="0" rIns="0" bIns="0" rtlCol="0" anchor="ctr"/>
          <a:lstStyle/>
          <a:p>
            <a:pPr indent="0" marL="0">
              <a:buNone/>
            </a:pPr>
            <a:r>
              <a:rPr lang="en-US" sz="4800" b="1" dirty="0">
                <a:solidFill>
                  <a:schemeClr val="tx1"/>
                </a:solidFill>
                <a:latin typeface="+mj-lt" pitchFamily="34" charset="0"/>
                <a:ea typeface="+mj-lt" pitchFamily="34" charset="-122"/>
                <a:cs typeface="+mj-lt" pitchFamily="34" charset="-120"/>
              </a:rPr>
              <a:t>6</a:t>
            </a:r>
            <a:endParaRPr lang="en-US" sz="4800" dirty="0"/>
          </a:p>
        </p:txBody>
      </p:sp>
      <p:sp>
        <p:nvSpPr>
          <p:cNvPr id="32" name="text-77"/>
          <p:cNvSpPr txBox="1"/>
          <p:nvPr/>
        </p:nvSpPr>
        <p:spPr>
          <a:xfrm>
            <a:off x="7541971" y="3675888"/>
            <a:ext cx="1614830" cy="274320"/>
          </a:xfrm>
          <a:prstGeom prst="rect">
            <a:avLst/>
          </a:prstGeom>
          <a:noFill/>
          <a:ln/>
        </p:spPr>
        <p:txBody>
          <a:bodyPr wrap="square" lIns="0" tIns="0" rIns="0" bIns="0" rtlCol="0" anchor="ctr"/>
          <a:lstStyle/>
          <a:p>
            <a:pPr indent="0" marL="0">
              <a:buNone/>
            </a:pPr>
            <a:r>
              <a:rPr lang="en-US" sz="1300" dirty="0">
                <a:solidFill>
                  <a:schemeClr val="tx2"/>
                </a:solidFill>
              </a:rPr>
              <a:t>tests</a:t>
            </a:r>
            <a:endParaRPr lang="en-US" sz="1300" dirty="0"/>
          </a:p>
        </p:txBody>
      </p:sp>
      <p:sp>
        <p:nvSpPr>
          <p:cNvPr id="33" name="text-78"/>
          <p:cNvSpPr txBox="1"/>
          <p:nvPr/>
        </p:nvSpPr>
        <p:spPr>
          <a:xfrm>
            <a:off x="7541971" y="4096512"/>
            <a:ext cx="1706270" cy="365760"/>
          </a:xfrm>
          <a:prstGeom prst="rect">
            <a:avLst/>
          </a:prstGeom>
          <a:noFill/>
          <a:ln/>
        </p:spPr>
        <p:txBody>
          <a:bodyPr wrap="square" lIns="0" tIns="0" rIns="0" bIns="0" rtlCol="0" anchor="ctr"/>
          <a:lstStyle/>
          <a:p>
            <a:pPr indent="0" marL="0">
              <a:buNone/>
            </a:pPr>
            <a:r>
              <a:rPr lang="en-US" sz="1700" b="1" dirty="0">
                <a:solidFill>
                  <a:schemeClr val="tx1"/>
                </a:solidFill>
                <a:latin typeface="Menlo" pitchFamily="34" charset="0"/>
                <a:ea typeface="Menlo" pitchFamily="34" charset="-122"/>
                <a:cs typeface="Menlo" pitchFamily="34" charset="-120"/>
              </a:rPr>
              <a:t>@onboarding</a:t>
            </a:r>
            <a:endParaRPr lang="en-US" sz="1700" dirty="0"/>
          </a:p>
        </p:txBody>
      </p:sp>
      <p:sp>
        <p:nvSpPr>
          <p:cNvPr id="34" name="text-79"/>
          <p:cNvSpPr txBox="1"/>
          <p:nvPr/>
        </p:nvSpPr>
        <p:spPr>
          <a:xfrm>
            <a:off x="7541971" y="4480560"/>
            <a:ext cx="170627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User: onboarding</a:t>
            </a:r>
            <a:endParaRPr lang="en-US" sz="1100" dirty="0"/>
          </a:p>
        </p:txBody>
      </p:sp>
      <p:sp>
        <p:nvSpPr>
          <p:cNvPr id="35" name="text-80"/>
          <p:cNvSpPr txBox="1"/>
          <p:nvPr/>
        </p:nvSpPr>
        <p:spPr>
          <a:xfrm>
            <a:off x="7541971" y="4800600"/>
            <a:ext cx="1660550" cy="594360"/>
          </a:xfrm>
          <a:prstGeom prst="rect">
            <a:avLst/>
          </a:prstGeom>
          <a:noFill/>
          <a:ln/>
        </p:spPr>
        <p:txBody>
          <a:bodyPr wrap="square" lIns="0" tIns="0" rIns="0" bIns="0" rtlCol="0" anchor="t"/>
          <a:lstStyle/>
          <a:p>
            <a:pPr indent="0" marL="0">
              <a:buNone/>
            </a:pPr>
            <a:r>
              <a:rPr lang="en-US" sz="1400" dirty="0">
                <a:solidFill>
                  <a:schemeClr val="tx1"/>
                </a:solidFill>
              </a:rPr>
              <a:t>A new user who owns nothing yet</a:t>
            </a:r>
            <a:endParaRPr lang="en-US" sz="1400" dirty="0"/>
          </a:p>
        </p:txBody>
      </p:sp>
      <p:sp>
        <p:nvSpPr>
          <p:cNvPr id="36" name="card-81"/>
          <p:cNvSpPr/>
          <p:nvPr/>
        </p:nvSpPr>
        <p:spPr>
          <a:xfrm>
            <a:off x="9568282" y="1920240"/>
            <a:ext cx="2072030" cy="3657600"/>
          </a:xfrm>
          <a:prstGeom prst="roundRect">
            <a:avLst>
              <a:gd name="adj" fmla="val 4413"/>
            </a:avLst>
          </a:prstGeom>
          <a:solidFill>
            <a:schemeClr val="bg2"/>
          </a:solidFill>
          <a:ln/>
        </p:spPr>
      </p:sp>
      <p:sp>
        <p:nvSpPr>
          <p:cNvPr id="37" name="node-82"/>
          <p:cNvSpPr/>
          <p:nvPr/>
        </p:nvSpPr>
        <p:spPr>
          <a:xfrm>
            <a:off x="9796882" y="2157984"/>
            <a:ext cx="658368" cy="658368"/>
          </a:xfrm>
          <a:prstGeom prst="ellipse">
            <a:avLst/>
          </a:prstGeom>
          <a:solidFill>
            <a:schemeClr val="tx2"/>
          </a:solidFill>
          <a:ln/>
        </p:spPr>
      </p:sp>
      <p:pic>
        <p:nvPicPr>
          <p:cNvPr id="38" name="icon-83" descr="preencoded.png">    </p:cNvPr>
          <p:cNvPicPr>
            <a:picLocks noChangeAspect="1"/>
          </p:cNvPicPr>
          <p:nvPr/>
        </p:nvPicPr>
        <p:blipFill>
          <a:blip r:embed="rId5"/>
          <a:stretch>
            <a:fillRect/>
          </a:stretch>
        </p:blipFill>
        <p:spPr>
          <a:xfrm>
            <a:off x="9961474" y="2322576"/>
            <a:ext cx="329184" cy="329184"/>
          </a:xfrm>
          <a:prstGeom prst="rect">
            <a:avLst/>
          </a:prstGeom>
        </p:spPr>
      </p:pic>
      <p:sp>
        <p:nvSpPr>
          <p:cNvPr id="39" name="text-84"/>
          <p:cNvSpPr txBox="1"/>
          <p:nvPr/>
        </p:nvSpPr>
        <p:spPr>
          <a:xfrm>
            <a:off x="9796882" y="2971800"/>
            <a:ext cx="1614830" cy="731520"/>
          </a:xfrm>
          <a:prstGeom prst="rect">
            <a:avLst/>
          </a:prstGeom>
          <a:noFill/>
          <a:ln/>
        </p:spPr>
        <p:txBody>
          <a:bodyPr wrap="square" lIns="0" tIns="0" rIns="0" bIns="0" rtlCol="0" anchor="ctr"/>
          <a:lstStyle/>
          <a:p>
            <a:pPr indent="0" marL="0">
              <a:buNone/>
            </a:pPr>
            <a:r>
              <a:rPr lang="en-US" sz="4800" b="1" dirty="0">
                <a:solidFill>
                  <a:schemeClr val="tx1"/>
                </a:solidFill>
                <a:latin typeface="+mj-lt" pitchFamily="34" charset="0"/>
                <a:ea typeface="+mj-lt" pitchFamily="34" charset="-122"/>
                <a:cs typeface="+mj-lt" pitchFamily="34" charset="-120"/>
              </a:rPr>
              <a:t>4</a:t>
            </a:r>
            <a:endParaRPr lang="en-US" sz="4800" dirty="0"/>
          </a:p>
        </p:txBody>
      </p:sp>
      <p:sp>
        <p:nvSpPr>
          <p:cNvPr id="40" name="text-85"/>
          <p:cNvSpPr txBox="1"/>
          <p:nvPr/>
        </p:nvSpPr>
        <p:spPr>
          <a:xfrm>
            <a:off x="9796882" y="3675888"/>
            <a:ext cx="1614830" cy="274320"/>
          </a:xfrm>
          <a:prstGeom prst="rect">
            <a:avLst/>
          </a:prstGeom>
          <a:noFill/>
          <a:ln/>
        </p:spPr>
        <p:txBody>
          <a:bodyPr wrap="square" lIns="0" tIns="0" rIns="0" bIns="0" rtlCol="0" anchor="ctr"/>
          <a:lstStyle/>
          <a:p>
            <a:pPr indent="0" marL="0">
              <a:buNone/>
            </a:pPr>
            <a:r>
              <a:rPr lang="en-US" sz="1300" dirty="0">
                <a:solidFill>
                  <a:schemeClr val="tx2"/>
                </a:solidFill>
              </a:rPr>
              <a:t>tests</a:t>
            </a:r>
            <a:endParaRPr lang="en-US" sz="1300" dirty="0"/>
          </a:p>
        </p:txBody>
      </p:sp>
      <p:sp>
        <p:nvSpPr>
          <p:cNvPr id="41" name="text-86"/>
          <p:cNvSpPr txBox="1"/>
          <p:nvPr/>
        </p:nvSpPr>
        <p:spPr>
          <a:xfrm>
            <a:off x="9796882" y="4096512"/>
            <a:ext cx="1706270" cy="365760"/>
          </a:xfrm>
          <a:prstGeom prst="rect">
            <a:avLst/>
          </a:prstGeom>
          <a:noFill/>
          <a:ln/>
        </p:spPr>
        <p:txBody>
          <a:bodyPr wrap="square" lIns="0" tIns="0" rIns="0" bIns="0" rtlCol="0" anchor="ctr"/>
          <a:lstStyle/>
          <a:p>
            <a:pPr indent="0" marL="0">
              <a:buNone/>
            </a:pPr>
            <a:r>
              <a:rPr lang="en-US" sz="1700" b="1" dirty="0">
                <a:solidFill>
                  <a:schemeClr val="tx1"/>
                </a:solidFill>
                <a:latin typeface="Menlo" pitchFamily="34" charset="0"/>
                <a:ea typeface="Menlo" pitchFamily="34" charset="-122"/>
                <a:cs typeface="Menlo" pitchFamily="34" charset="-120"/>
              </a:rPr>
              <a:t>@slow</a:t>
            </a:r>
            <a:endParaRPr lang="en-US" sz="1700" dirty="0"/>
          </a:p>
        </p:txBody>
      </p:sp>
      <p:sp>
        <p:nvSpPr>
          <p:cNvPr id="42" name="text-87"/>
          <p:cNvSpPr txBox="1"/>
          <p:nvPr/>
        </p:nvSpPr>
        <p:spPr>
          <a:xfrm>
            <a:off x="9796882" y="4480560"/>
            <a:ext cx="170627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"slow": true</a:t>
            </a:r>
            <a:endParaRPr lang="en-US" sz="1100" dirty="0"/>
          </a:p>
        </p:txBody>
      </p:sp>
      <p:sp>
        <p:nvSpPr>
          <p:cNvPr id="43" name="text-88"/>
          <p:cNvSpPr txBox="1"/>
          <p:nvPr/>
        </p:nvSpPr>
        <p:spPr>
          <a:xfrm>
            <a:off x="9796882" y="4800600"/>
            <a:ext cx="1660550" cy="594360"/>
          </a:xfrm>
          <a:prstGeom prst="rect">
            <a:avLst/>
          </a:prstGeom>
          <a:noFill/>
          <a:ln/>
        </p:spPr>
        <p:txBody>
          <a:bodyPr wrap="square" lIns="0" tIns="0" rIns="0" bIns="0" rtlCol="0" anchor="t"/>
          <a:lstStyle/>
          <a:p>
            <a:pPr indent="0" marL="0">
              <a:buNone/>
            </a:pPr>
            <a:r>
              <a:rPr lang="en-US" sz="1400" dirty="0">
                <a:solidFill>
                  <a:schemeClr val="tx1"/>
                </a:solidFill>
              </a:rPr>
              <a:t>Campaigns that take hours</a:t>
            </a:r>
            <a:endParaRPr lang="en-US" sz="1400" dirty="0"/>
          </a:p>
        </p:txBody>
      </p:sp>
      <p:sp>
        <p:nvSpPr>
          <p:cNvPr id="44" name="text-89"/>
          <p:cNvSpPr txBox="1"/>
          <p:nvPr/>
        </p:nvSpPr>
        <p:spPr>
          <a:xfrm>
            <a:off x="548640" y="5788152"/>
            <a:ext cx="10972800" cy="320040"/>
          </a:xfrm>
          <a:prstGeom prst="rect">
            <a:avLst/>
          </a:prstGeom>
          <a:noFill/>
          <a:ln/>
        </p:spPr>
        <p:txBody>
          <a:bodyPr wrap="square" lIns="0" tIns="0" rIns="0" bIns="0" rtlCol="0" anchor="ctr"/>
          <a:lstStyle/>
          <a:p>
            <a:pPr indent="0" marL="0">
              <a:buNone/>
            </a:pPr>
            <a:r>
              <a:rPr lang="en-US" sz="1400" dirty="0">
                <a:solidFill>
                  <a:schemeClr val="tx2"/>
                </a:solidFill>
              </a:rPr>
              <a:t>Every test runs on staging and production. </a:t>
            </a:r>
            <a:pPr indent="0" marL="0">
              <a:buNone/>
            </a:pPr>
            <a:r>
              <a:rPr lang="en-US" sz="1400" dirty="0">
                <a:solidFill>
                  <a:schemeClr val="tx2"/>
                </a:solidFill>
                <a:latin typeface="Menlo" pitchFamily="34" charset="0"/>
                <a:ea typeface="Menlo" pitchFamily="34" charset="-122"/>
                <a:cs typeface="Menlo" pitchFamily="34" charset="-120"/>
              </a:rPr>
              <a:t>@staging</a:t>
            </a:r>
            <a:pPr indent="0" marL="0">
              <a:buNone/>
            </a:pPr>
            <a:r>
              <a:rPr lang="en-US" sz="1400" dirty="0">
                <a:solidFill>
                  <a:schemeClr val="tx2"/>
                </a:solidFill>
              </a:rPr>
              <a:t> or </a:t>
            </a:r>
            <a:pPr indent="0" marL="0">
              <a:buNone/>
            </a:pPr>
            <a:r>
              <a:rPr lang="en-US" sz="1400" dirty="0">
                <a:solidFill>
                  <a:schemeClr val="tx2"/>
                </a:solidFill>
                <a:latin typeface="Menlo" pitchFamily="34" charset="0"/>
                <a:ea typeface="Menlo" pitchFamily="34" charset="-122"/>
                <a:cs typeface="Menlo" pitchFamily="34" charset="-120"/>
              </a:rPr>
              <a:t>@production</a:t>
            </a:r>
            <a:pPr indent="0" marL="0">
              <a:buNone/>
            </a:pPr>
            <a:r>
              <a:rPr lang="en-US" sz="1400" dirty="0">
                <a:solidFill>
                  <a:schemeClr val="tx2"/>
                </a:solidFill>
              </a:rPr>
              <a:t> pins the rare one that cannot.</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Two suites, one morning</a:t>
            </a:r>
            <a:endParaRPr lang="en-US" sz="3400" dirty="0"/>
          </a:p>
        </p:txBody>
      </p:sp>
      <p:sp>
        <p:nvSpPr>
          <p:cNvPr id="3" name="node-90"/>
          <p:cNvSpPr/>
          <p:nvPr/>
        </p:nvSpPr>
        <p:spPr>
          <a:xfrm>
            <a:off x="548640" y="1545336"/>
            <a:ext cx="694944" cy="694944"/>
          </a:xfrm>
          <a:prstGeom prst="ellipse">
            <a:avLst/>
          </a:prstGeom>
          <a:solidFill>
            <a:schemeClr val="accent1"/>
          </a:solidFill>
          <a:ln/>
        </p:spPr>
      </p:sp>
      <p:pic>
        <p:nvPicPr>
          <p:cNvPr id="4" name="icon-91" descr="preencoded.png">    </p:cNvPr>
          <p:cNvPicPr>
            <a:picLocks noChangeAspect="1"/>
          </p:cNvPicPr>
          <p:nvPr/>
        </p:nvPicPr>
        <p:blipFill>
          <a:blip r:embed="rId1"/>
          <a:stretch>
            <a:fillRect/>
          </a:stretch>
        </p:blipFill>
        <p:spPr>
          <a:xfrm>
            <a:off x="722376" y="1719072"/>
            <a:ext cx="347472" cy="347472"/>
          </a:xfrm>
          <a:prstGeom prst="rect">
            <a:avLst/>
          </a:prstGeom>
        </p:spPr>
      </p:pic>
      <p:sp>
        <p:nvSpPr>
          <p:cNvPr id="5" name="text-92"/>
          <p:cNvSpPr txBox="1"/>
          <p:nvPr/>
        </p:nvSpPr>
        <p:spPr>
          <a:xfrm>
            <a:off x="1371600" y="1581912"/>
            <a:ext cx="1280160" cy="365760"/>
          </a:xfrm>
          <a:prstGeom prst="rect">
            <a:avLst/>
          </a:prstGeom>
          <a:noFill/>
          <a:ln/>
        </p:spPr>
        <p:txBody>
          <a:bodyPr wrap="square" lIns="0" tIns="0" rIns="0" bIns="0" rtlCol="0" anchor="ctr"/>
          <a:lstStyle/>
          <a:p>
            <a:pPr indent="0" marL="0">
              <a:buNone/>
            </a:pPr>
            <a:r>
              <a:rPr lang="en-US" sz="2100" b="1" dirty="0">
                <a:solidFill>
                  <a:schemeClr val="tx1"/>
                </a:solidFill>
              </a:rPr>
              <a:t>Regular</a:t>
            </a:r>
            <a:endParaRPr lang="en-US" sz="2100" dirty="0"/>
          </a:p>
        </p:txBody>
      </p:sp>
      <p:sp>
        <p:nvSpPr>
          <p:cNvPr id="6" name="text-93"/>
          <p:cNvSpPr txBox="1"/>
          <p:nvPr/>
        </p:nvSpPr>
        <p:spPr>
          <a:xfrm>
            <a:off x="1371600" y="1947672"/>
            <a:ext cx="1280160" cy="274320"/>
          </a:xfrm>
          <a:prstGeom prst="rect">
            <a:avLst/>
          </a:prstGeom>
          <a:noFill/>
          <a:ln/>
        </p:spPr>
        <p:txBody>
          <a:bodyPr wrap="square" lIns="0" tIns="0" rIns="0" bIns="0" rtlCol="0" anchor="ctr"/>
          <a:lstStyle/>
          <a:p>
            <a:pPr indent="0" marL="0">
              <a:buNone/>
            </a:pPr>
            <a:r>
              <a:rPr lang="en-US" sz="1300" dirty="0">
                <a:solidFill>
                  <a:schemeClr val="tx2"/>
                </a:solidFill>
              </a:rPr>
              <a:t>308 tests</a:t>
            </a:r>
            <a:endParaRPr lang="en-US" sz="1300" dirty="0"/>
          </a:p>
        </p:txBody>
      </p:sp>
      <p:sp>
        <p:nvSpPr>
          <p:cNvPr id="7" name="rect-94"/>
          <p:cNvSpPr/>
          <p:nvPr/>
        </p:nvSpPr>
        <p:spPr>
          <a:xfrm>
            <a:off x="2697480" y="1600200"/>
            <a:ext cx="993648" cy="585216"/>
          </a:xfrm>
          <a:prstGeom prst="rect">
            <a:avLst/>
          </a:prstGeom>
          <a:solidFill>
            <a:schemeClr val="accent1"/>
          </a:solidFill>
          <a:ln/>
        </p:spPr>
      </p:sp>
      <p:sp>
        <p:nvSpPr>
          <p:cNvPr id="8" name="text-95"/>
          <p:cNvSpPr txBox="1"/>
          <p:nvPr/>
        </p:nvSpPr>
        <p:spPr>
          <a:xfrm>
            <a:off x="3919728" y="1600200"/>
            <a:ext cx="7498080" cy="585216"/>
          </a:xfrm>
          <a:prstGeom prst="rect">
            <a:avLst/>
          </a:prstGeom>
          <a:noFill/>
          <a:ln/>
        </p:spPr>
        <p:txBody>
          <a:bodyPr wrap="square" lIns="0" tIns="0" rIns="0" bIns="0" rtlCol="0" anchor="ctr"/>
          <a:lstStyle/>
          <a:p>
            <a:pPr indent="0" marL="0">
              <a:buNone/>
            </a:pPr>
            <a:r>
              <a:rPr lang="en-US" sz="1600" dirty="0">
                <a:solidFill>
                  <a:schemeClr val="tx1"/>
                </a:solidFill>
              </a:rPr>
              <a:t>31–42 min  ·  a campaign gets 5 minutes to finish</a:t>
            </a:r>
            <a:endParaRPr lang="en-US" sz="1600" dirty="0"/>
          </a:p>
        </p:txBody>
      </p:sp>
      <p:sp>
        <p:nvSpPr>
          <p:cNvPr id="9" name="node-96"/>
          <p:cNvSpPr/>
          <p:nvPr/>
        </p:nvSpPr>
        <p:spPr>
          <a:xfrm>
            <a:off x="548640" y="2779776"/>
            <a:ext cx="694944" cy="694944"/>
          </a:xfrm>
          <a:prstGeom prst="ellipse">
            <a:avLst/>
          </a:prstGeom>
          <a:solidFill>
            <a:schemeClr val="tx2"/>
          </a:solidFill>
          <a:ln/>
        </p:spPr>
      </p:sp>
      <p:pic>
        <p:nvPicPr>
          <p:cNvPr id="10" name="icon-97" descr="preencoded.png">    </p:cNvPr>
          <p:cNvPicPr>
            <a:picLocks noChangeAspect="1"/>
          </p:cNvPicPr>
          <p:nvPr/>
        </p:nvPicPr>
        <p:blipFill>
          <a:blip r:embed="rId2"/>
          <a:stretch>
            <a:fillRect/>
          </a:stretch>
        </p:blipFill>
        <p:spPr>
          <a:xfrm>
            <a:off x="722376" y="2953512"/>
            <a:ext cx="347472" cy="347472"/>
          </a:xfrm>
          <a:prstGeom prst="rect">
            <a:avLst/>
          </a:prstGeom>
        </p:spPr>
      </p:pic>
      <p:sp>
        <p:nvSpPr>
          <p:cNvPr id="11" name="text-98"/>
          <p:cNvSpPr txBox="1"/>
          <p:nvPr/>
        </p:nvSpPr>
        <p:spPr>
          <a:xfrm>
            <a:off x="1371600" y="2816352"/>
            <a:ext cx="1280160" cy="365760"/>
          </a:xfrm>
          <a:prstGeom prst="rect">
            <a:avLst/>
          </a:prstGeom>
          <a:noFill/>
          <a:ln/>
        </p:spPr>
        <p:txBody>
          <a:bodyPr wrap="square" lIns="0" tIns="0" rIns="0" bIns="0" rtlCol="0" anchor="ctr"/>
          <a:lstStyle/>
          <a:p>
            <a:pPr indent="0" marL="0">
              <a:buNone/>
            </a:pPr>
            <a:r>
              <a:rPr lang="en-US" sz="2100" b="1" dirty="0">
                <a:solidFill>
                  <a:schemeClr val="tx1"/>
                </a:solidFill>
              </a:rPr>
              <a:t>Slow</a:t>
            </a:r>
            <a:endParaRPr lang="en-US" sz="2100" dirty="0"/>
          </a:p>
        </p:txBody>
      </p:sp>
      <p:sp>
        <p:nvSpPr>
          <p:cNvPr id="12" name="text-99"/>
          <p:cNvSpPr txBox="1"/>
          <p:nvPr/>
        </p:nvSpPr>
        <p:spPr>
          <a:xfrm>
            <a:off x="1371600" y="3182112"/>
            <a:ext cx="1280160" cy="274320"/>
          </a:xfrm>
          <a:prstGeom prst="rect">
            <a:avLst/>
          </a:prstGeom>
          <a:noFill/>
          <a:ln/>
        </p:spPr>
        <p:txBody>
          <a:bodyPr wrap="square" lIns="0" tIns="0" rIns="0" bIns="0" rtlCol="0" anchor="ctr"/>
          <a:lstStyle/>
          <a:p>
            <a:pPr indent="0" marL="0">
              <a:buNone/>
            </a:pPr>
            <a:r>
              <a:rPr lang="en-US" sz="1300" dirty="0">
                <a:solidFill>
                  <a:schemeClr val="tx2"/>
                </a:solidFill>
              </a:rPr>
              <a:t>4 campaigns</a:t>
            </a:r>
            <a:endParaRPr lang="en-US" sz="1300" dirty="0"/>
          </a:p>
        </p:txBody>
      </p:sp>
      <p:sp>
        <p:nvSpPr>
          <p:cNvPr id="13" name="rect-100"/>
          <p:cNvSpPr/>
          <p:nvPr/>
        </p:nvSpPr>
        <p:spPr>
          <a:xfrm>
            <a:off x="2697480" y="2834640"/>
            <a:ext cx="8942832" cy="585216"/>
          </a:xfrm>
          <a:prstGeom prst="rect">
            <a:avLst/>
          </a:prstGeom>
          <a:solidFill>
            <a:schemeClr val="bg2"/>
          </a:solidFill>
          <a:ln w="12700">
            <a:solidFill>
              <a:srgbClr val="4A5870"/>
            </a:solidFill>
            <a:prstDash val="dash"/>
          </a:ln>
        </p:spPr>
      </p:sp>
      <p:sp>
        <p:nvSpPr>
          <p:cNvPr id="14" name="text-101"/>
          <p:cNvSpPr txBox="1"/>
          <p:nvPr/>
        </p:nvSpPr>
        <p:spPr>
          <a:xfrm>
            <a:off x="2926080" y="2834640"/>
            <a:ext cx="8503920" cy="585216"/>
          </a:xfrm>
          <a:prstGeom prst="rect">
            <a:avLst/>
          </a:prstGeom>
          <a:noFill/>
          <a:ln/>
        </p:spPr>
        <p:txBody>
          <a:bodyPr wrap="square" lIns="0" tIns="0" rIns="0" bIns="0" rtlCol="0" anchor="ctr"/>
          <a:lstStyle/>
          <a:p>
            <a:pPr indent="0" marL="0">
              <a:buNone/>
            </a:pPr>
            <a:r>
              <a:rPr lang="en-US" sz="1600" dirty="0">
                <a:solidFill>
                  <a:schemeClr val="tx1"/>
                </a:solidFill>
              </a:rPr>
              <a:t>up to 6 hours  ·  a campaign gets 4 hours, followed to the end</a:t>
            </a:r>
            <a:endParaRPr lang="en-US" sz="1600" dirty="0"/>
          </a:p>
        </p:txBody>
      </p:sp>
      <p:sp>
        <p:nvSpPr>
          <p:cNvPr id="15" name="card-102"/>
          <p:cNvSpPr/>
          <p:nvPr/>
        </p:nvSpPr>
        <p:spPr>
          <a:xfrm>
            <a:off x="548640" y="3977640"/>
            <a:ext cx="11091672" cy="1417320"/>
          </a:xfrm>
          <a:prstGeom prst="roundRect">
            <a:avLst>
              <a:gd name="adj" fmla="val 6452"/>
            </a:avLst>
          </a:prstGeom>
          <a:solidFill>
            <a:schemeClr val="bg2"/>
          </a:solidFill>
          <a:ln/>
        </p:spPr>
      </p:sp>
      <p:sp>
        <p:nvSpPr>
          <p:cNvPr id="16" name="node-103"/>
          <p:cNvSpPr/>
          <p:nvPr/>
        </p:nvSpPr>
        <p:spPr>
          <a:xfrm>
            <a:off x="768096" y="4357116"/>
            <a:ext cx="658368" cy="658368"/>
          </a:xfrm>
          <a:prstGeom prst="ellipse">
            <a:avLst/>
          </a:prstGeom>
          <a:solidFill>
            <a:schemeClr val="accent1"/>
          </a:solidFill>
          <a:ln/>
        </p:spPr>
      </p:sp>
      <p:pic>
        <p:nvPicPr>
          <p:cNvPr id="17" name="icon-104" descr="preencoded.png">    </p:cNvPr>
          <p:cNvPicPr>
            <a:picLocks noChangeAspect="1"/>
          </p:cNvPicPr>
          <p:nvPr/>
        </p:nvPicPr>
        <p:blipFill>
          <a:blip r:embed="rId3"/>
          <a:stretch>
            <a:fillRect/>
          </a:stretch>
        </p:blipFill>
        <p:spPr>
          <a:xfrm>
            <a:off x="932688" y="4521708"/>
            <a:ext cx="329184" cy="329184"/>
          </a:xfrm>
          <a:prstGeom prst="rect">
            <a:avLst/>
          </a:prstGeom>
        </p:spPr>
      </p:pic>
      <p:sp>
        <p:nvSpPr>
          <p:cNvPr id="18" name="text-105"/>
          <p:cNvSpPr txBox="1"/>
          <p:nvPr/>
        </p:nvSpPr>
        <p:spPr>
          <a:xfrm>
            <a:off x="1691640" y="4160520"/>
            <a:ext cx="9601200" cy="365760"/>
          </a:xfrm>
          <a:prstGeom prst="rect">
            <a:avLst/>
          </a:prstGeom>
          <a:noFill/>
          <a:ln/>
        </p:spPr>
        <p:txBody>
          <a:bodyPr wrap="square" lIns="0" tIns="0" rIns="0" bIns="0" rtlCol="0" anchor="ctr"/>
          <a:lstStyle/>
          <a:p>
            <a:pPr indent="0" marL="0">
              <a:buNone/>
            </a:pPr>
            <a:r>
              <a:rPr lang="en-US" sz="1800" b="1" dirty="0">
                <a:solidFill>
                  <a:schemeClr val="tx1"/>
                </a:solidFill>
              </a:rPr>
              <a:t>Why a slow suite?</a:t>
            </a:r>
            <a:endParaRPr lang="en-US" sz="1800" dirty="0"/>
          </a:p>
        </p:txBody>
      </p:sp>
      <p:sp>
        <p:nvSpPr>
          <p:cNvPr id="19" name="text-106"/>
          <p:cNvSpPr txBox="1"/>
          <p:nvPr/>
        </p:nvSpPr>
        <p:spPr>
          <a:xfrm>
            <a:off x="1691640" y="4544568"/>
            <a:ext cx="9692640" cy="731520"/>
          </a:xfrm>
          <a:prstGeom prst="rect">
            <a:avLst/>
          </a:prstGeom>
          <a:noFill/>
          <a:ln/>
        </p:spPr>
        <p:txBody>
          <a:bodyPr wrap="square" lIns="0" tIns="0" rIns="0" bIns="0" rtlCol="0" anchor="t"/>
          <a:lstStyle/>
          <a:p>
            <a:pPr indent="0" marL="0">
              <a:buNone/>
            </a:pPr>
            <a:r>
              <a:rPr lang="en-US" sz="1500" dirty="0">
                <a:solidFill>
                  <a:schemeClr val="tx1"/>
                </a:solidFill>
              </a:rPr>
              <a:t>Some campaigns, such as a microcircuit simulation or an e-model optimization, take hours to finish. In the regular suite they would hold up every other result, so they run in their own job and are followed to the end.</a:t>
            </a:r>
            <a:endParaRPr lang="en-US" sz="1500" dirty="0"/>
          </a:p>
        </p:txBody>
      </p:sp>
      <p:sp>
        <p:nvSpPr>
          <p:cNvPr id="20" name="text-107"/>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500" dirty="0">
                <a:solidFill>
                  <a:schemeClr val="tx2"/>
                </a:solidFill>
              </a:rPr>
              <a:t>A seed opts in with </a:t>
            </a:r>
            <a:pPr indent="0" marL="0">
              <a:buNone/>
            </a:pPr>
            <a:r>
              <a:rPr lang="en-US" sz="1500" b="1" dirty="0">
                <a:solidFill>
                  <a:schemeClr val="tx1"/>
                </a:solidFill>
                <a:latin typeface="Menlo" pitchFamily="34" charset="0"/>
                <a:ea typeface="Menlo" pitchFamily="34" charset="-122"/>
                <a:cs typeface="Menlo" pitchFamily="34" charset="-120"/>
              </a:rPr>
              <a:t>"slow": true</a:t>
            </a:r>
            <a:pPr indent="0" marL="0">
              <a:buNone/>
            </a:pPr>
            <a:r>
              <a:rPr lang="en-US" sz="1500" dirty="0">
                <a:solidFill>
                  <a:schemeClr val="tx2"/>
                </a:solidFill>
              </a:rPr>
              <a:t>. Both suites start together at 06:00 Swiss time and post into the same Teams thread.</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When it runs, and where</a:t>
            </a:r>
            <a:endParaRPr lang="en-US" sz="3400" dirty="0"/>
          </a:p>
        </p:txBody>
      </p:sp>
      <p:sp>
        <p:nvSpPr>
          <p:cNvPr id="3" name="text-108"/>
          <p:cNvSpPr txBox="1"/>
          <p:nvPr/>
        </p:nvSpPr>
        <p:spPr>
          <a:xfrm>
            <a:off x="4160520" y="1325880"/>
            <a:ext cx="2377440" cy="384048"/>
          </a:xfrm>
          <a:prstGeom prst="rect">
            <a:avLst/>
          </a:prstGeom>
          <a:noFill/>
          <a:ln/>
        </p:spPr>
        <p:txBody>
          <a:bodyPr wrap="square" lIns="0" tIns="0" rIns="0" bIns="0" rtlCol="0" anchor="ctr"/>
          <a:lstStyle/>
          <a:p>
            <a:pPr indent="0" marL="0">
              <a:buNone/>
            </a:pPr>
            <a:r>
              <a:rPr lang="en-US" sz="2000" b="1" dirty="0">
                <a:solidFill>
                  <a:schemeClr val="tx1"/>
                </a:solidFill>
              </a:rPr>
              <a:t>Preview</a:t>
            </a:r>
            <a:endParaRPr lang="en-US" sz="2000" dirty="0"/>
          </a:p>
        </p:txBody>
      </p:sp>
      <p:sp>
        <p:nvSpPr>
          <p:cNvPr id="4" name="text-109"/>
          <p:cNvSpPr txBox="1"/>
          <p:nvPr/>
        </p:nvSpPr>
        <p:spPr>
          <a:xfrm>
            <a:off x="4160520" y="1709928"/>
            <a:ext cx="2377440" cy="274320"/>
          </a:xfrm>
          <a:prstGeom prst="rect">
            <a:avLst/>
          </a:prstGeom>
          <a:noFill/>
          <a:ln/>
        </p:spPr>
        <p:txBody>
          <a:bodyPr wrap="square" lIns="0" tIns="0" rIns="0" bIns="0" rtlCol="0" anchor="ctr"/>
          <a:lstStyle/>
          <a:p>
            <a:pPr indent="0" marL="0">
              <a:buNone/>
            </a:pPr>
            <a:r>
              <a:rPr lang="en-US" sz="1200" dirty="0">
                <a:solidFill>
                  <a:schemeClr val="tx2"/>
                </a:solidFill>
              </a:rPr>
              <a:t>web-app main branch</a:t>
            </a:r>
            <a:endParaRPr lang="en-US" sz="1200" dirty="0"/>
          </a:p>
        </p:txBody>
      </p:sp>
      <p:sp>
        <p:nvSpPr>
          <p:cNvPr id="5" name="text-110"/>
          <p:cNvSpPr txBox="1"/>
          <p:nvPr/>
        </p:nvSpPr>
        <p:spPr>
          <a:xfrm>
            <a:off x="6675120" y="1325880"/>
            <a:ext cx="2377440" cy="384048"/>
          </a:xfrm>
          <a:prstGeom prst="rect">
            <a:avLst/>
          </a:prstGeom>
          <a:noFill/>
          <a:ln/>
        </p:spPr>
        <p:txBody>
          <a:bodyPr wrap="square" lIns="0" tIns="0" rIns="0" bIns="0" rtlCol="0" anchor="ctr"/>
          <a:lstStyle/>
          <a:p>
            <a:pPr indent="0" marL="0">
              <a:buNone/>
            </a:pPr>
            <a:r>
              <a:rPr lang="en-US" sz="2000" b="1" dirty="0">
                <a:solidFill>
                  <a:schemeClr val="tx1"/>
                </a:solidFill>
              </a:rPr>
              <a:t>Staging</a:t>
            </a:r>
            <a:endParaRPr lang="en-US" sz="2000" dirty="0"/>
          </a:p>
        </p:txBody>
      </p:sp>
      <p:sp>
        <p:nvSpPr>
          <p:cNvPr id="6" name="text-111"/>
          <p:cNvSpPr txBox="1"/>
          <p:nvPr/>
        </p:nvSpPr>
        <p:spPr>
          <a:xfrm>
            <a:off x="6675120" y="1709928"/>
            <a:ext cx="2377440" cy="274320"/>
          </a:xfrm>
          <a:prstGeom prst="rect">
            <a:avLst/>
          </a:prstGeom>
          <a:noFill/>
          <a:ln/>
        </p:spPr>
        <p:txBody>
          <a:bodyPr wrap="square" lIns="0" tIns="0" rIns="0" bIns="0" rtlCol="0" anchor="ctr"/>
          <a:lstStyle/>
          <a:p>
            <a:pPr indent="0" marL="0">
              <a:buNone/>
            </a:pPr>
            <a:r>
              <a:rPr lang="en-US" sz="1200" dirty="0">
                <a:solidFill>
                  <a:schemeClr val="tx2"/>
                </a:solidFill>
              </a:rPr>
              <a:t>the daily target</a:t>
            </a:r>
            <a:endParaRPr lang="en-US" sz="1200" dirty="0"/>
          </a:p>
        </p:txBody>
      </p:sp>
      <p:sp>
        <p:nvSpPr>
          <p:cNvPr id="7" name="text-112"/>
          <p:cNvSpPr txBox="1"/>
          <p:nvPr/>
        </p:nvSpPr>
        <p:spPr>
          <a:xfrm>
            <a:off x="9189720" y="1325880"/>
            <a:ext cx="2377440" cy="384048"/>
          </a:xfrm>
          <a:prstGeom prst="rect">
            <a:avLst/>
          </a:prstGeom>
          <a:noFill/>
          <a:ln/>
        </p:spPr>
        <p:txBody>
          <a:bodyPr wrap="square" lIns="0" tIns="0" rIns="0" bIns="0" rtlCol="0" anchor="ctr"/>
          <a:lstStyle/>
          <a:p>
            <a:pPr indent="0" marL="0">
              <a:buNone/>
            </a:pPr>
            <a:r>
              <a:rPr lang="en-US" sz="2000" b="1" dirty="0">
                <a:solidFill>
                  <a:schemeClr val="tx1"/>
                </a:solidFill>
              </a:rPr>
              <a:t>Production</a:t>
            </a:r>
            <a:endParaRPr lang="en-US" sz="2000" dirty="0"/>
          </a:p>
        </p:txBody>
      </p:sp>
      <p:sp>
        <p:nvSpPr>
          <p:cNvPr id="8" name="text-113"/>
          <p:cNvSpPr txBox="1"/>
          <p:nvPr/>
        </p:nvSpPr>
        <p:spPr>
          <a:xfrm>
            <a:off x="9189720" y="1709928"/>
            <a:ext cx="2377440" cy="274320"/>
          </a:xfrm>
          <a:prstGeom prst="rect">
            <a:avLst/>
          </a:prstGeom>
          <a:noFill/>
          <a:ln/>
        </p:spPr>
        <p:txBody>
          <a:bodyPr wrap="square" lIns="0" tIns="0" rIns="0" bIns="0" rtlCol="0" anchor="ctr"/>
          <a:lstStyle/>
          <a:p>
            <a:pPr indent="0" marL="0">
              <a:buNone/>
            </a:pPr>
            <a:r>
              <a:rPr lang="en-US" sz="1200" dirty="0">
                <a:solidFill>
                  <a:schemeClr val="tx2"/>
                </a:solidFill>
              </a:rPr>
              <a:t>by hand only</a:t>
            </a:r>
            <a:endParaRPr lang="en-US" sz="1200" dirty="0"/>
          </a:p>
        </p:txBody>
      </p:sp>
      <p:sp>
        <p:nvSpPr>
          <p:cNvPr id="9" name="card-114"/>
          <p:cNvSpPr/>
          <p:nvPr/>
        </p:nvSpPr>
        <p:spPr>
          <a:xfrm>
            <a:off x="548640" y="2103120"/>
            <a:ext cx="11091672" cy="548640"/>
          </a:xfrm>
          <a:prstGeom prst="roundRect">
            <a:avLst>
              <a:gd name="adj" fmla="val 13333"/>
            </a:avLst>
          </a:prstGeom>
          <a:solidFill>
            <a:schemeClr val="bg2"/>
          </a:solidFill>
          <a:ln/>
        </p:spPr>
      </p:sp>
      <p:sp>
        <p:nvSpPr>
          <p:cNvPr id="10" name="node-115"/>
          <p:cNvSpPr/>
          <p:nvPr/>
        </p:nvSpPr>
        <p:spPr>
          <a:xfrm>
            <a:off x="713232" y="2176272"/>
            <a:ext cx="402336" cy="402336"/>
          </a:xfrm>
          <a:prstGeom prst="ellipse">
            <a:avLst/>
          </a:prstGeom>
          <a:solidFill>
            <a:schemeClr val="tx1"/>
          </a:solidFill>
          <a:ln/>
        </p:spPr>
      </p:sp>
      <p:pic>
        <p:nvPicPr>
          <p:cNvPr id="11" name="icon-116" descr="preencoded.png">    </p:cNvPr>
          <p:cNvPicPr>
            <a:picLocks noChangeAspect="1"/>
          </p:cNvPicPr>
          <p:nvPr/>
        </p:nvPicPr>
        <p:blipFill>
          <a:blip r:embed="rId1"/>
          <a:stretch>
            <a:fillRect/>
          </a:stretch>
        </p:blipFill>
        <p:spPr>
          <a:xfrm>
            <a:off x="813816" y="2276856"/>
            <a:ext cx="201168" cy="201168"/>
          </a:xfrm>
          <a:prstGeom prst="rect">
            <a:avLst/>
          </a:prstGeom>
        </p:spPr>
      </p:pic>
      <p:sp>
        <p:nvSpPr>
          <p:cNvPr id="12" name="text-117"/>
          <p:cNvSpPr txBox="1"/>
          <p:nvPr/>
        </p:nvSpPr>
        <p:spPr>
          <a:xfrm>
            <a:off x="1325880" y="2103120"/>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Daily, 06:00 Swiss time</a:t>
            </a:r>
            <a:endParaRPr lang="en-US" sz="1600" dirty="0"/>
          </a:p>
        </p:txBody>
      </p:sp>
      <p:sp>
        <p:nvSpPr>
          <p:cNvPr id="13" name="card-118"/>
          <p:cNvSpPr/>
          <p:nvPr/>
        </p:nvSpPr>
        <p:spPr>
          <a:xfrm>
            <a:off x="6675120" y="2212848"/>
            <a:ext cx="914400" cy="329184"/>
          </a:xfrm>
          <a:prstGeom prst="roundRect">
            <a:avLst>
              <a:gd name="adj" fmla="val 50000"/>
            </a:avLst>
          </a:prstGeom>
          <a:solidFill>
            <a:schemeClr val="accent1"/>
          </a:solidFill>
          <a:ln/>
        </p:spPr>
      </p:sp>
      <p:sp>
        <p:nvSpPr>
          <p:cNvPr id="14" name="text-119"/>
          <p:cNvSpPr txBox="1"/>
          <p:nvPr/>
        </p:nvSpPr>
        <p:spPr>
          <a:xfrm>
            <a:off x="6675120" y="2212848"/>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Regular</a:t>
            </a:r>
            <a:endParaRPr lang="en-US" sz="1200" dirty="0"/>
          </a:p>
        </p:txBody>
      </p:sp>
      <p:sp>
        <p:nvSpPr>
          <p:cNvPr id="15" name="card-120"/>
          <p:cNvSpPr/>
          <p:nvPr/>
        </p:nvSpPr>
        <p:spPr>
          <a:xfrm>
            <a:off x="7680960" y="2212848"/>
            <a:ext cx="685800" cy="329184"/>
          </a:xfrm>
          <a:prstGeom prst="roundRect">
            <a:avLst>
              <a:gd name="adj" fmla="val 50000"/>
            </a:avLst>
          </a:prstGeom>
          <a:solidFill>
            <a:schemeClr val="tx2"/>
          </a:solidFill>
          <a:ln/>
        </p:spPr>
      </p:sp>
      <p:sp>
        <p:nvSpPr>
          <p:cNvPr id="16" name="text-121"/>
          <p:cNvSpPr txBox="1"/>
          <p:nvPr/>
        </p:nvSpPr>
        <p:spPr>
          <a:xfrm>
            <a:off x="7680960" y="2212848"/>
            <a:ext cx="685800" cy="329184"/>
          </a:xfrm>
          <a:prstGeom prst="rect">
            <a:avLst/>
          </a:prstGeom>
          <a:noFill/>
          <a:ln/>
        </p:spPr>
        <p:txBody>
          <a:bodyPr wrap="square" lIns="0" tIns="0" rIns="0" bIns="0" rtlCol="0" anchor="ctr"/>
          <a:lstStyle/>
          <a:p>
            <a:pPr algn="ctr" indent="0" marL="0">
              <a:buNone/>
            </a:pPr>
            <a:r>
              <a:rPr lang="en-US" sz="1200" b="1" dirty="0">
                <a:solidFill>
                  <a:schemeClr val="bg1"/>
                </a:solidFill>
              </a:rPr>
              <a:t>Slow</a:t>
            </a:r>
            <a:endParaRPr lang="en-US" sz="1200" dirty="0"/>
          </a:p>
        </p:txBody>
      </p:sp>
      <p:sp>
        <p:nvSpPr>
          <p:cNvPr id="17" name="node-122"/>
          <p:cNvSpPr/>
          <p:nvPr/>
        </p:nvSpPr>
        <p:spPr>
          <a:xfrm>
            <a:off x="713232" y="2798064"/>
            <a:ext cx="402336" cy="402336"/>
          </a:xfrm>
          <a:prstGeom prst="ellipse">
            <a:avLst/>
          </a:prstGeom>
          <a:solidFill>
            <a:schemeClr val="tx1"/>
          </a:solidFill>
          <a:ln/>
        </p:spPr>
      </p:sp>
      <p:pic>
        <p:nvPicPr>
          <p:cNvPr id="18" name="icon-123" descr="preencoded.png">    </p:cNvPr>
          <p:cNvPicPr>
            <a:picLocks noChangeAspect="1"/>
          </p:cNvPicPr>
          <p:nvPr/>
        </p:nvPicPr>
        <p:blipFill>
          <a:blip r:embed="rId2"/>
          <a:stretch>
            <a:fillRect/>
          </a:stretch>
        </p:blipFill>
        <p:spPr>
          <a:xfrm>
            <a:off x="813816" y="2898648"/>
            <a:ext cx="201168" cy="201168"/>
          </a:xfrm>
          <a:prstGeom prst="rect">
            <a:avLst/>
          </a:prstGeom>
        </p:spPr>
      </p:pic>
      <p:sp>
        <p:nvSpPr>
          <p:cNvPr id="19" name="text-124"/>
          <p:cNvSpPr txBox="1"/>
          <p:nvPr/>
        </p:nvSpPr>
        <p:spPr>
          <a:xfrm>
            <a:off x="1325880" y="2724912"/>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Web-app release</a:t>
            </a:r>
            <a:endParaRPr lang="en-US" sz="1600" dirty="0"/>
          </a:p>
        </p:txBody>
      </p:sp>
      <p:sp>
        <p:nvSpPr>
          <p:cNvPr id="20" name="card-125"/>
          <p:cNvSpPr/>
          <p:nvPr/>
        </p:nvSpPr>
        <p:spPr>
          <a:xfrm>
            <a:off x="6675120" y="2834640"/>
            <a:ext cx="914400" cy="329184"/>
          </a:xfrm>
          <a:prstGeom prst="roundRect">
            <a:avLst>
              <a:gd name="adj" fmla="val 50000"/>
            </a:avLst>
          </a:prstGeom>
          <a:solidFill>
            <a:schemeClr val="accent1"/>
          </a:solidFill>
          <a:ln/>
        </p:spPr>
      </p:sp>
      <p:sp>
        <p:nvSpPr>
          <p:cNvPr id="21" name="text-126"/>
          <p:cNvSpPr txBox="1"/>
          <p:nvPr/>
        </p:nvSpPr>
        <p:spPr>
          <a:xfrm>
            <a:off x="6675120" y="2834640"/>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Regular</a:t>
            </a:r>
            <a:endParaRPr lang="en-US" sz="1200" dirty="0"/>
          </a:p>
        </p:txBody>
      </p:sp>
      <p:sp>
        <p:nvSpPr>
          <p:cNvPr id="22" name="card-127"/>
          <p:cNvSpPr/>
          <p:nvPr/>
        </p:nvSpPr>
        <p:spPr>
          <a:xfrm>
            <a:off x="7680960" y="2834640"/>
            <a:ext cx="685800" cy="329184"/>
          </a:xfrm>
          <a:prstGeom prst="roundRect">
            <a:avLst>
              <a:gd name="adj" fmla="val 50000"/>
            </a:avLst>
          </a:prstGeom>
          <a:solidFill>
            <a:schemeClr val="tx2"/>
          </a:solidFill>
          <a:ln/>
        </p:spPr>
      </p:sp>
      <p:sp>
        <p:nvSpPr>
          <p:cNvPr id="23" name="text-128"/>
          <p:cNvSpPr txBox="1"/>
          <p:nvPr/>
        </p:nvSpPr>
        <p:spPr>
          <a:xfrm>
            <a:off x="7680960" y="2834640"/>
            <a:ext cx="685800" cy="329184"/>
          </a:xfrm>
          <a:prstGeom prst="rect">
            <a:avLst/>
          </a:prstGeom>
          <a:noFill/>
          <a:ln/>
        </p:spPr>
        <p:txBody>
          <a:bodyPr wrap="square" lIns="0" tIns="0" rIns="0" bIns="0" rtlCol="0" anchor="ctr"/>
          <a:lstStyle/>
          <a:p>
            <a:pPr algn="ctr" indent="0" marL="0">
              <a:buNone/>
            </a:pPr>
            <a:r>
              <a:rPr lang="en-US" sz="1200" b="1" dirty="0">
                <a:solidFill>
                  <a:schemeClr val="bg1"/>
                </a:solidFill>
              </a:rPr>
              <a:t>Slow</a:t>
            </a:r>
            <a:endParaRPr lang="en-US" sz="1200" dirty="0"/>
          </a:p>
        </p:txBody>
      </p:sp>
      <p:sp>
        <p:nvSpPr>
          <p:cNvPr id="24" name="card-129"/>
          <p:cNvSpPr/>
          <p:nvPr/>
        </p:nvSpPr>
        <p:spPr>
          <a:xfrm>
            <a:off x="548640" y="3346704"/>
            <a:ext cx="11091672" cy="548640"/>
          </a:xfrm>
          <a:prstGeom prst="roundRect">
            <a:avLst>
              <a:gd name="adj" fmla="val 13333"/>
            </a:avLst>
          </a:prstGeom>
          <a:solidFill>
            <a:schemeClr val="bg2"/>
          </a:solidFill>
          <a:ln/>
        </p:spPr>
      </p:sp>
      <p:sp>
        <p:nvSpPr>
          <p:cNvPr id="25" name="node-130"/>
          <p:cNvSpPr/>
          <p:nvPr/>
        </p:nvSpPr>
        <p:spPr>
          <a:xfrm>
            <a:off x="713232" y="3419856"/>
            <a:ext cx="402336" cy="402336"/>
          </a:xfrm>
          <a:prstGeom prst="ellipse">
            <a:avLst/>
          </a:prstGeom>
          <a:solidFill>
            <a:schemeClr val="tx1"/>
          </a:solidFill>
          <a:ln/>
        </p:spPr>
      </p:sp>
      <p:pic>
        <p:nvPicPr>
          <p:cNvPr id="26" name="icon-131" descr="preencoded.png">    </p:cNvPr>
          <p:cNvPicPr>
            <a:picLocks noChangeAspect="1"/>
          </p:cNvPicPr>
          <p:nvPr/>
        </p:nvPicPr>
        <p:blipFill>
          <a:blip r:embed="rId3"/>
          <a:stretch>
            <a:fillRect/>
          </a:stretch>
        </p:blipFill>
        <p:spPr>
          <a:xfrm>
            <a:off x="813816" y="3520440"/>
            <a:ext cx="201168" cy="201168"/>
          </a:xfrm>
          <a:prstGeom prst="rect">
            <a:avLst/>
          </a:prstGeom>
        </p:spPr>
      </p:pic>
      <p:sp>
        <p:nvSpPr>
          <p:cNvPr id="27" name="text-132"/>
          <p:cNvSpPr txBox="1"/>
          <p:nvPr/>
        </p:nvSpPr>
        <p:spPr>
          <a:xfrm>
            <a:off x="1325880" y="3346704"/>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Merge to obi-e2e main</a:t>
            </a:r>
            <a:endParaRPr lang="en-US" sz="1600" dirty="0"/>
          </a:p>
        </p:txBody>
      </p:sp>
      <p:sp>
        <p:nvSpPr>
          <p:cNvPr id="28" name="card-133"/>
          <p:cNvSpPr/>
          <p:nvPr/>
        </p:nvSpPr>
        <p:spPr>
          <a:xfrm>
            <a:off x="4160520" y="3456432"/>
            <a:ext cx="914400" cy="329184"/>
          </a:xfrm>
          <a:prstGeom prst="roundRect">
            <a:avLst>
              <a:gd name="adj" fmla="val 50000"/>
            </a:avLst>
          </a:prstGeom>
          <a:solidFill>
            <a:schemeClr val="accent1"/>
          </a:solidFill>
          <a:ln/>
        </p:spPr>
      </p:sp>
      <p:sp>
        <p:nvSpPr>
          <p:cNvPr id="29" name="text-134"/>
          <p:cNvSpPr txBox="1"/>
          <p:nvPr/>
        </p:nvSpPr>
        <p:spPr>
          <a:xfrm>
            <a:off x="4160520" y="3456432"/>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Regular</a:t>
            </a:r>
            <a:endParaRPr lang="en-US" sz="1200" dirty="0"/>
          </a:p>
        </p:txBody>
      </p:sp>
      <p:sp>
        <p:nvSpPr>
          <p:cNvPr id="30" name="card-135"/>
          <p:cNvSpPr/>
          <p:nvPr/>
        </p:nvSpPr>
        <p:spPr>
          <a:xfrm>
            <a:off x="5166360" y="3456432"/>
            <a:ext cx="685800" cy="329184"/>
          </a:xfrm>
          <a:prstGeom prst="roundRect">
            <a:avLst>
              <a:gd name="adj" fmla="val 50000"/>
            </a:avLst>
          </a:prstGeom>
          <a:solidFill>
            <a:schemeClr val="tx2"/>
          </a:solidFill>
          <a:ln/>
        </p:spPr>
      </p:sp>
      <p:sp>
        <p:nvSpPr>
          <p:cNvPr id="31" name="text-136"/>
          <p:cNvSpPr txBox="1"/>
          <p:nvPr/>
        </p:nvSpPr>
        <p:spPr>
          <a:xfrm>
            <a:off x="5166360" y="3456432"/>
            <a:ext cx="685800" cy="329184"/>
          </a:xfrm>
          <a:prstGeom prst="rect">
            <a:avLst/>
          </a:prstGeom>
          <a:noFill/>
          <a:ln/>
        </p:spPr>
        <p:txBody>
          <a:bodyPr wrap="square" lIns="0" tIns="0" rIns="0" bIns="0" rtlCol="0" anchor="ctr"/>
          <a:lstStyle/>
          <a:p>
            <a:pPr algn="ctr" indent="0" marL="0">
              <a:buNone/>
            </a:pPr>
            <a:r>
              <a:rPr lang="en-US" sz="1200" b="1" dirty="0">
                <a:solidFill>
                  <a:schemeClr val="bg1"/>
                </a:solidFill>
              </a:rPr>
              <a:t>Slow</a:t>
            </a:r>
            <a:endParaRPr lang="en-US" sz="1200" dirty="0"/>
          </a:p>
        </p:txBody>
      </p:sp>
      <p:sp>
        <p:nvSpPr>
          <p:cNvPr id="32" name="node-137"/>
          <p:cNvSpPr/>
          <p:nvPr/>
        </p:nvSpPr>
        <p:spPr>
          <a:xfrm>
            <a:off x="713232" y="4041648"/>
            <a:ext cx="402336" cy="402336"/>
          </a:xfrm>
          <a:prstGeom prst="ellipse">
            <a:avLst/>
          </a:prstGeom>
          <a:solidFill>
            <a:schemeClr val="tx1"/>
          </a:solidFill>
          <a:ln/>
        </p:spPr>
      </p:sp>
      <p:pic>
        <p:nvPicPr>
          <p:cNvPr id="33" name="icon-138" descr="preencoded.png">    </p:cNvPr>
          <p:cNvPicPr>
            <a:picLocks noChangeAspect="1"/>
          </p:cNvPicPr>
          <p:nvPr/>
        </p:nvPicPr>
        <p:blipFill>
          <a:blip r:embed="rId4"/>
          <a:stretch>
            <a:fillRect/>
          </a:stretch>
        </p:blipFill>
        <p:spPr>
          <a:xfrm>
            <a:off x="813816" y="4142232"/>
            <a:ext cx="201168" cy="201168"/>
          </a:xfrm>
          <a:prstGeom prst="rect">
            <a:avLst/>
          </a:prstGeom>
        </p:spPr>
      </p:pic>
      <p:sp>
        <p:nvSpPr>
          <p:cNvPr id="34" name="text-139"/>
          <p:cNvSpPr txBox="1"/>
          <p:nvPr/>
        </p:nvSpPr>
        <p:spPr>
          <a:xfrm>
            <a:off x="1325880" y="3968496"/>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Merge to web-app main</a:t>
            </a:r>
            <a:endParaRPr lang="en-US" sz="1600" dirty="0"/>
          </a:p>
        </p:txBody>
      </p:sp>
      <p:sp>
        <p:nvSpPr>
          <p:cNvPr id="35" name="card-140"/>
          <p:cNvSpPr/>
          <p:nvPr/>
        </p:nvSpPr>
        <p:spPr>
          <a:xfrm>
            <a:off x="4160520" y="4078224"/>
            <a:ext cx="914400" cy="329184"/>
          </a:xfrm>
          <a:prstGeom prst="roundRect">
            <a:avLst>
              <a:gd name="adj" fmla="val 50000"/>
            </a:avLst>
          </a:prstGeom>
          <a:solidFill>
            <a:schemeClr val="accent1"/>
          </a:solidFill>
          <a:ln/>
        </p:spPr>
      </p:sp>
      <p:sp>
        <p:nvSpPr>
          <p:cNvPr id="36" name="text-141"/>
          <p:cNvSpPr txBox="1"/>
          <p:nvPr/>
        </p:nvSpPr>
        <p:spPr>
          <a:xfrm>
            <a:off x="4160520" y="4078224"/>
            <a:ext cx="914400" cy="329184"/>
          </a:xfrm>
          <a:prstGeom prst="rect">
            <a:avLst/>
          </a:prstGeom>
          <a:noFill/>
          <a:ln/>
        </p:spPr>
        <p:txBody>
          <a:bodyPr wrap="square" lIns="0" tIns="0" rIns="0" bIns="0" rtlCol="0" anchor="ctr"/>
          <a:lstStyle/>
          <a:p>
            <a:pPr algn="ctr" indent="0" marL="0">
              <a:buNone/>
            </a:pPr>
            <a:r>
              <a:rPr lang="en-US" sz="1200" b="1" dirty="0">
                <a:solidFill>
                  <a:schemeClr val="bg1"/>
                </a:solidFill>
              </a:rPr>
              <a:t>Regular</a:t>
            </a:r>
            <a:endParaRPr lang="en-US" sz="1200" dirty="0"/>
          </a:p>
        </p:txBody>
      </p:sp>
      <p:sp>
        <p:nvSpPr>
          <p:cNvPr id="37" name="card-142"/>
          <p:cNvSpPr/>
          <p:nvPr/>
        </p:nvSpPr>
        <p:spPr>
          <a:xfrm>
            <a:off x="548640" y="4590288"/>
            <a:ext cx="11091672" cy="548640"/>
          </a:xfrm>
          <a:prstGeom prst="roundRect">
            <a:avLst>
              <a:gd name="adj" fmla="val 13333"/>
            </a:avLst>
          </a:prstGeom>
          <a:solidFill>
            <a:schemeClr val="bg2"/>
          </a:solidFill>
          <a:ln/>
        </p:spPr>
      </p:sp>
      <p:sp>
        <p:nvSpPr>
          <p:cNvPr id="38" name="node-143"/>
          <p:cNvSpPr/>
          <p:nvPr/>
        </p:nvSpPr>
        <p:spPr>
          <a:xfrm>
            <a:off x="713232" y="4663440"/>
            <a:ext cx="402336" cy="402336"/>
          </a:xfrm>
          <a:prstGeom prst="ellipse">
            <a:avLst/>
          </a:prstGeom>
          <a:solidFill>
            <a:schemeClr val="tx1"/>
          </a:solidFill>
          <a:ln/>
        </p:spPr>
      </p:sp>
      <p:pic>
        <p:nvPicPr>
          <p:cNvPr id="39" name="icon-144" descr="preencoded.png">    </p:cNvPr>
          <p:cNvPicPr>
            <a:picLocks noChangeAspect="1"/>
          </p:cNvPicPr>
          <p:nvPr/>
        </p:nvPicPr>
        <p:blipFill>
          <a:blip r:embed="rId5"/>
          <a:stretch>
            <a:fillRect/>
          </a:stretch>
        </p:blipFill>
        <p:spPr>
          <a:xfrm>
            <a:off x="813816" y="4764024"/>
            <a:ext cx="201168" cy="201168"/>
          </a:xfrm>
          <a:prstGeom prst="rect">
            <a:avLst/>
          </a:prstGeom>
        </p:spPr>
      </p:pic>
      <p:sp>
        <p:nvSpPr>
          <p:cNvPr id="40" name="text-145"/>
          <p:cNvSpPr txBox="1"/>
          <p:nvPr/>
        </p:nvSpPr>
        <p:spPr>
          <a:xfrm>
            <a:off x="1325880" y="4590288"/>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By hand</a:t>
            </a:r>
            <a:endParaRPr lang="en-US" sz="1600" dirty="0"/>
          </a:p>
        </p:txBody>
      </p:sp>
      <p:sp>
        <p:nvSpPr>
          <p:cNvPr id="41" name="card-146"/>
          <p:cNvSpPr/>
          <p:nvPr/>
        </p:nvSpPr>
        <p:spPr>
          <a:xfrm>
            <a:off x="4160520" y="4700016"/>
            <a:ext cx="1005840" cy="329184"/>
          </a:xfrm>
          <a:prstGeom prst="roundRect">
            <a:avLst>
              <a:gd name="adj" fmla="val 50000"/>
            </a:avLst>
          </a:prstGeom>
          <a:solidFill>
            <a:schemeClr val="bg1"/>
          </a:solidFill>
          <a:ln w="12700">
            <a:solidFill>
              <a:srgbClr val="0B1A2E"/>
            </a:solidFill>
            <a:prstDash val="solid"/>
          </a:ln>
        </p:spPr>
      </p:sp>
      <p:sp>
        <p:nvSpPr>
          <p:cNvPr id="42" name="text-147"/>
          <p:cNvSpPr txBox="1"/>
          <p:nvPr/>
        </p:nvSpPr>
        <p:spPr>
          <a:xfrm>
            <a:off x="4160520" y="4700016"/>
            <a:ext cx="1005840" cy="329184"/>
          </a:xfrm>
          <a:prstGeom prst="rect">
            <a:avLst/>
          </a:prstGeom>
          <a:noFill/>
          <a:ln/>
        </p:spPr>
        <p:txBody>
          <a:bodyPr wrap="square" lIns="0" tIns="0" rIns="0" bIns="0" rtlCol="0" anchor="ctr"/>
          <a:lstStyle/>
          <a:p>
            <a:pPr algn="ctr" indent="0" marL="0">
              <a:buNone/>
            </a:pPr>
            <a:r>
              <a:rPr lang="en-US" sz="1200" b="1" dirty="0">
                <a:solidFill>
                  <a:schemeClr val="tx1"/>
                </a:solidFill>
              </a:rPr>
              <a:t>Any suite</a:t>
            </a:r>
            <a:endParaRPr lang="en-US" sz="1200" dirty="0"/>
          </a:p>
        </p:txBody>
      </p:sp>
      <p:sp>
        <p:nvSpPr>
          <p:cNvPr id="43" name="card-148"/>
          <p:cNvSpPr/>
          <p:nvPr/>
        </p:nvSpPr>
        <p:spPr>
          <a:xfrm>
            <a:off x="6675120" y="4700016"/>
            <a:ext cx="1005840" cy="329184"/>
          </a:xfrm>
          <a:prstGeom prst="roundRect">
            <a:avLst>
              <a:gd name="adj" fmla="val 50000"/>
            </a:avLst>
          </a:prstGeom>
          <a:solidFill>
            <a:schemeClr val="bg1"/>
          </a:solidFill>
          <a:ln w="12700">
            <a:solidFill>
              <a:srgbClr val="0B1A2E"/>
            </a:solidFill>
            <a:prstDash val="solid"/>
          </a:ln>
        </p:spPr>
      </p:sp>
      <p:sp>
        <p:nvSpPr>
          <p:cNvPr id="44" name="text-149"/>
          <p:cNvSpPr txBox="1"/>
          <p:nvPr/>
        </p:nvSpPr>
        <p:spPr>
          <a:xfrm>
            <a:off x="6675120" y="4700016"/>
            <a:ext cx="1005840" cy="329184"/>
          </a:xfrm>
          <a:prstGeom prst="rect">
            <a:avLst/>
          </a:prstGeom>
          <a:noFill/>
          <a:ln/>
        </p:spPr>
        <p:txBody>
          <a:bodyPr wrap="square" lIns="0" tIns="0" rIns="0" bIns="0" rtlCol="0" anchor="ctr"/>
          <a:lstStyle/>
          <a:p>
            <a:pPr algn="ctr" indent="0" marL="0">
              <a:buNone/>
            </a:pPr>
            <a:r>
              <a:rPr lang="en-US" sz="1200" b="1" dirty="0">
                <a:solidFill>
                  <a:schemeClr val="tx1"/>
                </a:solidFill>
              </a:rPr>
              <a:t>Any suite</a:t>
            </a:r>
            <a:endParaRPr lang="en-US" sz="1200" dirty="0"/>
          </a:p>
        </p:txBody>
      </p:sp>
      <p:sp>
        <p:nvSpPr>
          <p:cNvPr id="45" name="card-150"/>
          <p:cNvSpPr/>
          <p:nvPr/>
        </p:nvSpPr>
        <p:spPr>
          <a:xfrm>
            <a:off x="9189720" y="4700016"/>
            <a:ext cx="1005840" cy="329184"/>
          </a:xfrm>
          <a:prstGeom prst="roundRect">
            <a:avLst>
              <a:gd name="adj" fmla="val 50000"/>
            </a:avLst>
          </a:prstGeom>
          <a:solidFill>
            <a:schemeClr val="bg1"/>
          </a:solidFill>
          <a:ln w="12700">
            <a:solidFill>
              <a:srgbClr val="0B1A2E"/>
            </a:solidFill>
            <a:prstDash val="solid"/>
          </a:ln>
        </p:spPr>
      </p:sp>
      <p:sp>
        <p:nvSpPr>
          <p:cNvPr id="46" name="text-151"/>
          <p:cNvSpPr txBox="1"/>
          <p:nvPr/>
        </p:nvSpPr>
        <p:spPr>
          <a:xfrm>
            <a:off x="9189720" y="4700016"/>
            <a:ext cx="1005840" cy="329184"/>
          </a:xfrm>
          <a:prstGeom prst="rect">
            <a:avLst/>
          </a:prstGeom>
          <a:noFill/>
          <a:ln/>
        </p:spPr>
        <p:txBody>
          <a:bodyPr wrap="square" lIns="0" tIns="0" rIns="0" bIns="0" rtlCol="0" anchor="ctr"/>
          <a:lstStyle/>
          <a:p>
            <a:pPr algn="ctr" indent="0" marL="0">
              <a:buNone/>
            </a:pPr>
            <a:r>
              <a:rPr lang="en-US" sz="1200" b="1" dirty="0">
                <a:solidFill>
                  <a:schemeClr val="tx1"/>
                </a:solidFill>
              </a:rPr>
              <a:t>Any suite</a:t>
            </a:r>
            <a:endParaRPr lang="en-US" sz="1200" dirty="0"/>
          </a:p>
        </p:txBody>
      </p:sp>
      <p:sp>
        <p:nvSpPr>
          <p:cNvPr id="47" name="node-152"/>
          <p:cNvSpPr/>
          <p:nvPr/>
        </p:nvSpPr>
        <p:spPr>
          <a:xfrm>
            <a:off x="713232" y="5285232"/>
            <a:ext cx="402336" cy="402336"/>
          </a:xfrm>
          <a:prstGeom prst="ellipse">
            <a:avLst/>
          </a:prstGeom>
          <a:solidFill>
            <a:schemeClr val="tx1"/>
          </a:solidFill>
          <a:ln/>
        </p:spPr>
      </p:sp>
      <p:pic>
        <p:nvPicPr>
          <p:cNvPr id="48" name="icon-153" descr="preencoded.png">    </p:cNvPr>
          <p:cNvPicPr>
            <a:picLocks noChangeAspect="1"/>
          </p:cNvPicPr>
          <p:nvPr/>
        </p:nvPicPr>
        <p:blipFill>
          <a:blip r:embed="rId6"/>
          <a:stretch>
            <a:fillRect/>
          </a:stretch>
        </p:blipFill>
        <p:spPr>
          <a:xfrm>
            <a:off x="813816" y="5385816"/>
            <a:ext cx="201168" cy="201168"/>
          </a:xfrm>
          <a:prstGeom prst="rect">
            <a:avLst/>
          </a:prstGeom>
        </p:spPr>
      </p:pic>
      <p:sp>
        <p:nvSpPr>
          <p:cNvPr id="49" name="text-154"/>
          <p:cNvSpPr txBox="1"/>
          <p:nvPr/>
        </p:nvSpPr>
        <p:spPr>
          <a:xfrm>
            <a:off x="1325880" y="5212080"/>
            <a:ext cx="2743200" cy="548640"/>
          </a:xfrm>
          <a:prstGeom prst="rect">
            <a:avLst/>
          </a:prstGeom>
          <a:noFill/>
          <a:ln/>
        </p:spPr>
        <p:txBody>
          <a:bodyPr wrap="square" lIns="0" tIns="0" rIns="0" bIns="0" rtlCol="0" anchor="ctr"/>
          <a:lstStyle/>
          <a:p>
            <a:pPr indent="0" marL="0">
              <a:buNone/>
            </a:pPr>
            <a:r>
              <a:rPr lang="en-US" sz="1600" b="1" dirty="0">
                <a:solidFill>
                  <a:schemeClr val="tx1"/>
                </a:solidFill>
              </a:rPr>
              <a:t>Daily, 08:00 Swiss time</a:t>
            </a:r>
            <a:endParaRPr lang="en-US" sz="1600" dirty="0"/>
          </a:p>
        </p:txBody>
      </p:sp>
      <p:sp>
        <p:nvSpPr>
          <p:cNvPr id="50" name="card-155"/>
          <p:cNvSpPr/>
          <p:nvPr/>
        </p:nvSpPr>
        <p:spPr>
          <a:xfrm>
            <a:off x="6675120" y="5321808"/>
            <a:ext cx="1371600" cy="329184"/>
          </a:xfrm>
          <a:prstGeom prst="roundRect">
            <a:avLst>
              <a:gd name="adj" fmla="val 50000"/>
            </a:avLst>
          </a:prstGeom>
          <a:solidFill>
            <a:schemeClr val="accent2"/>
          </a:solidFill>
          <a:ln/>
        </p:spPr>
      </p:sp>
      <p:sp>
        <p:nvSpPr>
          <p:cNvPr id="51" name="text-156"/>
          <p:cNvSpPr txBox="1"/>
          <p:nvPr/>
        </p:nvSpPr>
        <p:spPr>
          <a:xfrm>
            <a:off x="6675120" y="5321808"/>
            <a:ext cx="1371600" cy="329184"/>
          </a:xfrm>
          <a:prstGeom prst="rect">
            <a:avLst/>
          </a:prstGeom>
          <a:noFill/>
          <a:ln/>
        </p:spPr>
        <p:txBody>
          <a:bodyPr wrap="square" lIns="0" tIns="0" rIns="0" bIns="0" rtlCol="0" anchor="ctr"/>
          <a:lstStyle/>
          <a:p>
            <a:pPr algn="ctr" indent="0" marL="0">
              <a:buNone/>
            </a:pPr>
            <a:r>
              <a:rPr lang="en-US" sz="1200" b="1" dirty="0">
                <a:solidFill>
                  <a:schemeClr val="tx1"/>
                </a:solidFill>
              </a:rPr>
              <a:t>Website speed</a:t>
            </a:r>
            <a:endParaRPr lang="en-US" sz="1200" dirty="0"/>
          </a:p>
        </p:txBody>
      </p:sp>
      <p:sp>
        <p:nvSpPr>
          <p:cNvPr id="52" name="card-157"/>
          <p:cNvSpPr/>
          <p:nvPr/>
        </p:nvSpPr>
        <p:spPr>
          <a:xfrm>
            <a:off x="9189720" y="5321808"/>
            <a:ext cx="1371600" cy="329184"/>
          </a:xfrm>
          <a:prstGeom prst="roundRect">
            <a:avLst>
              <a:gd name="adj" fmla="val 50000"/>
            </a:avLst>
          </a:prstGeom>
          <a:solidFill>
            <a:schemeClr val="accent2"/>
          </a:solidFill>
          <a:ln/>
        </p:spPr>
      </p:sp>
      <p:sp>
        <p:nvSpPr>
          <p:cNvPr id="53" name="text-158"/>
          <p:cNvSpPr txBox="1"/>
          <p:nvPr/>
        </p:nvSpPr>
        <p:spPr>
          <a:xfrm>
            <a:off x="9189720" y="5321808"/>
            <a:ext cx="1371600" cy="329184"/>
          </a:xfrm>
          <a:prstGeom prst="rect">
            <a:avLst/>
          </a:prstGeom>
          <a:noFill/>
          <a:ln/>
        </p:spPr>
        <p:txBody>
          <a:bodyPr wrap="square" lIns="0" tIns="0" rIns="0" bIns="0" rtlCol="0" anchor="ctr"/>
          <a:lstStyle/>
          <a:p>
            <a:pPr algn="ctr" indent="0" marL="0">
              <a:buNone/>
            </a:pPr>
            <a:r>
              <a:rPr lang="en-US" sz="1200" b="1" dirty="0">
                <a:solidFill>
                  <a:schemeClr val="tx1"/>
                </a:solidFill>
              </a:rPr>
              <a:t>Website speed</a:t>
            </a:r>
            <a:endParaRPr lang="en-US" sz="1200" dirty="0"/>
          </a:p>
        </p:txBody>
      </p:sp>
      <p:sp>
        <p:nvSpPr>
          <p:cNvPr id="54" name="text-159"/>
          <p:cNvSpPr txBox="1"/>
          <p:nvPr/>
        </p:nvSpPr>
        <p:spPr>
          <a:xfrm>
            <a:off x="548640" y="5870448"/>
            <a:ext cx="10972800" cy="320040"/>
          </a:xfrm>
          <a:prstGeom prst="rect">
            <a:avLst/>
          </a:prstGeom>
          <a:noFill/>
          <a:ln/>
        </p:spPr>
        <p:txBody>
          <a:bodyPr wrap="square" lIns="0" tIns="0" rIns="0" bIns="0" rtlCol="0" anchor="ctr"/>
          <a:lstStyle/>
          <a:p>
            <a:pPr indent="0" marL="0">
              <a:buNone/>
            </a:pPr>
            <a:r>
              <a:rPr lang="en-US" sz="1200" dirty="0">
                <a:solidFill>
                  <a:schemeClr val="tx2"/>
                </a:solidFill>
              </a:rPr>
              <a:t>Both suites of a run post into one Teams thread and one report folder. Production has no schedule yet; a manual run is the only way in.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What one run does</a:t>
            </a:r>
            <a:endParaRPr lang="en-US" sz="3400" dirty="0"/>
          </a:p>
        </p:txBody>
      </p:sp>
      <p:sp>
        <p:nvSpPr>
          <p:cNvPr id="3" name="link-160"/>
          <p:cNvSpPr/>
          <p:nvPr/>
        </p:nvSpPr>
        <p:spPr>
          <a:xfrm>
            <a:off x="2244852" y="2148840"/>
            <a:ext cx="1042416" cy="0"/>
          </a:xfrm>
          <a:prstGeom prst="line">
            <a:avLst/>
          </a:prstGeom>
          <a:noFill/>
          <a:ln w="19050">
            <a:solidFill>
              <a:srgbClr val="4A5870"/>
            </a:solidFill>
            <a:prstDash val="solid"/>
          </a:ln>
        </p:spPr>
      </p:sp>
      <p:sp>
        <p:nvSpPr>
          <p:cNvPr id="4" name="node-161"/>
          <p:cNvSpPr/>
          <p:nvPr/>
        </p:nvSpPr>
        <p:spPr>
          <a:xfrm>
            <a:off x="3232404" y="2093976"/>
            <a:ext cx="109728" cy="109728"/>
          </a:xfrm>
          <a:prstGeom prst="ellipse">
            <a:avLst/>
          </a:prstGeom>
          <a:solidFill>
            <a:srgbClr val="026FD7"/>
          </a:solidFill>
          <a:ln/>
        </p:spPr>
      </p:sp>
      <p:sp>
        <p:nvSpPr>
          <p:cNvPr id="5" name="node-162"/>
          <p:cNvSpPr/>
          <p:nvPr/>
        </p:nvSpPr>
        <p:spPr>
          <a:xfrm>
            <a:off x="1175004" y="1668780"/>
            <a:ext cx="960120" cy="960120"/>
          </a:xfrm>
          <a:prstGeom prst="ellipse">
            <a:avLst/>
          </a:prstGeom>
          <a:solidFill>
            <a:schemeClr val="tx1"/>
          </a:solidFill>
          <a:ln/>
        </p:spPr>
      </p:sp>
      <p:pic>
        <p:nvPicPr>
          <p:cNvPr id="6" name="icon-163" descr="preencoded.png">    </p:cNvPr>
          <p:cNvPicPr>
            <a:picLocks noChangeAspect="1"/>
          </p:cNvPicPr>
          <p:nvPr/>
        </p:nvPicPr>
        <p:blipFill>
          <a:blip r:embed="rId1"/>
          <a:stretch>
            <a:fillRect/>
          </a:stretch>
        </p:blipFill>
        <p:spPr>
          <a:xfrm>
            <a:off x="1415034" y="1908810"/>
            <a:ext cx="480060" cy="480060"/>
          </a:xfrm>
          <a:prstGeom prst="rect">
            <a:avLst/>
          </a:prstGeom>
        </p:spPr>
      </p:pic>
      <p:sp>
        <p:nvSpPr>
          <p:cNvPr id="7" name="text-164"/>
          <p:cNvSpPr txBox="1"/>
          <p:nvPr/>
        </p:nvSpPr>
        <p:spPr>
          <a:xfrm>
            <a:off x="603504" y="2788920"/>
            <a:ext cx="2103120" cy="365760"/>
          </a:xfrm>
          <a:prstGeom prst="rect">
            <a:avLst/>
          </a:prstGeom>
          <a:noFill/>
          <a:ln/>
        </p:spPr>
        <p:txBody>
          <a:bodyPr wrap="square" lIns="0" tIns="0" rIns="0" bIns="0" rtlCol="0" anchor="ctr"/>
          <a:lstStyle/>
          <a:p>
            <a:pPr algn="ctr" indent="0" marL="0">
              <a:buNone/>
            </a:pPr>
            <a:r>
              <a:rPr lang="en-US" sz="1700" b="1" dirty="0">
                <a:solidFill>
                  <a:schemeClr val="tx1"/>
                </a:solidFill>
              </a:rPr>
              <a:t>Health check</a:t>
            </a:r>
            <a:endParaRPr lang="en-US" sz="1700" dirty="0"/>
          </a:p>
        </p:txBody>
      </p:sp>
      <p:sp>
        <p:nvSpPr>
          <p:cNvPr id="8" name="text-165"/>
          <p:cNvSpPr txBox="1"/>
          <p:nvPr/>
        </p:nvSpPr>
        <p:spPr>
          <a:xfrm>
            <a:off x="603504" y="3154680"/>
            <a:ext cx="2103120" cy="502920"/>
          </a:xfrm>
          <a:prstGeom prst="rect">
            <a:avLst/>
          </a:prstGeom>
          <a:noFill/>
          <a:ln/>
        </p:spPr>
        <p:txBody>
          <a:bodyPr wrap="square" lIns="0" tIns="0" rIns="0" bIns="0" rtlCol="0" anchor="t"/>
          <a:lstStyle/>
          <a:p>
            <a:pPr algn="ctr" indent="0" marL="0">
              <a:buNone/>
            </a:pPr>
            <a:r>
              <a:rPr lang="en-US" sz="1300" dirty="0">
                <a:solidFill>
                  <a:schemeClr val="tx2"/>
                </a:solidFill>
              </a:rPr>
              <a:t>10 services; a down one is named</a:t>
            </a:r>
            <a:endParaRPr lang="en-US" sz="1300" dirty="0"/>
          </a:p>
        </p:txBody>
      </p:sp>
      <p:sp>
        <p:nvSpPr>
          <p:cNvPr id="9" name="link-166"/>
          <p:cNvSpPr/>
          <p:nvPr/>
        </p:nvSpPr>
        <p:spPr>
          <a:xfrm>
            <a:off x="4466844" y="2148840"/>
            <a:ext cx="1042416" cy="0"/>
          </a:xfrm>
          <a:prstGeom prst="line">
            <a:avLst/>
          </a:prstGeom>
          <a:noFill/>
          <a:ln w="19050">
            <a:solidFill>
              <a:srgbClr val="4A5870"/>
            </a:solidFill>
            <a:prstDash val="solid"/>
          </a:ln>
        </p:spPr>
      </p:sp>
      <p:sp>
        <p:nvSpPr>
          <p:cNvPr id="10" name="node-167"/>
          <p:cNvSpPr/>
          <p:nvPr/>
        </p:nvSpPr>
        <p:spPr>
          <a:xfrm>
            <a:off x="5454396" y="2093976"/>
            <a:ext cx="109728" cy="109728"/>
          </a:xfrm>
          <a:prstGeom prst="ellipse">
            <a:avLst/>
          </a:prstGeom>
          <a:solidFill>
            <a:srgbClr val="026FD7"/>
          </a:solidFill>
          <a:ln/>
        </p:spPr>
      </p:sp>
      <p:sp>
        <p:nvSpPr>
          <p:cNvPr id="11" name="node-168"/>
          <p:cNvSpPr/>
          <p:nvPr/>
        </p:nvSpPr>
        <p:spPr>
          <a:xfrm>
            <a:off x="3396996" y="1668780"/>
            <a:ext cx="960120" cy="960120"/>
          </a:xfrm>
          <a:prstGeom prst="ellipse">
            <a:avLst/>
          </a:prstGeom>
          <a:solidFill>
            <a:schemeClr val="tx1"/>
          </a:solidFill>
          <a:ln/>
        </p:spPr>
      </p:sp>
      <p:pic>
        <p:nvPicPr>
          <p:cNvPr id="12" name="icon-169" descr="preencoded.png">    </p:cNvPr>
          <p:cNvPicPr>
            <a:picLocks noChangeAspect="1"/>
          </p:cNvPicPr>
          <p:nvPr/>
        </p:nvPicPr>
        <p:blipFill>
          <a:blip r:embed="rId2"/>
          <a:stretch>
            <a:fillRect/>
          </a:stretch>
        </p:blipFill>
        <p:spPr>
          <a:xfrm>
            <a:off x="3637026" y="1908810"/>
            <a:ext cx="480060" cy="480060"/>
          </a:xfrm>
          <a:prstGeom prst="rect">
            <a:avLst/>
          </a:prstGeom>
        </p:spPr>
      </p:pic>
      <p:sp>
        <p:nvSpPr>
          <p:cNvPr id="13" name="text-170"/>
          <p:cNvSpPr txBox="1"/>
          <p:nvPr/>
        </p:nvSpPr>
        <p:spPr>
          <a:xfrm>
            <a:off x="2825496" y="2788920"/>
            <a:ext cx="2103120" cy="365760"/>
          </a:xfrm>
          <a:prstGeom prst="rect">
            <a:avLst/>
          </a:prstGeom>
          <a:noFill/>
          <a:ln/>
        </p:spPr>
        <p:txBody>
          <a:bodyPr wrap="square" lIns="0" tIns="0" rIns="0" bIns="0" rtlCol="0" anchor="ctr"/>
          <a:lstStyle/>
          <a:p>
            <a:pPr algn="ctr" indent="0" marL="0">
              <a:buNone/>
            </a:pPr>
            <a:r>
              <a:rPr lang="en-US" sz="1700" b="1" dirty="0">
                <a:solidFill>
                  <a:schemeClr val="tx1"/>
                </a:solidFill>
              </a:rPr>
              <a:t>Sign in</a:t>
            </a:r>
            <a:endParaRPr lang="en-US" sz="1700" dirty="0"/>
          </a:p>
        </p:txBody>
      </p:sp>
      <p:sp>
        <p:nvSpPr>
          <p:cNvPr id="14" name="text-171"/>
          <p:cNvSpPr txBox="1"/>
          <p:nvPr/>
        </p:nvSpPr>
        <p:spPr>
          <a:xfrm>
            <a:off x="2825496" y="3154680"/>
            <a:ext cx="2103120" cy="502920"/>
          </a:xfrm>
          <a:prstGeom prst="rect">
            <a:avLst/>
          </a:prstGeom>
          <a:noFill/>
          <a:ln/>
        </p:spPr>
        <p:txBody>
          <a:bodyPr wrap="square" lIns="0" tIns="0" rIns="0" bIns="0" rtlCol="0" anchor="t"/>
          <a:lstStyle/>
          <a:p>
            <a:pPr algn="ctr" indent="0" marL="0">
              <a:buNone/>
            </a:pPr>
            <a:r>
              <a:rPr lang="en-US" sz="1300" dirty="0">
                <a:solidFill>
                  <a:schemeClr val="tx2"/>
                </a:solidFill>
              </a:rPr>
              <a:t>each user, once</a:t>
            </a:r>
            <a:endParaRPr lang="en-US" sz="1300" dirty="0"/>
          </a:p>
        </p:txBody>
      </p:sp>
      <p:sp>
        <p:nvSpPr>
          <p:cNvPr id="15" name="link-172"/>
          <p:cNvSpPr/>
          <p:nvPr/>
        </p:nvSpPr>
        <p:spPr>
          <a:xfrm>
            <a:off x="6688836" y="2148840"/>
            <a:ext cx="1033272" cy="0"/>
          </a:xfrm>
          <a:prstGeom prst="line">
            <a:avLst/>
          </a:prstGeom>
          <a:noFill/>
          <a:ln w="19050">
            <a:solidFill>
              <a:srgbClr val="4A5870"/>
            </a:solidFill>
            <a:prstDash val="solid"/>
          </a:ln>
        </p:spPr>
      </p:sp>
      <p:sp>
        <p:nvSpPr>
          <p:cNvPr id="16" name="node-173"/>
          <p:cNvSpPr/>
          <p:nvPr/>
        </p:nvSpPr>
        <p:spPr>
          <a:xfrm>
            <a:off x="7667244" y="2093976"/>
            <a:ext cx="109728" cy="109728"/>
          </a:xfrm>
          <a:prstGeom prst="ellipse">
            <a:avLst/>
          </a:prstGeom>
          <a:solidFill>
            <a:srgbClr val="026FD7"/>
          </a:solidFill>
          <a:ln/>
        </p:spPr>
      </p:sp>
      <p:sp>
        <p:nvSpPr>
          <p:cNvPr id="17" name="node-174"/>
          <p:cNvSpPr/>
          <p:nvPr/>
        </p:nvSpPr>
        <p:spPr>
          <a:xfrm>
            <a:off x="5618988" y="1668780"/>
            <a:ext cx="960120" cy="960120"/>
          </a:xfrm>
          <a:prstGeom prst="ellipse">
            <a:avLst/>
          </a:prstGeom>
          <a:solidFill>
            <a:schemeClr val="tx1"/>
          </a:solidFill>
          <a:ln/>
        </p:spPr>
      </p:sp>
      <p:pic>
        <p:nvPicPr>
          <p:cNvPr id="18" name="icon-175" descr="preencoded.png">    </p:cNvPr>
          <p:cNvPicPr>
            <a:picLocks noChangeAspect="1"/>
          </p:cNvPicPr>
          <p:nvPr/>
        </p:nvPicPr>
        <p:blipFill>
          <a:blip r:embed="rId3"/>
          <a:stretch>
            <a:fillRect/>
          </a:stretch>
        </p:blipFill>
        <p:spPr>
          <a:xfrm>
            <a:off x="5859018" y="1908810"/>
            <a:ext cx="480060" cy="480060"/>
          </a:xfrm>
          <a:prstGeom prst="rect">
            <a:avLst/>
          </a:prstGeom>
        </p:spPr>
      </p:pic>
      <p:sp>
        <p:nvSpPr>
          <p:cNvPr id="19" name="text-176"/>
          <p:cNvSpPr txBox="1"/>
          <p:nvPr/>
        </p:nvSpPr>
        <p:spPr>
          <a:xfrm>
            <a:off x="5047488" y="2788920"/>
            <a:ext cx="2103120" cy="365760"/>
          </a:xfrm>
          <a:prstGeom prst="rect">
            <a:avLst/>
          </a:prstGeom>
          <a:noFill/>
          <a:ln/>
        </p:spPr>
        <p:txBody>
          <a:bodyPr wrap="square" lIns="0" tIns="0" rIns="0" bIns="0" rtlCol="0" anchor="ctr"/>
          <a:lstStyle/>
          <a:p>
            <a:pPr algn="ctr" indent="0" marL="0">
              <a:buNone/>
            </a:pPr>
            <a:r>
              <a:rPr lang="en-US" sz="1700" b="1" dirty="0">
                <a:solidFill>
                  <a:schemeClr val="tx1"/>
                </a:solidFill>
              </a:rPr>
              <a:t>Own project</a:t>
            </a:r>
            <a:endParaRPr lang="en-US" sz="1700" dirty="0"/>
          </a:p>
        </p:txBody>
      </p:sp>
      <p:sp>
        <p:nvSpPr>
          <p:cNvPr id="20" name="text-177"/>
          <p:cNvSpPr txBox="1"/>
          <p:nvPr/>
        </p:nvSpPr>
        <p:spPr>
          <a:xfrm>
            <a:off x="5047488" y="3154680"/>
            <a:ext cx="2103120" cy="502920"/>
          </a:xfrm>
          <a:prstGeom prst="rect">
            <a:avLst/>
          </a:prstGeom>
          <a:noFill/>
          <a:ln/>
        </p:spPr>
        <p:txBody>
          <a:bodyPr wrap="square" lIns="0" tIns="0" rIns="0" bIns="0" rtlCol="0" anchor="t"/>
          <a:lstStyle/>
          <a:p>
            <a:pPr algn="ctr" indent="0" marL="0">
              <a:buNone/>
            </a:pPr>
            <a:r>
              <a:rPr lang="en-US" sz="1300" dirty="0">
                <a:solidFill>
                  <a:schemeClr val="tx2"/>
                </a:solidFill>
              </a:rPr>
              <a:t>2,000 credits moved in</a:t>
            </a:r>
            <a:endParaRPr lang="en-US" sz="1300" dirty="0"/>
          </a:p>
        </p:txBody>
      </p:sp>
      <p:sp>
        <p:nvSpPr>
          <p:cNvPr id="21" name="link-178"/>
          <p:cNvSpPr/>
          <p:nvPr/>
        </p:nvSpPr>
        <p:spPr>
          <a:xfrm>
            <a:off x="8901684" y="2148840"/>
            <a:ext cx="1042416" cy="0"/>
          </a:xfrm>
          <a:prstGeom prst="line">
            <a:avLst/>
          </a:prstGeom>
          <a:noFill/>
          <a:ln w="19050">
            <a:solidFill>
              <a:srgbClr val="4A5870"/>
            </a:solidFill>
            <a:prstDash val="solid"/>
          </a:ln>
        </p:spPr>
      </p:sp>
      <p:sp>
        <p:nvSpPr>
          <p:cNvPr id="22" name="node-179"/>
          <p:cNvSpPr/>
          <p:nvPr/>
        </p:nvSpPr>
        <p:spPr>
          <a:xfrm>
            <a:off x="9889236" y="2093976"/>
            <a:ext cx="109728" cy="109728"/>
          </a:xfrm>
          <a:prstGeom prst="ellipse">
            <a:avLst/>
          </a:prstGeom>
          <a:solidFill>
            <a:srgbClr val="026FD7"/>
          </a:solidFill>
          <a:ln/>
        </p:spPr>
      </p:sp>
      <p:sp>
        <p:nvSpPr>
          <p:cNvPr id="23" name="node-180"/>
          <p:cNvSpPr/>
          <p:nvPr/>
        </p:nvSpPr>
        <p:spPr>
          <a:xfrm>
            <a:off x="7831836" y="1668780"/>
            <a:ext cx="960120" cy="960120"/>
          </a:xfrm>
          <a:prstGeom prst="ellipse">
            <a:avLst/>
          </a:prstGeom>
          <a:solidFill>
            <a:schemeClr val="accent1"/>
          </a:solidFill>
          <a:ln/>
        </p:spPr>
      </p:sp>
      <p:pic>
        <p:nvPicPr>
          <p:cNvPr id="24" name="icon-181" descr="preencoded.png">    </p:cNvPr>
          <p:cNvPicPr>
            <a:picLocks noChangeAspect="1"/>
          </p:cNvPicPr>
          <p:nvPr/>
        </p:nvPicPr>
        <p:blipFill>
          <a:blip r:embed="rId4"/>
          <a:stretch>
            <a:fillRect/>
          </a:stretch>
        </p:blipFill>
        <p:spPr>
          <a:xfrm>
            <a:off x="8071866" y="1908810"/>
            <a:ext cx="480060" cy="480060"/>
          </a:xfrm>
          <a:prstGeom prst="rect">
            <a:avLst/>
          </a:prstGeom>
        </p:spPr>
      </p:pic>
      <p:sp>
        <p:nvSpPr>
          <p:cNvPr id="25" name="text-182"/>
          <p:cNvSpPr txBox="1"/>
          <p:nvPr/>
        </p:nvSpPr>
        <p:spPr>
          <a:xfrm>
            <a:off x="7260336" y="2788920"/>
            <a:ext cx="2103120" cy="365760"/>
          </a:xfrm>
          <a:prstGeom prst="rect">
            <a:avLst/>
          </a:prstGeom>
          <a:noFill/>
          <a:ln/>
        </p:spPr>
        <p:txBody>
          <a:bodyPr wrap="square" lIns="0" tIns="0" rIns="0" bIns="0" rtlCol="0" anchor="ctr"/>
          <a:lstStyle/>
          <a:p>
            <a:pPr algn="ctr" indent="0" marL="0">
              <a:buNone/>
            </a:pPr>
            <a:r>
              <a:rPr lang="en-US" sz="1700" b="1" dirty="0">
                <a:solidFill>
                  <a:schemeClr val="tx1"/>
                </a:solidFill>
              </a:rPr>
              <a:t>Run the tests</a:t>
            </a:r>
            <a:endParaRPr lang="en-US" sz="1700" dirty="0"/>
          </a:p>
        </p:txBody>
      </p:sp>
      <p:sp>
        <p:nvSpPr>
          <p:cNvPr id="26" name="text-183"/>
          <p:cNvSpPr txBox="1"/>
          <p:nvPr/>
        </p:nvSpPr>
        <p:spPr>
          <a:xfrm>
            <a:off x="7260336" y="3154680"/>
            <a:ext cx="2103120" cy="502920"/>
          </a:xfrm>
          <a:prstGeom prst="rect">
            <a:avLst/>
          </a:prstGeom>
          <a:noFill/>
          <a:ln/>
        </p:spPr>
        <p:txBody>
          <a:bodyPr wrap="square" lIns="0" tIns="0" rIns="0" bIns="0" rtlCol="0" anchor="t"/>
          <a:lstStyle/>
          <a:p>
            <a:pPr algn="ctr" indent="0" marL="0">
              <a:buNone/>
            </a:pPr>
            <a:r>
              <a:rPr lang="en-US" sz="1300" dirty="0">
                <a:solidFill>
                  <a:schemeClr val="tx2"/>
                </a:solidFill>
              </a:rPr>
              <a:t>regular or slow suite</a:t>
            </a:r>
            <a:endParaRPr lang="en-US" sz="1300" dirty="0"/>
          </a:p>
        </p:txBody>
      </p:sp>
      <p:sp>
        <p:nvSpPr>
          <p:cNvPr id="27" name="node-184"/>
          <p:cNvSpPr/>
          <p:nvPr/>
        </p:nvSpPr>
        <p:spPr>
          <a:xfrm>
            <a:off x="10053828" y="1668780"/>
            <a:ext cx="960120" cy="960120"/>
          </a:xfrm>
          <a:prstGeom prst="ellipse">
            <a:avLst/>
          </a:prstGeom>
          <a:solidFill>
            <a:schemeClr val="tx1"/>
          </a:solidFill>
          <a:ln/>
        </p:spPr>
      </p:sp>
      <p:pic>
        <p:nvPicPr>
          <p:cNvPr id="28" name="icon-185" descr="preencoded.png">    </p:cNvPr>
          <p:cNvPicPr>
            <a:picLocks noChangeAspect="1"/>
          </p:cNvPicPr>
          <p:nvPr/>
        </p:nvPicPr>
        <p:blipFill>
          <a:blip r:embed="rId5"/>
          <a:stretch>
            <a:fillRect/>
          </a:stretch>
        </p:blipFill>
        <p:spPr>
          <a:xfrm>
            <a:off x="10293858" y="1908810"/>
            <a:ext cx="480060" cy="480060"/>
          </a:xfrm>
          <a:prstGeom prst="rect">
            <a:avLst/>
          </a:prstGeom>
        </p:spPr>
      </p:pic>
      <p:sp>
        <p:nvSpPr>
          <p:cNvPr id="29" name="text-186"/>
          <p:cNvSpPr txBox="1"/>
          <p:nvPr/>
        </p:nvSpPr>
        <p:spPr>
          <a:xfrm>
            <a:off x="9482328" y="2788920"/>
            <a:ext cx="2103120" cy="365760"/>
          </a:xfrm>
          <a:prstGeom prst="rect">
            <a:avLst/>
          </a:prstGeom>
          <a:noFill/>
          <a:ln/>
        </p:spPr>
        <p:txBody>
          <a:bodyPr wrap="square" lIns="0" tIns="0" rIns="0" bIns="0" rtlCol="0" anchor="ctr"/>
          <a:lstStyle/>
          <a:p>
            <a:pPr algn="ctr" indent="0" marL="0">
              <a:buNone/>
            </a:pPr>
            <a:r>
              <a:rPr lang="en-US" sz="1700" b="1" dirty="0">
                <a:solidFill>
                  <a:schemeClr val="tx1"/>
                </a:solidFill>
              </a:rPr>
              <a:t>Clean up</a:t>
            </a:r>
            <a:endParaRPr lang="en-US" sz="1700" dirty="0"/>
          </a:p>
        </p:txBody>
      </p:sp>
      <p:sp>
        <p:nvSpPr>
          <p:cNvPr id="30" name="text-187"/>
          <p:cNvSpPr txBox="1"/>
          <p:nvPr/>
        </p:nvSpPr>
        <p:spPr>
          <a:xfrm>
            <a:off x="9482328" y="3154680"/>
            <a:ext cx="2103120" cy="502920"/>
          </a:xfrm>
          <a:prstGeom prst="rect">
            <a:avLst/>
          </a:prstGeom>
          <a:noFill/>
          <a:ln/>
        </p:spPr>
        <p:txBody>
          <a:bodyPr wrap="square" lIns="0" tIns="0" rIns="0" bIns="0" rtlCol="0" anchor="t"/>
          <a:lstStyle/>
          <a:p>
            <a:pPr algn="ctr" indent="0" marL="0">
              <a:buNone/>
            </a:pPr>
            <a:r>
              <a:rPr lang="en-US" sz="1300" dirty="0">
                <a:solidFill>
                  <a:schemeClr val="tx2"/>
                </a:solidFill>
              </a:rPr>
              <a:t>credits back, project deleted</a:t>
            </a:r>
            <a:endParaRPr lang="en-US" sz="1300" dirty="0"/>
          </a:p>
        </p:txBody>
      </p:sp>
      <p:sp>
        <p:nvSpPr>
          <p:cNvPr id="31" name="text-188"/>
          <p:cNvSpPr txBox="1"/>
          <p:nvPr/>
        </p:nvSpPr>
        <p:spPr>
          <a:xfrm>
            <a:off x="548640" y="4160520"/>
            <a:ext cx="54864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RESULTS LAND IN</a:t>
            </a:r>
            <a:endParaRPr lang="en-US" sz="1200" dirty="0"/>
          </a:p>
        </p:txBody>
      </p:sp>
      <p:sp>
        <p:nvSpPr>
          <p:cNvPr id="32" name="card-189"/>
          <p:cNvSpPr/>
          <p:nvPr/>
        </p:nvSpPr>
        <p:spPr>
          <a:xfrm>
            <a:off x="548640" y="4526280"/>
            <a:ext cx="3575304" cy="1234440"/>
          </a:xfrm>
          <a:prstGeom prst="roundRect">
            <a:avLst>
              <a:gd name="adj" fmla="val 7407"/>
            </a:avLst>
          </a:prstGeom>
          <a:solidFill>
            <a:schemeClr val="bg2"/>
          </a:solidFill>
          <a:ln/>
        </p:spPr>
      </p:sp>
      <p:sp>
        <p:nvSpPr>
          <p:cNvPr id="33" name="node-190"/>
          <p:cNvSpPr/>
          <p:nvPr/>
        </p:nvSpPr>
        <p:spPr>
          <a:xfrm>
            <a:off x="795528" y="4841748"/>
            <a:ext cx="603504" cy="603504"/>
          </a:xfrm>
          <a:prstGeom prst="ellipse">
            <a:avLst/>
          </a:prstGeom>
          <a:solidFill>
            <a:schemeClr val="accent1"/>
          </a:solidFill>
          <a:ln/>
        </p:spPr>
      </p:sp>
      <p:pic>
        <p:nvPicPr>
          <p:cNvPr id="34" name="icon-191" descr="preencoded.png">    </p:cNvPr>
          <p:cNvPicPr>
            <a:picLocks noChangeAspect="1"/>
          </p:cNvPicPr>
          <p:nvPr/>
        </p:nvPicPr>
        <p:blipFill>
          <a:blip r:embed="rId6"/>
          <a:stretch>
            <a:fillRect/>
          </a:stretch>
        </p:blipFill>
        <p:spPr>
          <a:xfrm>
            <a:off x="946404" y="4992624"/>
            <a:ext cx="301752" cy="301752"/>
          </a:xfrm>
          <a:prstGeom prst="rect">
            <a:avLst/>
          </a:prstGeom>
        </p:spPr>
      </p:pic>
      <p:sp>
        <p:nvSpPr>
          <p:cNvPr id="35" name="text-192"/>
          <p:cNvSpPr txBox="1"/>
          <p:nvPr/>
        </p:nvSpPr>
        <p:spPr>
          <a:xfrm>
            <a:off x="1572768" y="4736592"/>
            <a:ext cx="2423160" cy="347472"/>
          </a:xfrm>
          <a:prstGeom prst="rect">
            <a:avLst/>
          </a:prstGeom>
          <a:noFill/>
          <a:ln/>
        </p:spPr>
        <p:txBody>
          <a:bodyPr wrap="square" lIns="0" tIns="0" rIns="0" bIns="0" rtlCol="0" anchor="ctr"/>
          <a:lstStyle/>
          <a:p>
            <a:pPr indent="0" marL="0">
              <a:buNone/>
            </a:pPr>
            <a:r>
              <a:rPr lang="en-US" sz="1700" b="1" dirty="0">
                <a:solidFill>
                  <a:schemeClr val="tx1"/>
                </a:solidFill>
              </a:rPr>
              <a:t>Teams</a:t>
            </a:r>
            <a:endParaRPr lang="en-US" sz="1700" dirty="0"/>
          </a:p>
        </p:txBody>
      </p:sp>
      <p:sp>
        <p:nvSpPr>
          <p:cNvPr id="36" name="text-193"/>
          <p:cNvSpPr txBox="1"/>
          <p:nvPr/>
        </p:nvSpPr>
        <p:spPr>
          <a:xfrm>
            <a:off x="1572768" y="5084064"/>
            <a:ext cx="2423160" cy="502920"/>
          </a:xfrm>
          <a:prstGeom prst="rect">
            <a:avLst/>
          </a:prstGeom>
          <a:noFill/>
          <a:ln/>
        </p:spPr>
        <p:txBody>
          <a:bodyPr wrap="square" lIns="0" tIns="0" rIns="0" bIns="0" rtlCol="0" anchor="t"/>
          <a:lstStyle/>
          <a:p>
            <a:pPr indent="0" marL="0">
              <a:buNone/>
            </a:pPr>
            <a:r>
              <a:rPr lang="en-US" sz="1300" dirty="0">
                <a:solidFill>
                  <a:schemeClr val="tx2"/>
                </a:solidFill>
              </a:rPr>
              <a:t>one thread per run, a card per area</a:t>
            </a:r>
            <a:endParaRPr lang="en-US" sz="1300" dirty="0"/>
          </a:p>
        </p:txBody>
      </p:sp>
      <p:sp>
        <p:nvSpPr>
          <p:cNvPr id="37" name="card-194"/>
          <p:cNvSpPr/>
          <p:nvPr/>
        </p:nvSpPr>
        <p:spPr>
          <a:xfrm>
            <a:off x="4306824" y="4526280"/>
            <a:ext cx="3575304" cy="1234440"/>
          </a:xfrm>
          <a:prstGeom prst="roundRect">
            <a:avLst>
              <a:gd name="adj" fmla="val 7407"/>
            </a:avLst>
          </a:prstGeom>
          <a:solidFill>
            <a:schemeClr val="bg2"/>
          </a:solidFill>
          <a:ln/>
        </p:spPr>
      </p:sp>
      <p:sp>
        <p:nvSpPr>
          <p:cNvPr id="38" name="node-195"/>
          <p:cNvSpPr/>
          <p:nvPr/>
        </p:nvSpPr>
        <p:spPr>
          <a:xfrm>
            <a:off x="4553712" y="4841748"/>
            <a:ext cx="603504" cy="603504"/>
          </a:xfrm>
          <a:prstGeom prst="ellipse">
            <a:avLst/>
          </a:prstGeom>
          <a:solidFill>
            <a:schemeClr val="accent1"/>
          </a:solidFill>
          <a:ln/>
        </p:spPr>
      </p:sp>
      <p:pic>
        <p:nvPicPr>
          <p:cNvPr id="39" name="icon-196" descr="preencoded.png">    </p:cNvPr>
          <p:cNvPicPr>
            <a:picLocks noChangeAspect="1"/>
          </p:cNvPicPr>
          <p:nvPr/>
        </p:nvPicPr>
        <p:blipFill>
          <a:blip r:embed="rId7"/>
          <a:stretch>
            <a:fillRect/>
          </a:stretch>
        </p:blipFill>
        <p:spPr>
          <a:xfrm>
            <a:off x="4704588" y="4992624"/>
            <a:ext cx="301752" cy="301752"/>
          </a:xfrm>
          <a:prstGeom prst="rect">
            <a:avLst/>
          </a:prstGeom>
        </p:spPr>
      </p:pic>
      <p:sp>
        <p:nvSpPr>
          <p:cNvPr id="40" name="text-197"/>
          <p:cNvSpPr txBox="1"/>
          <p:nvPr/>
        </p:nvSpPr>
        <p:spPr>
          <a:xfrm>
            <a:off x="5330952" y="4736592"/>
            <a:ext cx="2423160" cy="347472"/>
          </a:xfrm>
          <a:prstGeom prst="rect">
            <a:avLst/>
          </a:prstGeom>
          <a:noFill/>
          <a:ln/>
        </p:spPr>
        <p:txBody>
          <a:bodyPr wrap="square" lIns="0" tIns="0" rIns="0" bIns="0" rtlCol="0" anchor="ctr"/>
          <a:lstStyle/>
          <a:p>
            <a:pPr indent="0" marL="0">
              <a:buNone/>
            </a:pPr>
            <a:r>
              <a:rPr lang="en-US" sz="1700" b="1" dirty="0">
                <a:solidFill>
                  <a:schemeClr val="tx1"/>
                </a:solidFill>
              </a:rPr>
              <a:t>Dashboard</a:t>
            </a:r>
            <a:endParaRPr lang="en-US" sz="1700" dirty="0"/>
          </a:p>
        </p:txBody>
      </p:sp>
      <p:sp>
        <p:nvSpPr>
          <p:cNvPr id="41" name="text-198"/>
          <p:cNvSpPr txBox="1"/>
          <p:nvPr/>
        </p:nvSpPr>
        <p:spPr>
          <a:xfrm>
            <a:off x="5330952" y="5084064"/>
            <a:ext cx="2423160" cy="502920"/>
          </a:xfrm>
          <a:prstGeom prst="rect">
            <a:avLst/>
          </a:prstGeom>
          <a:noFill/>
          <a:ln/>
        </p:spPr>
        <p:txBody>
          <a:bodyPr wrap="square" lIns="0" tIns="0" rIns="0" bIns="0" rtlCol="0" anchor="t"/>
          <a:lstStyle/>
          <a:p>
            <a:pPr indent="0" marL="0">
              <a:buNone/>
            </a:pPr>
            <a:r>
              <a:rPr lang="en-US" sz="1300" dirty="0">
                <a:solidFill>
                  <a:schemeClr val="tx2"/>
                </a:solidFill>
              </a:rPr>
              <a:t>GitHub Pages, five days of reports</a:t>
            </a:r>
            <a:endParaRPr lang="en-US" sz="1300" dirty="0"/>
          </a:p>
        </p:txBody>
      </p:sp>
      <p:sp>
        <p:nvSpPr>
          <p:cNvPr id="42" name="card-199"/>
          <p:cNvSpPr/>
          <p:nvPr/>
        </p:nvSpPr>
        <p:spPr>
          <a:xfrm>
            <a:off x="8065008" y="4526280"/>
            <a:ext cx="3575304" cy="1234440"/>
          </a:xfrm>
          <a:prstGeom prst="roundRect">
            <a:avLst>
              <a:gd name="adj" fmla="val 7407"/>
            </a:avLst>
          </a:prstGeom>
          <a:solidFill>
            <a:schemeClr val="bg2"/>
          </a:solidFill>
          <a:ln/>
        </p:spPr>
      </p:sp>
      <p:sp>
        <p:nvSpPr>
          <p:cNvPr id="43" name="node-200"/>
          <p:cNvSpPr/>
          <p:nvPr/>
        </p:nvSpPr>
        <p:spPr>
          <a:xfrm>
            <a:off x="8311896" y="4841748"/>
            <a:ext cx="603504" cy="603504"/>
          </a:xfrm>
          <a:prstGeom prst="ellipse">
            <a:avLst/>
          </a:prstGeom>
          <a:solidFill>
            <a:schemeClr val="accent1"/>
          </a:solidFill>
          <a:ln/>
        </p:spPr>
      </p:sp>
      <p:pic>
        <p:nvPicPr>
          <p:cNvPr id="44" name="icon-201" descr="preencoded.png">    </p:cNvPr>
          <p:cNvPicPr>
            <a:picLocks noChangeAspect="1"/>
          </p:cNvPicPr>
          <p:nvPr/>
        </p:nvPicPr>
        <p:blipFill>
          <a:blip r:embed="rId8"/>
          <a:stretch>
            <a:fillRect/>
          </a:stretch>
        </p:blipFill>
        <p:spPr>
          <a:xfrm>
            <a:off x="8462772" y="4992624"/>
            <a:ext cx="301752" cy="301752"/>
          </a:xfrm>
          <a:prstGeom prst="rect">
            <a:avLst/>
          </a:prstGeom>
        </p:spPr>
      </p:pic>
      <p:sp>
        <p:nvSpPr>
          <p:cNvPr id="45" name="text-202"/>
          <p:cNvSpPr txBox="1"/>
          <p:nvPr/>
        </p:nvSpPr>
        <p:spPr>
          <a:xfrm>
            <a:off x="9089136" y="4736592"/>
            <a:ext cx="2423160" cy="347472"/>
          </a:xfrm>
          <a:prstGeom prst="rect">
            <a:avLst/>
          </a:prstGeom>
          <a:noFill/>
          <a:ln/>
        </p:spPr>
        <p:txBody>
          <a:bodyPr wrap="square" lIns="0" tIns="0" rIns="0" bIns="0" rtlCol="0" anchor="ctr"/>
          <a:lstStyle/>
          <a:p>
            <a:pPr indent="0" marL="0">
              <a:buNone/>
            </a:pPr>
            <a:r>
              <a:rPr lang="en-US" sz="1700" b="1" dirty="0">
                <a:solidFill>
                  <a:schemeClr val="tx1"/>
                </a:solidFill>
              </a:rPr>
              <a:t>Full report</a:t>
            </a:r>
            <a:endParaRPr lang="en-US" sz="1700" dirty="0"/>
          </a:p>
        </p:txBody>
      </p:sp>
      <p:sp>
        <p:nvSpPr>
          <p:cNvPr id="46" name="text-203"/>
          <p:cNvSpPr txBox="1"/>
          <p:nvPr/>
        </p:nvSpPr>
        <p:spPr>
          <a:xfrm>
            <a:off x="9089136" y="5084064"/>
            <a:ext cx="2423160" cy="502920"/>
          </a:xfrm>
          <a:prstGeom prst="rect">
            <a:avLst/>
          </a:prstGeom>
          <a:noFill/>
          <a:ln/>
        </p:spPr>
        <p:txBody>
          <a:bodyPr wrap="square" lIns="0" tIns="0" rIns="0" bIns="0" rtlCol="0" anchor="t"/>
          <a:lstStyle/>
          <a:p>
            <a:pPr indent="0" marL="0">
              <a:buNone/>
            </a:pPr>
            <a:r>
              <a:rPr lang="en-US" sz="1300" dirty="0">
                <a:solidFill>
                  <a:schemeClr val="tx2"/>
                </a:solidFill>
              </a:rPr>
              <a:t>every test, trace and screenshot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Set up once: make setup</a:t>
            </a:r>
            <a:endParaRPr lang="en-US" sz="3400" dirty="0"/>
          </a:p>
        </p:txBody>
      </p:sp>
      <p:sp>
        <p:nvSpPr>
          <p:cNvPr id="3" name="card-204"/>
          <p:cNvSpPr/>
          <p:nvPr/>
        </p:nvSpPr>
        <p:spPr>
          <a:xfrm>
            <a:off x="548640" y="1325880"/>
            <a:ext cx="7269480" cy="4434840"/>
          </a:xfrm>
          <a:prstGeom prst="roundRect">
            <a:avLst>
              <a:gd name="adj" fmla="val 2887"/>
            </a:avLst>
          </a:prstGeom>
          <a:solidFill>
            <a:schemeClr val="tx1"/>
          </a:solidFill>
          <a:ln/>
        </p:spPr>
      </p:sp>
      <p:sp>
        <p:nvSpPr>
          <p:cNvPr id="4" name="node-205"/>
          <p:cNvSpPr/>
          <p:nvPr/>
        </p:nvSpPr>
        <p:spPr>
          <a:xfrm>
            <a:off x="804672" y="1517904"/>
            <a:ext cx="118872" cy="118872"/>
          </a:xfrm>
          <a:prstGeom prst="ellipse">
            <a:avLst/>
          </a:prstGeom>
          <a:solidFill>
            <a:srgbClr val="3A4A63"/>
          </a:solidFill>
          <a:ln/>
        </p:spPr>
      </p:sp>
      <p:sp>
        <p:nvSpPr>
          <p:cNvPr id="5" name="node-206"/>
          <p:cNvSpPr/>
          <p:nvPr/>
        </p:nvSpPr>
        <p:spPr>
          <a:xfrm>
            <a:off x="1005840" y="1517904"/>
            <a:ext cx="118872" cy="118872"/>
          </a:xfrm>
          <a:prstGeom prst="ellipse">
            <a:avLst/>
          </a:prstGeom>
          <a:solidFill>
            <a:srgbClr val="3A4A63"/>
          </a:solidFill>
          <a:ln/>
        </p:spPr>
      </p:sp>
      <p:sp>
        <p:nvSpPr>
          <p:cNvPr id="6" name="node-207"/>
          <p:cNvSpPr/>
          <p:nvPr/>
        </p:nvSpPr>
        <p:spPr>
          <a:xfrm>
            <a:off x="1207008" y="1517904"/>
            <a:ext cx="118872" cy="118872"/>
          </a:xfrm>
          <a:prstGeom prst="ellipse">
            <a:avLst/>
          </a:prstGeom>
          <a:solidFill>
            <a:srgbClr val="3A4A63"/>
          </a:solidFill>
          <a:ln/>
        </p:spPr>
      </p:sp>
      <p:sp>
        <p:nvSpPr>
          <p:cNvPr id="7" name="text-208"/>
          <p:cNvSpPr txBox="1"/>
          <p:nvPr/>
        </p:nvSpPr>
        <p:spPr>
          <a:xfrm>
            <a:off x="868680" y="1828800"/>
            <a:ext cx="6766560" cy="3794760"/>
          </a:xfrm>
          <a:prstGeom prst="rect">
            <a:avLst/>
          </a:prstGeom>
          <a:noFill/>
          <a:ln/>
        </p:spPr>
        <p:txBody>
          <a:bodyPr wrap="square" lIns="0" tIns="0" rIns="0" bIns="0" rtlCol="0" anchor="t"/>
          <a:lstStyle/>
          <a:p>
            <a:pPr indent="0" marL="0">
              <a:spcAft>
                <a:spcPts val="200"/>
              </a:spcAft>
              <a:buNone/>
            </a:pPr>
            <a:r>
              <a:rPr lang="en-US" sz="1600" dirty="0">
                <a:solidFill>
                  <a:srgbClr val="A9B7CC"/>
                </a:solidFill>
                <a:latin typeface="Menlo" pitchFamily="34" charset="0"/>
                <a:ea typeface="Menlo" pitchFamily="34" charset="-122"/>
                <a:cs typeface="Menlo" pitchFamily="34" charset="-120"/>
              </a:rPr>
              <a:t># 1 · the repository</a:t>
            </a:r>
            <a:endParaRPr lang="en-US" sz="1600" dirty="0"/>
          </a:p>
          <a:p>
            <a:pPr indent="0" marL="0">
              <a:spcAft>
                <a:spcPts val="2000"/>
              </a:spcAft>
              <a:buNone/>
            </a:pPr>
            <a:r>
              <a:rPr lang="en-US" sz="1600" b="1" dirty="0">
                <a:solidFill>
                  <a:srgbClr val="5CC8FF"/>
                </a:solidFill>
                <a:latin typeface="Menlo" pitchFamily="34" charset="0"/>
                <a:ea typeface="Menlo" pitchFamily="34" charset="-122"/>
                <a:cs typeface="Menlo" pitchFamily="34" charset="-120"/>
              </a:rPr>
              <a:t>$ </a:t>
            </a:r>
            <a:pPr indent="0" marL="0">
              <a:spcAft>
                <a:spcPts val="2000"/>
              </a:spcAft>
              <a:buNone/>
            </a:pPr>
            <a:r>
              <a:rPr lang="en-US" sz="1600" dirty="0">
                <a:solidFill>
                  <a:srgbClr val="FFFFFF"/>
                </a:solidFill>
                <a:latin typeface="Menlo" pitchFamily="34" charset="0"/>
                <a:ea typeface="Menlo" pitchFamily="34" charset="-122"/>
                <a:cs typeface="Menlo" pitchFamily="34" charset="-120"/>
              </a:rPr>
              <a:t>git clone git@github.com:openbraininstitute/obi-e2e</a:t>
            </a:r>
            <a:endParaRPr lang="en-US" sz="1600" dirty="0"/>
          </a:p>
          <a:p>
            <a:pPr indent="0" marL="0">
              <a:spcAft>
                <a:spcPts val="2000"/>
              </a:spcAft>
              <a:buNone/>
            </a:pPr>
            <a:r>
              <a:rPr lang="en-US" sz="1600" b="1" dirty="0">
                <a:solidFill>
                  <a:srgbClr val="5CC8FF"/>
                </a:solidFill>
                <a:latin typeface="Menlo" pitchFamily="34" charset="0"/>
                <a:ea typeface="Menlo" pitchFamily="34" charset="-122"/>
                <a:cs typeface="Menlo" pitchFamily="34" charset="-120"/>
              </a:rPr>
              <a:t>$ </a:t>
            </a:r>
            <a:pPr indent="0" marL="0">
              <a:spcAft>
                <a:spcPts val="2000"/>
              </a:spcAft>
              <a:buNone/>
            </a:pPr>
            <a:r>
              <a:rPr lang="en-US" sz="1600" dirty="0">
                <a:solidFill>
                  <a:srgbClr val="FFFFFF"/>
                </a:solidFill>
                <a:latin typeface="Menlo" pitchFamily="34" charset="0"/>
                <a:ea typeface="Menlo" pitchFamily="34" charset="-122"/>
                <a:cs typeface="Menlo" pitchFamily="34" charset="-120"/>
              </a:rPr>
              <a:t>cd obi-e2e</a:t>
            </a:r>
            <a:endParaRPr lang="en-US" sz="1600" dirty="0"/>
          </a:p>
          <a:p>
            <a:pPr indent="0" marL="0">
              <a:spcAft>
                <a:spcPts val="200"/>
              </a:spcAft>
              <a:buNone/>
            </a:pPr>
            <a:r>
              <a:rPr lang="en-US" sz="1600" dirty="0">
                <a:solidFill>
                  <a:srgbClr val="A9B7CC"/>
                </a:solidFill>
                <a:latin typeface="Menlo" pitchFamily="34" charset="0"/>
                <a:ea typeface="Menlo" pitchFamily="34" charset="-122"/>
                <a:cs typeface="Menlo" pitchFamily="34" charset="-120"/>
              </a:rPr>
              <a:t># 2 · everything else, in one command</a:t>
            </a:r>
            <a:endParaRPr lang="en-US" sz="1600" dirty="0"/>
          </a:p>
          <a:p>
            <a:pPr indent="0" marL="0">
              <a:spcAft>
                <a:spcPts val="2000"/>
              </a:spcAft>
              <a:buNone/>
            </a:pPr>
            <a:r>
              <a:rPr lang="en-US" sz="1600" b="1" dirty="0">
                <a:solidFill>
                  <a:srgbClr val="5CC8FF"/>
                </a:solidFill>
                <a:latin typeface="Menlo" pitchFamily="34" charset="0"/>
                <a:ea typeface="Menlo" pitchFamily="34" charset="-122"/>
                <a:cs typeface="Menlo" pitchFamily="34" charset="-120"/>
              </a:rPr>
              <a:t>$ </a:t>
            </a:r>
            <a:pPr indent="0" marL="0">
              <a:spcAft>
                <a:spcPts val="2000"/>
              </a:spcAft>
              <a:buNone/>
            </a:pPr>
            <a:r>
              <a:rPr lang="en-US" sz="1600" dirty="0">
                <a:solidFill>
                  <a:srgbClr val="FFFFFF"/>
                </a:solidFill>
                <a:latin typeface="Menlo" pitchFamily="34" charset="0"/>
                <a:ea typeface="Menlo" pitchFamily="34" charset="-122"/>
                <a:cs typeface="Menlo" pitchFamily="34" charset="-120"/>
              </a:rPr>
              <a:t>make setup</a:t>
            </a:r>
            <a:endParaRPr lang="en-US" sz="1600" dirty="0"/>
          </a:p>
          <a:p>
            <a:pPr indent="0" marL="0">
              <a:spcAft>
                <a:spcPts val="200"/>
              </a:spcAft>
              <a:buNone/>
            </a:pPr>
            <a:r>
              <a:rPr lang="en-US" sz="1600" dirty="0">
                <a:solidFill>
                  <a:srgbClr val="A9B7CC"/>
                </a:solidFill>
                <a:latin typeface="Menlo" pitchFamily="34" charset="0"/>
                <a:ea typeface="Menlo" pitchFamily="34" charset="-122"/>
                <a:cs typeface="Menlo" pitchFamily="34" charset="-120"/>
              </a:rPr>
              <a:t># 3 · fill in .env.staging.local, then check</a:t>
            </a:r>
            <a:endParaRPr lang="en-US" sz="1600" dirty="0"/>
          </a:p>
          <a:p>
            <a:pPr indent="0" marL="0">
              <a:spcAft>
                <a:spcPts val="2000"/>
              </a:spcAft>
              <a:buNone/>
            </a:pPr>
            <a:r>
              <a:rPr lang="en-US" sz="1600" b="1" dirty="0">
                <a:solidFill>
                  <a:srgbClr val="5CC8FF"/>
                </a:solidFill>
                <a:latin typeface="Menlo" pitchFamily="34" charset="0"/>
                <a:ea typeface="Menlo" pitchFamily="34" charset="-122"/>
                <a:cs typeface="Menlo" pitchFamily="34" charset="-120"/>
              </a:rPr>
              <a:t>$ </a:t>
            </a:r>
            <a:pPr indent="0" marL="0">
              <a:spcAft>
                <a:spcPts val="2000"/>
              </a:spcAft>
              <a:buNone/>
            </a:pPr>
            <a:r>
              <a:rPr lang="en-US" sz="1600" dirty="0">
                <a:solidFill>
                  <a:srgbClr val="FFFFFF"/>
                </a:solidFill>
                <a:latin typeface="Menlo" pitchFamily="34" charset="0"/>
                <a:ea typeface="Menlo" pitchFamily="34" charset="-122"/>
                <a:cs typeface="Menlo" pitchFamily="34" charset="-120"/>
              </a:rPr>
              <a:t>make auth</a:t>
            </a:r>
            <a:endParaRPr lang="en-US" sz="1600" dirty="0"/>
          </a:p>
          <a:p>
            <a:pPr indent="0" marL="0">
              <a:spcAft>
                <a:spcPts val="2000"/>
              </a:spcAft>
              <a:buNone/>
            </a:pPr>
            <a:r>
              <a:rPr lang="en-US" sz="1600" b="1" dirty="0">
                <a:solidFill>
                  <a:srgbClr val="5CC8FF"/>
                </a:solidFill>
                <a:latin typeface="Menlo" pitchFamily="34" charset="0"/>
                <a:ea typeface="Menlo" pitchFamily="34" charset="-122"/>
                <a:cs typeface="Menlo" pitchFamily="34" charset="-120"/>
              </a:rPr>
              <a:t>$ </a:t>
            </a:r>
            <a:pPr indent="0" marL="0">
              <a:spcAft>
                <a:spcPts val="2000"/>
              </a:spcAft>
              <a:buNone/>
            </a:pPr>
            <a:r>
              <a:rPr lang="en-US" sz="1600" dirty="0">
                <a:solidFill>
                  <a:srgbClr val="FFFFFF"/>
                </a:solidFill>
                <a:latin typeface="Menlo" pitchFamily="34" charset="0"/>
                <a:ea typeface="Menlo" pitchFamily="34" charset="-122"/>
                <a:cs typeface="Menlo" pitchFamily="34" charset="-120"/>
              </a:rPr>
              <a:t>make test scenarios/site</a:t>
            </a:r>
            <a:endParaRPr lang="en-US" sz="1600" dirty="0"/>
          </a:p>
        </p:txBody>
      </p:sp>
      <p:sp>
        <p:nvSpPr>
          <p:cNvPr id="8" name="node-209"/>
          <p:cNvSpPr/>
          <p:nvPr/>
        </p:nvSpPr>
        <p:spPr>
          <a:xfrm>
            <a:off x="8138160" y="1417320"/>
            <a:ext cx="548640" cy="548640"/>
          </a:xfrm>
          <a:prstGeom prst="ellipse">
            <a:avLst/>
          </a:prstGeom>
          <a:solidFill>
            <a:schemeClr val="accent1"/>
          </a:solidFill>
          <a:ln/>
        </p:spPr>
      </p:sp>
      <p:pic>
        <p:nvPicPr>
          <p:cNvPr id="9" name="icon-210" descr="preencoded.png">    </p:cNvPr>
          <p:cNvPicPr>
            <a:picLocks noChangeAspect="1"/>
          </p:cNvPicPr>
          <p:nvPr/>
        </p:nvPicPr>
        <p:blipFill>
          <a:blip r:embed="rId1"/>
          <a:stretch>
            <a:fillRect/>
          </a:stretch>
        </p:blipFill>
        <p:spPr>
          <a:xfrm>
            <a:off x="8275320" y="1554480"/>
            <a:ext cx="274320" cy="274320"/>
          </a:xfrm>
          <a:prstGeom prst="rect">
            <a:avLst/>
          </a:prstGeom>
        </p:spPr>
      </p:pic>
      <p:sp>
        <p:nvSpPr>
          <p:cNvPr id="10" name="text-211"/>
          <p:cNvSpPr txBox="1"/>
          <p:nvPr/>
        </p:nvSpPr>
        <p:spPr>
          <a:xfrm>
            <a:off x="8869680" y="1417320"/>
            <a:ext cx="2770632" cy="365760"/>
          </a:xfrm>
          <a:prstGeom prst="rect">
            <a:avLst/>
          </a:prstGeom>
          <a:noFill/>
          <a:ln/>
        </p:spPr>
        <p:txBody>
          <a:bodyPr wrap="square" lIns="0" tIns="0" rIns="0" bIns="0" rtlCol="0" anchor="ctr"/>
          <a:lstStyle/>
          <a:p>
            <a:pPr indent="0" marL="0">
              <a:buNone/>
            </a:pPr>
            <a:r>
              <a:rPr lang="en-US" sz="1700" b="1" dirty="0">
                <a:solidFill>
                  <a:schemeClr val="tx1"/>
                </a:solidFill>
              </a:rPr>
              <a:t>You need</a:t>
            </a:r>
            <a:endParaRPr lang="en-US" sz="1700" dirty="0"/>
          </a:p>
        </p:txBody>
      </p:sp>
      <p:sp>
        <p:nvSpPr>
          <p:cNvPr id="11" name="text-212"/>
          <p:cNvSpPr txBox="1"/>
          <p:nvPr/>
        </p:nvSpPr>
        <p:spPr>
          <a:xfrm>
            <a:off x="8869680" y="1801368"/>
            <a:ext cx="2770632" cy="868680"/>
          </a:xfrm>
          <a:prstGeom prst="rect">
            <a:avLst/>
          </a:prstGeom>
          <a:noFill/>
          <a:ln/>
        </p:spPr>
        <p:txBody>
          <a:bodyPr wrap="square" lIns="0" tIns="0" rIns="0" bIns="0" rtlCol="0" anchor="t"/>
          <a:lstStyle/>
          <a:p>
            <a:pPr indent="0" marL="0">
              <a:buNone/>
            </a:pPr>
            <a:r>
              <a:rPr lang="en-US" sz="1400" dirty="0">
                <a:solidFill>
                  <a:schemeClr val="tx2"/>
                </a:solidFill>
              </a:rPr>
              <a:t>git and an AI agent: Claude Code, Codex, Cursor or Kiro</a:t>
            </a:r>
            <a:endParaRPr lang="en-US" sz="1400" dirty="0"/>
          </a:p>
        </p:txBody>
      </p:sp>
      <p:sp>
        <p:nvSpPr>
          <p:cNvPr id="12" name="node-213"/>
          <p:cNvSpPr/>
          <p:nvPr/>
        </p:nvSpPr>
        <p:spPr>
          <a:xfrm>
            <a:off x="8138160" y="2880360"/>
            <a:ext cx="548640" cy="548640"/>
          </a:xfrm>
          <a:prstGeom prst="ellipse">
            <a:avLst/>
          </a:prstGeom>
          <a:solidFill>
            <a:schemeClr val="accent1"/>
          </a:solidFill>
          <a:ln/>
        </p:spPr>
      </p:sp>
      <p:pic>
        <p:nvPicPr>
          <p:cNvPr id="13" name="icon-214" descr="preencoded.png">    </p:cNvPr>
          <p:cNvPicPr>
            <a:picLocks noChangeAspect="1"/>
          </p:cNvPicPr>
          <p:nvPr/>
        </p:nvPicPr>
        <p:blipFill>
          <a:blip r:embed="rId2"/>
          <a:stretch>
            <a:fillRect/>
          </a:stretch>
        </p:blipFill>
        <p:spPr>
          <a:xfrm>
            <a:off x="8275320" y="3017520"/>
            <a:ext cx="274320" cy="274320"/>
          </a:xfrm>
          <a:prstGeom prst="rect">
            <a:avLst/>
          </a:prstGeom>
        </p:spPr>
      </p:pic>
      <p:sp>
        <p:nvSpPr>
          <p:cNvPr id="14" name="text-215"/>
          <p:cNvSpPr txBox="1"/>
          <p:nvPr/>
        </p:nvSpPr>
        <p:spPr>
          <a:xfrm>
            <a:off x="8869680" y="2880360"/>
            <a:ext cx="2770632" cy="365760"/>
          </a:xfrm>
          <a:prstGeom prst="rect">
            <a:avLst/>
          </a:prstGeom>
          <a:noFill/>
          <a:ln/>
        </p:spPr>
        <p:txBody>
          <a:bodyPr wrap="square" lIns="0" tIns="0" rIns="0" bIns="0" rtlCol="0" anchor="ctr"/>
          <a:lstStyle/>
          <a:p>
            <a:pPr indent="0" marL="0">
              <a:buNone/>
            </a:pPr>
            <a:r>
              <a:rPr lang="en-US" sz="1700" b="1" dirty="0">
                <a:solidFill>
                  <a:schemeClr val="tx1"/>
                </a:solidFill>
              </a:rPr>
              <a:t>make setup installs</a:t>
            </a:r>
            <a:endParaRPr lang="en-US" sz="1700" dirty="0"/>
          </a:p>
        </p:txBody>
      </p:sp>
      <p:sp>
        <p:nvSpPr>
          <p:cNvPr id="15" name="text-216"/>
          <p:cNvSpPr txBox="1"/>
          <p:nvPr/>
        </p:nvSpPr>
        <p:spPr>
          <a:xfrm>
            <a:off x="8869680" y="3264408"/>
            <a:ext cx="2770632" cy="868680"/>
          </a:xfrm>
          <a:prstGeom prst="rect">
            <a:avLst/>
          </a:prstGeom>
          <a:noFill/>
          <a:ln/>
        </p:spPr>
        <p:txBody>
          <a:bodyPr wrap="square" lIns="0" tIns="0" rIns="0" bIns="0" rtlCol="0" anchor="t"/>
          <a:lstStyle/>
          <a:p>
            <a:pPr indent="0" marL="0">
              <a:buNone/>
            </a:pPr>
            <a:r>
              <a:rPr lang="en-US" sz="1400" dirty="0">
                <a:solidFill>
                  <a:schemeClr val="tx2"/>
                </a:solidFill>
              </a:rPr>
              <a:t>Bun, the packages, Chromium and the agent’s browser skill</a:t>
            </a:r>
            <a:endParaRPr lang="en-US" sz="1400" dirty="0"/>
          </a:p>
        </p:txBody>
      </p:sp>
      <p:sp>
        <p:nvSpPr>
          <p:cNvPr id="16" name="node-217"/>
          <p:cNvSpPr/>
          <p:nvPr/>
        </p:nvSpPr>
        <p:spPr>
          <a:xfrm>
            <a:off x="8138160" y="4343400"/>
            <a:ext cx="548640" cy="548640"/>
          </a:xfrm>
          <a:prstGeom prst="ellipse">
            <a:avLst/>
          </a:prstGeom>
          <a:solidFill>
            <a:schemeClr val="accent1"/>
          </a:solidFill>
          <a:ln/>
        </p:spPr>
      </p:sp>
      <p:pic>
        <p:nvPicPr>
          <p:cNvPr id="17" name="icon-218" descr="preencoded.png">    </p:cNvPr>
          <p:cNvPicPr>
            <a:picLocks noChangeAspect="1"/>
          </p:cNvPicPr>
          <p:nvPr/>
        </p:nvPicPr>
        <p:blipFill>
          <a:blip r:embed="rId3"/>
          <a:stretch>
            <a:fillRect/>
          </a:stretch>
        </p:blipFill>
        <p:spPr>
          <a:xfrm>
            <a:off x="8275320" y="4480560"/>
            <a:ext cx="274320" cy="274320"/>
          </a:xfrm>
          <a:prstGeom prst="rect">
            <a:avLst/>
          </a:prstGeom>
        </p:spPr>
      </p:pic>
      <p:sp>
        <p:nvSpPr>
          <p:cNvPr id="18" name="text-219"/>
          <p:cNvSpPr txBox="1"/>
          <p:nvPr/>
        </p:nvSpPr>
        <p:spPr>
          <a:xfrm>
            <a:off x="8869680" y="4343400"/>
            <a:ext cx="2770632" cy="365760"/>
          </a:xfrm>
          <a:prstGeom prst="rect">
            <a:avLst/>
          </a:prstGeom>
          <a:noFill/>
          <a:ln/>
        </p:spPr>
        <p:txBody>
          <a:bodyPr wrap="square" lIns="0" tIns="0" rIns="0" bIns="0" rtlCol="0" anchor="ctr"/>
          <a:lstStyle/>
          <a:p>
            <a:pPr indent="0" marL="0">
              <a:buNone/>
            </a:pPr>
            <a:r>
              <a:rPr lang="en-US" sz="1700" b="1" dirty="0">
                <a:solidFill>
                  <a:schemeClr val="tx1"/>
                </a:solidFill>
              </a:rPr>
              <a:t>Ask for</a:t>
            </a:r>
            <a:endParaRPr lang="en-US" sz="1700" dirty="0"/>
          </a:p>
        </p:txBody>
      </p:sp>
      <p:sp>
        <p:nvSpPr>
          <p:cNvPr id="19" name="text-220"/>
          <p:cNvSpPr txBox="1"/>
          <p:nvPr/>
        </p:nvSpPr>
        <p:spPr>
          <a:xfrm>
            <a:off x="8869680" y="4727448"/>
            <a:ext cx="2770632" cy="868680"/>
          </a:xfrm>
          <a:prstGeom prst="rect">
            <a:avLst/>
          </a:prstGeom>
          <a:noFill/>
          <a:ln/>
        </p:spPr>
        <p:txBody>
          <a:bodyPr wrap="square" lIns="0" tIns="0" rIns="0" bIns="0" rtlCol="0" anchor="t"/>
          <a:lstStyle/>
          <a:p>
            <a:pPr indent="0" marL="0">
              <a:buNone/>
            </a:pPr>
            <a:r>
              <a:rPr lang="en-US" sz="1400" dirty="0">
                <a:solidFill>
                  <a:schemeClr val="tx2"/>
                </a:solidFill>
              </a:rPr>
              <a:t>the QA user and LAB_ID, for .env.staging.local</a:t>
            </a:r>
            <a:endParaRPr lang="en-US" sz="14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 test is a short English file</a:t>
            </a:r>
            <a:endParaRPr lang="en-US" sz="3400" dirty="0"/>
          </a:p>
        </p:txBody>
      </p:sp>
      <p:sp>
        <p:nvSpPr>
          <p:cNvPr id="3" name="card-221"/>
          <p:cNvSpPr/>
          <p:nvPr/>
        </p:nvSpPr>
        <p:spPr>
          <a:xfrm>
            <a:off x="548640" y="1325880"/>
            <a:ext cx="6172200" cy="4754880"/>
          </a:xfrm>
          <a:prstGeom prst="roundRect">
            <a:avLst>
              <a:gd name="adj" fmla="val 2308"/>
            </a:avLst>
          </a:prstGeom>
          <a:solidFill>
            <a:schemeClr val="bg1"/>
          </a:solidFill>
          <a:ln w="12700">
            <a:solidFill>
              <a:srgbClr val="D5DCE6"/>
            </a:solidFill>
            <a:prstDash val="solid"/>
          </a:ln>
          <a:effectLst>
            <a:outerShdw sx="100000" sy="100000" kx="0" ky="0" algn="bl" rotWithShape="0" blurRad="127000" dist="38100" dir="5400000">
              <a:srgbClr val="0B1A2E">
                <a:alpha val="12000"/>
              </a:srgbClr>
            </a:outerShdw>
          </a:effectLst>
        </p:spPr>
      </p:sp>
      <p:sp>
        <p:nvSpPr>
          <p:cNvPr id="4" name="text-222"/>
          <p:cNvSpPr txBox="1"/>
          <p:nvPr/>
        </p:nvSpPr>
        <p:spPr>
          <a:xfrm>
            <a:off x="868680" y="1508760"/>
            <a:ext cx="566928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scenarios/data/cell-morphology/browse/scenario.md</a:t>
            </a:r>
            <a:endParaRPr lang="en-US" sz="1100" dirty="0"/>
          </a:p>
        </p:txBody>
      </p:sp>
      <p:sp>
        <p:nvSpPr>
          <p:cNvPr id="5" name="text-223"/>
          <p:cNvSpPr txBox="1"/>
          <p:nvPr/>
        </p:nvSpPr>
        <p:spPr>
          <a:xfrm>
            <a:off x="868680" y="1920240"/>
            <a:ext cx="5669280" cy="3977640"/>
          </a:xfrm>
          <a:prstGeom prst="rect">
            <a:avLst/>
          </a:prstGeom>
          <a:noFill/>
          <a:ln/>
        </p:spPr>
        <p:txBody>
          <a:bodyPr wrap="square" lIns="0" tIns="0" rIns="0" bIns="0" rtlCol="0" anchor="t"/>
          <a:lstStyle/>
          <a:p>
            <a:pPr indent="0" marL="0">
              <a:buNone/>
            </a:pPr>
            <a:r>
              <a:rPr lang="en-US" sz="1500" b="1" dirty="0">
                <a:solidFill>
                  <a:srgbClr val="0B1A2E"/>
                </a:solidFill>
                <a:latin typeface="Menlo" pitchFamily="34" charset="0"/>
                <a:ea typeface="Menlo" pitchFamily="34" charset="-122"/>
                <a:cs typeface="Menlo" pitchFamily="34" charset="-120"/>
              </a:rPr>
              <a:t># Morphology</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a:t>
            </a:r>
            <a:endParaRPr lang="en-US" sz="1500" dirty="0"/>
          </a:p>
          <a:p>
            <a:pPr indent="0" marL="0">
              <a:buNone/>
            </a:pPr>
            <a:r>
              <a:rPr lang="en-US" sz="1500" b="1" dirty="0">
                <a:solidFill>
                  <a:srgbClr val="026FD7"/>
                </a:solidFill>
                <a:latin typeface="Menlo" pitchFamily="34" charset="0"/>
                <a:ea typeface="Menlo" pitchFamily="34" charset="-122"/>
                <a:cs typeface="Menlo" pitchFamily="34" charset="-120"/>
              </a:rPr>
              <a:t>User:</a:t>
            </a:r>
            <a:pPr indent="0" marL="0">
              <a:buNone/>
            </a:pPr>
            <a:r>
              <a:rPr lang="en-US" sz="1500" dirty="0">
                <a:solidFill>
                  <a:srgbClr val="0B1A2E"/>
                </a:solidFill>
                <a:latin typeface="Menlo" pitchFamily="34" charset="0"/>
                <a:ea typeface="Menlo" pitchFamily="34" charset="-122"/>
                <a:cs typeface="Menlo" pitchFamily="34" charset="-120"/>
              </a:rPr>
              <a:t> authenticated</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a:t>
            </a:r>
            <a:endParaRPr lang="en-US" sz="1500" dirty="0"/>
          </a:p>
          <a:p>
            <a:pPr indent="0" marL="0">
              <a:buNone/>
            </a:pPr>
            <a:r>
              <a:rPr lang="en-US" sz="1500" b="1" dirty="0">
                <a:solidFill>
                  <a:srgbClr val="0B1A2E"/>
                </a:solidFill>
                <a:latin typeface="Menlo" pitchFamily="34" charset="0"/>
                <a:ea typeface="Menlo" pitchFamily="34" charset="-122"/>
                <a:cs typeface="Menlo" pitchFamily="34" charset="-120"/>
              </a:rPr>
              <a:t>## Search the Morphology listing</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a:t>
            </a:r>
            <a:endParaRPr lang="en-US" sz="1500" dirty="0"/>
          </a:p>
          <a:p>
            <a:pPr indent="0" marL="0">
              <a:buNone/>
            </a:pPr>
            <a:r>
              <a:rPr lang="en-US" sz="1500" b="1" dirty="0">
                <a:solidFill>
                  <a:srgbClr val="026FD7"/>
                </a:solidFill>
                <a:latin typeface="Menlo" pitchFamily="34" charset="0"/>
                <a:ea typeface="Menlo" pitchFamily="34" charset="-122"/>
                <a:cs typeface="Menlo" pitchFamily="34" charset="-120"/>
              </a:rPr>
              <a:t>Precondition:</a:t>
            </a:r>
            <a:pPr indent="0" marL="0">
              <a:buNone/>
            </a:pP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1. On the Morphology listing</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a:t>
            </a:r>
            <a:endParaRPr lang="en-US" sz="1500" dirty="0"/>
          </a:p>
          <a:p>
            <a:pPr indent="0" marL="0">
              <a:buNone/>
            </a:pPr>
            <a:r>
              <a:rPr lang="en-US" sz="1500" b="1" dirty="0">
                <a:solidFill>
                  <a:srgbClr val="026FD7"/>
                </a:solidFill>
                <a:latin typeface="Menlo" pitchFamily="34" charset="0"/>
                <a:ea typeface="Menlo" pitchFamily="34" charset="-122"/>
                <a:cs typeface="Menlo" pitchFamily="34" charset="-120"/>
              </a:rPr>
              <a:t>Steps:</a:t>
            </a:r>
            <a:pPr indent="0" marL="0">
              <a:buNone/>
            </a:pP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1. Search for something no entity matches</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a:t>
            </a:r>
            <a:endParaRPr lang="en-US" sz="1500" dirty="0"/>
          </a:p>
          <a:p>
            <a:pPr indent="0" marL="0">
              <a:buNone/>
            </a:pPr>
            <a:r>
              <a:rPr lang="en-US" sz="1500" b="1" dirty="0">
                <a:solidFill>
                  <a:srgbClr val="026FD7"/>
                </a:solidFill>
                <a:latin typeface="Menlo" pitchFamily="34" charset="0"/>
                <a:ea typeface="Menlo" pitchFamily="34" charset="-122"/>
                <a:cs typeface="Menlo" pitchFamily="34" charset="-120"/>
              </a:rPr>
              <a:t>Expected:</a:t>
            </a:r>
            <a:pPr indent="0" marL="0">
              <a:buNone/>
            </a:pP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No results are showing</a:t>
            </a:r>
            <a:endParaRPr lang="en-US" sz="1500" dirty="0"/>
          </a:p>
          <a:p>
            <a:pPr indent="0" marL="0">
              <a:buNone/>
            </a:pPr>
            <a:r>
              <a:rPr lang="en-US" sz="1500" dirty="0">
                <a:solidFill>
                  <a:srgbClr val="0B1A2E"/>
                </a:solidFill>
                <a:latin typeface="Menlo" pitchFamily="34" charset="0"/>
                <a:ea typeface="Menlo" pitchFamily="34" charset="-122"/>
                <a:cs typeface="Menlo" pitchFamily="34" charset="-120"/>
              </a:rPr>
              <a:t>- Clearing the search brings them all back</a:t>
            </a:r>
            <a:endParaRPr lang="en-US" sz="1500" dirty="0"/>
          </a:p>
        </p:txBody>
      </p:sp>
      <p:sp>
        <p:nvSpPr>
          <p:cNvPr id="6" name="text-224"/>
          <p:cNvSpPr txBox="1"/>
          <p:nvPr/>
        </p:nvSpPr>
        <p:spPr>
          <a:xfrm>
            <a:off x="7132320" y="1463040"/>
            <a:ext cx="1783080" cy="365760"/>
          </a:xfrm>
          <a:prstGeom prst="rect">
            <a:avLst/>
          </a:prstGeom>
          <a:noFill/>
          <a:ln/>
        </p:spPr>
        <p:txBody>
          <a:bodyPr wrap="square" lIns="0" tIns="0" rIns="0" bIns="0" rtlCol="0" anchor="ctr"/>
          <a:lstStyle/>
          <a:p>
            <a:pPr indent="0" marL="0">
              <a:buNone/>
            </a:pPr>
            <a:r>
              <a:rPr lang="en-US" sz="1600" b="1" dirty="0">
                <a:solidFill>
                  <a:schemeClr val="accent1"/>
                </a:solidFill>
                <a:latin typeface="Menlo" pitchFamily="34" charset="0"/>
                <a:ea typeface="Menlo" pitchFamily="34" charset="-122"/>
                <a:cs typeface="Menlo" pitchFamily="34" charset="-120"/>
              </a:rPr>
              <a:t>User:</a:t>
            </a:r>
            <a:endParaRPr lang="en-US" sz="1600" dirty="0"/>
          </a:p>
        </p:txBody>
      </p:sp>
      <p:sp>
        <p:nvSpPr>
          <p:cNvPr id="7" name="text-225"/>
          <p:cNvSpPr txBox="1"/>
          <p:nvPr/>
        </p:nvSpPr>
        <p:spPr>
          <a:xfrm>
            <a:off x="8961120" y="1463040"/>
            <a:ext cx="2679192" cy="365760"/>
          </a:xfrm>
          <a:prstGeom prst="rect">
            <a:avLst/>
          </a:prstGeom>
          <a:noFill/>
          <a:ln/>
        </p:spPr>
        <p:txBody>
          <a:bodyPr wrap="square" lIns="0" tIns="0" rIns="0" bIns="0" rtlCol="0" anchor="ctr"/>
          <a:lstStyle/>
          <a:p>
            <a:pPr indent="0" marL="0">
              <a:buNone/>
            </a:pPr>
            <a:r>
              <a:rPr lang="en-US" sz="1700" b="1" dirty="0">
                <a:solidFill>
                  <a:schemeClr val="tx1"/>
                </a:solidFill>
              </a:rPr>
              <a:t>Who is signed in</a:t>
            </a:r>
            <a:endParaRPr lang="en-US" sz="1700" dirty="0"/>
          </a:p>
        </p:txBody>
      </p:sp>
      <p:sp>
        <p:nvSpPr>
          <p:cNvPr id="8" name="text-226"/>
          <p:cNvSpPr txBox="1"/>
          <p:nvPr/>
        </p:nvSpPr>
        <p:spPr>
          <a:xfrm>
            <a:off x="8961120" y="1828800"/>
            <a:ext cx="2679192" cy="457200"/>
          </a:xfrm>
          <a:prstGeom prst="rect">
            <a:avLst/>
          </a:prstGeom>
          <a:noFill/>
          <a:ln/>
        </p:spPr>
        <p:txBody>
          <a:bodyPr wrap="square" lIns="0" tIns="0" rIns="0" bIns="0" rtlCol="0" anchor="t"/>
          <a:lstStyle/>
          <a:p>
            <a:pPr indent="0" marL="0">
              <a:buNone/>
            </a:pPr>
            <a:r>
              <a:rPr lang="en-US" sz="1300" dirty="0">
                <a:solidFill>
                  <a:schemeClr val="tx2"/>
                </a:solidFill>
              </a:rPr>
              <a:t>visitor, authenticated, credits or onboarding</a:t>
            </a:r>
            <a:endParaRPr lang="en-US" sz="1300" dirty="0"/>
          </a:p>
        </p:txBody>
      </p:sp>
      <p:sp>
        <p:nvSpPr>
          <p:cNvPr id="9" name="text-227"/>
          <p:cNvSpPr txBox="1"/>
          <p:nvPr/>
        </p:nvSpPr>
        <p:spPr>
          <a:xfrm>
            <a:off x="7132320" y="2359152"/>
            <a:ext cx="1783080" cy="365760"/>
          </a:xfrm>
          <a:prstGeom prst="rect">
            <a:avLst/>
          </a:prstGeom>
          <a:noFill/>
          <a:ln/>
        </p:spPr>
        <p:txBody>
          <a:bodyPr wrap="square" lIns="0" tIns="0" rIns="0" bIns="0" rtlCol="0" anchor="ctr"/>
          <a:lstStyle/>
          <a:p>
            <a:pPr indent="0" marL="0">
              <a:buNone/>
            </a:pPr>
            <a:r>
              <a:rPr lang="en-US" sz="1600" b="1" dirty="0">
                <a:solidFill>
                  <a:schemeClr val="accent1"/>
                </a:solidFill>
                <a:latin typeface="Menlo" pitchFamily="34" charset="0"/>
                <a:ea typeface="Menlo" pitchFamily="34" charset="-122"/>
                <a:cs typeface="Menlo" pitchFamily="34" charset="-120"/>
              </a:rPr>
              <a:t>Precondition:</a:t>
            </a:r>
            <a:endParaRPr lang="en-US" sz="1600" dirty="0"/>
          </a:p>
        </p:txBody>
      </p:sp>
      <p:sp>
        <p:nvSpPr>
          <p:cNvPr id="10" name="text-228"/>
          <p:cNvSpPr txBox="1"/>
          <p:nvPr/>
        </p:nvSpPr>
        <p:spPr>
          <a:xfrm>
            <a:off x="8961120" y="2359152"/>
            <a:ext cx="2679192" cy="365760"/>
          </a:xfrm>
          <a:prstGeom prst="rect">
            <a:avLst/>
          </a:prstGeom>
          <a:noFill/>
          <a:ln/>
        </p:spPr>
        <p:txBody>
          <a:bodyPr wrap="square" lIns="0" tIns="0" rIns="0" bIns="0" rtlCol="0" anchor="ctr"/>
          <a:lstStyle/>
          <a:p>
            <a:pPr indent="0" marL="0">
              <a:buNone/>
            </a:pPr>
            <a:r>
              <a:rPr lang="en-US" sz="1700" b="1" dirty="0">
                <a:solidFill>
                  <a:schemeClr val="tx1"/>
                </a:solidFill>
              </a:rPr>
              <a:t>Where the test starts</a:t>
            </a:r>
            <a:endParaRPr lang="en-US" sz="1700" dirty="0"/>
          </a:p>
        </p:txBody>
      </p:sp>
      <p:sp>
        <p:nvSpPr>
          <p:cNvPr id="11" name="text-229"/>
          <p:cNvSpPr txBox="1"/>
          <p:nvPr/>
        </p:nvSpPr>
        <p:spPr>
          <a:xfrm>
            <a:off x="8961120" y="2724912"/>
            <a:ext cx="2679192" cy="457200"/>
          </a:xfrm>
          <a:prstGeom prst="rect">
            <a:avLst/>
          </a:prstGeom>
          <a:noFill/>
          <a:ln/>
        </p:spPr>
        <p:txBody>
          <a:bodyPr wrap="square" lIns="0" tIns="0" rIns="0" bIns="0" rtlCol="0" anchor="t"/>
          <a:lstStyle/>
          <a:p>
            <a:pPr indent="0" marL="0">
              <a:buNone/>
            </a:pPr>
            <a:r>
              <a:rPr lang="en-US" sz="1300" dirty="0">
                <a:solidFill>
                  <a:schemeClr val="tx2"/>
                </a:solidFill>
              </a:rPr>
              <a:t>what is already true before step 1, such as being on a page</a:t>
            </a:r>
            <a:endParaRPr lang="en-US" sz="1300" dirty="0"/>
          </a:p>
        </p:txBody>
      </p:sp>
      <p:sp>
        <p:nvSpPr>
          <p:cNvPr id="12" name="text-230"/>
          <p:cNvSpPr txBox="1"/>
          <p:nvPr/>
        </p:nvSpPr>
        <p:spPr>
          <a:xfrm>
            <a:off x="7132320" y="3255264"/>
            <a:ext cx="1783080" cy="365760"/>
          </a:xfrm>
          <a:prstGeom prst="rect">
            <a:avLst/>
          </a:prstGeom>
          <a:noFill/>
          <a:ln/>
        </p:spPr>
        <p:txBody>
          <a:bodyPr wrap="square" lIns="0" tIns="0" rIns="0" bIns="0" rtlCol="0" anchor="ctr"/>
          <a:lstStyle/>
          <a:p>
            <a:pPr indent="0" marL="0">
              <a:buNone/>
            </a:pPr>
            <a:r>
              <a:rPr lang="en-US" sz="1600" b="1" dirty="0">
                <a:solidFill>
                  <a:schemeClr val="accent1"/>
                </a:solidFill>
                <a:latin typeface="Menlo" pitchFamily="34" charset="0"/>
                <a:ea typeface="Menlo" pitchFamily="34" charset="-122"/>
                <a:cs typeface="Menlo" pitchFamily="34" charset="-120"/>
              </a:rPr>
              <a:t>Steps:</a:t>
            </a:r>
            <a:endParaRPr lang="en-US" sz="1600" dirty="0"/>
          </a:p>
        </p:txBody>
      </p:sp>
      <p:sp>
        <p:nvSpPr>
          <p:cNvPr id="13" name="text-231"/>
          <p:cNvSpPr txBox="1"/>
          <p:nvPr/>
        </p:nvSpPr>
        <p:spPr>
          <a:xfrm>
            <a:off x="8961120" y="3255264"/>
            <a:ext cx="2679192" cy="365760"/>
          </a:xfrm>
          <a:prstGeom prst="rect">
            <a:avLst/>
          </a:prstGeom>
          <a:noFill/>
          <a:ln/>
        </p:spPr>
        <p:txBody>
          <a:bodyPr wrap="square" lIns="0" tIns="0" rIns="0" bIns="0" rtlCol="0" anchor="ctr"/>
          <a:lstStyle/>
          <a:p>
            <a:pPr indent="0" marL="0">
              <a:buNone/>
            </a:pPr>
            <a:r>
              <a:rPr lang="en-US" sz="1700" b="1" dirty="0">
                <a:solidFill>
                  <a:schemeClr val="tx1"/>
                </a:solidFill>
              </a:rPr>
              <a:t>What the user does</a:t>
            </a:r>
            <a:endParaRPr lang="en-US" sz="1700" dirty="0"/>
          </a:p>
        </p:txBody>
      </p:sp>
      <p:sp>
        <p:nvSpPr>
          <p:cNvPr id="14" name="text-232"/>
          <p:cNvSpPr txBox="1"/>
          <p:nvPr/>
        </p:nvSpPr>
        <p:spPr>
          <a:xfrm>
            <a:off x="8961120" y="3621024"/>
            <a:ext cx="2679192" cy="457200"/>
          </a:xfrm>
          <a:prstGeom prst="rect">
            <a:avLst/>
          </a:prstGeom>
          <a:noFill/>
          <a:ln/>
        </p:spPr>
        <p:txBody>
          <a:bodyPr wrap="square" lIns="0" tIns="0" rIns="0" bIns="0" rtlCol="0" anchor="t"/>
          <a:lstStyle/>
          <a:p>
            <a:pPr indent="0" marL="0">
              <a:buNone/>
            </a:pPr>
            <a:r>
              <a:rPr lang="en-US" sz="1300" dirty="0">
                <a:solidFill>
                  <a:schemeClr val="tx2"/>
                </a:solidFill>
              </a:rPr>
              <a:t>numbered actions, in order: search, click, open</a:t>
            </a:r>
            <a:endParaRPr lang="en-US" sz="1300" dirty="0"/>
          </a:p>
        </p:txBody>
      </p:sp>
      <p:sp>
        <p:nvSpPr>
          <p:cNvPr id="15" name="text-233"/>
          <p:cNvSpPr txBox="1"/>
          <p:nvPr/>
        </p:nvSpPr>
        <p:spPr>
          <a:xfrm>
            <a:off x="7132320" y="4151376"/>
            <a:ext cx="1783080" cy="365760"/>
          </a:xfrm>
          <a:prstGeom prst="rect">
            <a:avLst/>
          </a:prstGeom>
          <a:noFill/>
          <a:ln/>
        </p:spPr>
        <p:txBody>
          <a:bodyPr wrap="square" lIns="0" tIns="0" rIns="0" bIns="0" rtlCol="0" anchor="ctr"/>
          <a:lstStyle/>
          <a:p>
            <a:pPr indent="0" marL="0">
              <a:buNone/>
            </a:pPr>
            <a:r>
              <a:rPr lang="en-US" sz="1600" b="1" dirty="0">
                <a:solidFill>
                  <a:schemeClr val="accent1"/>
                </a:solidFill>
                <a:latin typeface="Menlo" pitchFamily="34" charset="0"/>
                <a:ea typeface="Menlo" pitchFamily="34" charset="-122"/>
                <a:cs typeface="Menlo" pitchFamily="34" charset="-120"/>
              </a:rPr>
              <a:t>Expected:</a:t>
            </a:r>
            <a:endParaRPr lang="en-US" sz="1600" dirty="0"/>
          </a:p>
        </p:txBody>
      </p:sp>
      <p:sp>
        <p:nvSpPr>
          <p:cNvPr id="16" name="text-234"/>
          <p:cNvSpPr txBox="1"/>
          <p:nvPr/>
        </p:nvSpPr>
        <p:spPr>
          <a:xfrm>
            <a:off x="8961120" y="4151376"/>
            <a:ext cx="2679192" cy="365760"/>
          </a:xfrm>
          <a:prstGeom prst="rect">
            <a:avLst/>
          </a:prstGeom>
          <a:noFill/>
          <a:ln/>
        </p:spPr>
        <p:txBody>
          <a:bodyPr wrap="square" lIns="0" tIns="0" rIns="0" bIns="0" rtlCol="0" anchor="ctr"/>
          <a:lstStyle/>
          <a:p>
            <a:pPr indent="0" marL="0">
              <a:buNone/>
            </a:pPr>
            <a:r>
              <a:rPr lang="en-US" sz="1700" b="1" dirty="0">
                <a:solidFill>
                  <a:schemeClr val="tx1"/>
                </a:solidFill>
              </a:rPr>
              <a:t>What must be true after</a:t>
            </a:r>
            <a:endParaRPr lang="en-US" sz="1700" dirty="0"/>
          </a:p>
        </p:txBody>
      </p:sp>
      <p:sp>
        <p:nvSpPr>
          <p:cNvPr id="17" name="text-235"/>
          <p:cNvSpPr txBox="1"/>
          <p:nvPr/>
        </p:nvSpPr>
        <p:spPr>
          <a:xfrm>
            <a:off x="8961120" y="4517136"/>
            <a:ext cx="2679192" cy="457200"/>
          </a:xfrm>
          <a:prstGeom prst="rect">
            <a:avLst/>
          </a:prstGeom>
          <a:noFill/>
          <a:ln/>
        </p:spPr>
        <p:txBody>
          <a:bodyPr wrap="square" lIns="0" tIns="0" rIns="0" bIns="0" rtlCol="0" anchor="t"/>
          <a:lstStyle/>
          <a:p>
            <a:pPr indent="0" marL="0">
              <a:buNone/>
            </a:pPr>
            <a:r>
              <a:rPr lang="en-US" sz="1300" dirty="0">
                <a:solidFill>
                  <a:schemeClr val="tx2"/>
                </a:solidFill>
              </a:rPr>
              <a:t>one check per line; the only required part</a:t>
            </a:r>
            <a:endParaRPr lang="en-US" sz="1300" dirty="0"/>
          </a:p>
        </p:txBody>
      </p:sp>
      <p:sp>
        <p:nvSpPr>
          <p:cNvPr id="18" name="card-236"/>
          <p:cNvSpPr/>
          <p:nvPr/>
        </p:nvSpPr>
        <p:spPr>
          <a:xfrm>
            <a:off x="7132320" y="5120640"/>
            <a:ext cx="4507992" cy="960120"/>
          </a:xfrm>
          <a:prstGeom prst="roundRect">
            <a:avLst>
              <a:gd name="adj" fmla="val 9524"/>
            </a:avLst>
          </a:prstGeom>
          <a:solidFill>
            <a:schemeClr val="bg2"/>
          </a:solidFill>
          <a:ln/>
        </p:spPr>
      </p:sp>
      <p:sp>
        <p:nvSpPr>
          <p:cNvPr id="19" name="text-237"/>
          <p:cNvSpPr txBox="1"/>
          <p:nvPr/>
        </p:nvSpPr>
        <p:spPr>
          <a:xfrm>
            <a:off x="7360920" y="5193792"/>
            <a:ext cx="4114800" cy="822960"/>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"Quotes"</a:t>
            </a:r>
            <a:pPr indent="0" marL="0">
              <a:buNone/>
            </a:pPr>
            <a:r>
              <a:rPr lang="en-US" sz="1300" dirty="0">
                <a:solidFill>
                  <a:schemeClr val="tx1"/>
                </a:solidFill>
              </a:rPr>
              <a:t> = exact words on screen</a:t>
            </a:r>
            <a:endParaRPr lang="en-US" sz="1300" dirty="0"/>
          </a:p>
          <a:p>
            <a:pPr indent="0" marL="0">
              <a:buNone/>
            </a:pPr>
            <a:r>
              <a:rPr lang="en-US" sz="1300" b="1" dirty="0">
                <a:solidFill>
                  <a:schemeClr val="tx1"/>
                </a:solidFill>
              </a:rPr>
              <a:t>One line</a:t>
            </a:r>
            <a:pPr indent="0" marL="0">
              <a:buNone/>
            </a:pPr>
            <a:r>
              <a:rPr lang="en-US" sz="1300" dirty="0">
                <a:solidFill>
                  <a:schemeClr val="tx1"/>
                </a:solidFill>
              </a:rPr>
              <a:t> = one check</a:t>
            </a:r>
            <a:endParaRPr lang="en-US" sz="1300" dirty="0"/>
          </a:p>
          <a:p>
            <a:pPr indent="0" marL="0">
              <a:buNone/>
            </a:pPr>
            <a:r>
              <a:rPr lang="en-US" sz="1300" b="1" dirty="0">
                <a:solidFill>
                  <a:schemeClr val="tx1"/>
                </a:solidFill>
              </a:rPr>
              <a:t>Note</a:t>
            </a:r>
            <a:pPr indent="0" marL="0">
              <a:buNone/>
            </a:pPr>
            <a:r>
              <a:rPr lang="en-US" sz="1300" dirty="0">
                <a:solidFill>
                  <a:schemeClr val="tx1"/>
                </a:solidFill>
              </a:rPr>
              <a:t> it first, then compare </a:t>
            </a:r>
            <a:pPr indent="0" marL="0">
              <a:buNone/>
            </a:pPr>
            <a:r>
              <a:rPr lang="en-US" sz="1300" b="1" dirty="0">
                <a:solidFill>
                  <a:schemeClr val="tx1"/>
                </a:solidFill>
                <a:latin typeface="Menlo" pitchFamily="34" charset="0"/>
                <a:ea typeface="Menlo" pitchFamily="34" charset="-122"/>
                <a:cs typeface="Menlo" pitchFamily="34" charset="-120"/>
              </a:rPr>
              <a:t>"as noted"</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Workflows need a seed</a:t>
            </a:r>
            <a:endParaRPr lang="en-US" sz="3400" dirty="0"/>
          </a:p>
        </p:txBody>
      </p:sp>
      <p:sp>
        <p:nvSpPr>
          <p:cNvPr id="3" name="text-238"/>
          <p:cNvSpPr txBox="1"/>
          <p:nvPr/>
        </p:nvSpPr>
        <p:spPr>
          <a:xfrm>
            <a:off x="548640" y="1216152"/>
            <a:ext cx="10972800" cy="411480"/>
          </a:xfrm>
          <a:prstGeom prst="rect">
            <a:avLst/>
          </a:prstGeom>
          <a:noFill/>
          <a:ln/>
        </p:spPr>
        <p:txBody>
          <a:bodyPr wrap="square" lIns="0" tIns="0" rIns="0" bIns="0" rtlCol="0" anchor="ctr"/>
          <a:lstStyle/>
          <a:p>
            <a:pPr indent="0" marL="0">
              <a:buNone/>
            </a:pPr>
            <a:r>
              <a:rPr lang="en-US" sz="1800" dirty="0">
                <a:solidFill>
                  <a:schemeClr val="tx2"/>
                </a:solidFill>
              </a:rPr>
              <a:t>A workflow has a big form. The seed is the file that fills it in.</a:t>
            </a:r>
            <a:endParaRPr lang="en-US" sz="1800" dirty="0"/>
          </a:p>
        </p:txBody>
      </p:sp>
      <p:sp>
        <p:nvSpPr>
          <p:cNvPr id="4" name="card-239"/>
          <p:cNvSpPr/>
          <p:nvPr/>
        </p:nvSpPr>
        <p:spPr>
          <a:xfrm>
            <a:off x="548640" y="1783080"/>
            <a:ext cx="5760720" cy="4297680"/>
          </a:xfrm>
          <a:prstGeom prst="roundRect">
            <a:avLst>
              <a:gd name="adj" fmla="val 2553"/>
            </a:avLst>
          </a:prstGeom>
          <a:solidFill>
            <a:schemeClr val="bg1"/>
          </a:solidFill>
          <a:ln w="12700">
            <a:solidFill>
              <a:srgbClr val="D5DCE6"/>
            </a:solidFill>
            <a:prstDash val="solid"/>
          </a:ln>
          <a:effectLst>
            <a:outerShdw sx="100000" sy="100000" kx="0" ky="0" algn="bl" rotWithShape="0" blurRad="127000" dist="38100" dir="5400000">
              <a:srgbClr val="0B1A2E">
                <a:alpha val="12000"/>
              </a:srgbClr>
            </a:outerShdw>
          </a:effectLst>
        </p:spPr>
      </p:sp>
      <p:sp>
        <p:nvSpPr>
          <p:cNvPr id="5" name="text-240"/>
          <p:cNvSpPr txBox="1"/>
          <p:nvPr/>
        </p:nvSpPr>
        <p:spPr>
          <a:xfrm>
            <a:off x="868680" y="1965960"/>
            <a:ext cx="5212080" cy="274320"/>
          </a:xfrm>
          <a:prstGeom prst="rect">
            <a:avLst/>
          </a:prstGeom>
          <a:noFill/>
          <a:ln/>
        </p:spPr>
        <p:txBody>
          <a:bodyPr wrap="square" lIns="0" tIns="0" rIns="0" bIns="0" rtlCol="0" anchor="ctr"/>
          <a:lstStyle/>
          <a:p>
            <a:pPr indent="0" marL="0">
              <a:buNone/>
            </a:pPr>
            <a:r>
              <a:rPr lang="en-US" sz="1000" dirty="0">
                <a:solidFill>
                  <a:schemeClr val="tx2"/>
                </a:solidFill>
                <a:latin typeface="Menlo" pitchFamily="34" charset="0"/>
                <a:ea typeface="Menlo" pitchFamily="34" charset="-122"/>
                <a:cs typeface="Menlo" pitchFamily="34" charset="-120"/>
              </a:rPr>
              <a:t>scenarios/workflows/simulate-single-neuron/seed.json</a:t>
            </a:r>
            <a:endParaRPr lang="en-US" sz="1000" dirty="0"/>
          </a:p>
        </p:txBody>
      </p:sp>
      <p:sp>
        <p:nvSpPr>
          <p:cNvPr id="6" name="text-241"/>
          <p:cNvSpPr txBox="1"/>
          <p:nvPr/>
        </p:nvSpPr>
        <p:spPr>
          <a:xfrm>
            <a:off x="868680" y="2423160"/>
            <a:ext cx="5257800" cy="3383280"/>
          </a:xfrm>
          <a:prstGeom prst="rect">
            <a:avLst/>
          </a:prstGeom>
          <a:noFill/>
          <a:ln/>
        </p:spPr>
        <p:txBody>
          <a:bodyPr wrap="square" lIns="0" tIns="0" rIns="0" bIns="0" rtlCol="0" anchor="t"/>
          <a:lstStyle/>
          <a:p>
            <a:pPr indent="0" marL="0">
              <a:spcAft>
                <a:spcPts val="600"/>
              </a:spcAft>
              <a:buNone/>
            </a:pPr>
            <a:r>
              <a:rPr lang="en-US" sz="1200" dirty="0">
                <a:solidFill>
                  <a:srgbClr val="0B1A2E"/>
                </a:solidFill>
                <a:latin typeface="Menlo" pitchFamily="34" charset="0"/>
                <a:ea typeface="Menlo" pitchFamily="34" charset="-122"/>
                <a:cs typeface="Menlo" pitchFamily="34" charset="-120"/>
              </a:rPr>
              <a:t>{</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dirty="0">
                <a:solidFill>
                  <a:srgbClr val="0B1A2E"/>
                </a:solidFill>
                <a:latin typeface="Menlo" pitchFamily="34" charset="0"/>
                <a:ea typeface="Menlo" pitchFamily="34" charset="-122"/>
                <a:cs typeface="Menlo" pitchFamily="34" charset="-120"/>
              </a:rPr>
              <a:t>"name":</a:t>
            </a:r>
            <a:pPr indent="0" marL="0">
              <a:spcAft>
                <a:spcPts val="600"/>
              </a:spcAft>
              <a:buNone/>
            </a:pPr>
            <a:r>
              <a:rPr lang="en-US" sz="1200" dirty="0">
                <a:solidFill>
                  <a:srgbClr val="0B1A2E"/>
                </a:solidFill>
                <a:latin typeface="Menlo" pitchFamily="34" charset="0"/>
                <a:ea typeface="Menlo" pitchFamily="34" charset="-122"/>
                <a:cs typeface="Menlo" pitchFamily="34" charset="-120"/>
              </a:rPr>
              <a:t> "Single neuron simulation",</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b="1" dirty="0">
                <a:solidFill>
                  <a:srgbClr val="026FD7"/>
                </a:solidFill>
                <a:latin typeface="Menlo" pitchFamily="34" charset="0"/>
                <a:ea typeface="Menlo" pitchFamily="34" charset="-122"/>
                <a:cs typeface="Menlo" pitchFamily="34" charset="-120"/>
              </a:rPr>
              <a:t>"env":</a:t>
            </a:r>
            <a:pPr indent="0" marL="0">
              <a:spcAft>
                <a:spcPts val="600"/>
              </a:spcAft>
              <a:buNone/>
            </a:pPr>
            <a:r>
              <a:rPr lang="en-US" sz="1200" dirty="0">
                <a:solidFill>
                  <a:srgbClr val="0B1A2E"/>
                </a:solidFill>
                <a:latin typeface="Menlo" pitchFamily="34" charset="0"/>
                <a:ea typeface="Menlo" pitchFamily="34" charset="-122"/>
                <a:cs typeface="Menlo" pitchFamily="34" charset="-120"/>
              </a:rPr>
              <a:t> ["staging", "production"],</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dirty="0">
                <a:solidFill>
                  <a:srgbClr val="0B1A2E"/>
                </a:solidFill>
                <a:latin typeface="Menlo" pitchFamily="34" charset="0"/>
                <a:ea typeface="Menlo" pitchFamily="34" charset="-122"/>
                <a:cs typeface="Menlo" pitchFamily="34" charset="-120"/>
              </a:rPr>
              <a:t>"workflow":</a:t>
            </a:r>
            <a:pPr indent="0" marL="0">
              <a:spcAft>
                <a:spcPts val="600"/>
              </a:spcAft>
              <a:buNone/>
            </a:pPr>
            <a:r>
              <a:rPr lang="en-US" sz="1200" dirty="0">
                <a:solidFill>
                  <a:srgbClr val="0B1A2E"/>
                </a:solidFill>
                <a:latin typeface="Menlo" pitchFamily="34" charset="0"/>
                <a:ea typeface="Menlo" pitchFamily="34" charset="-122"/>
                <a:cs typeface="Menlo" pitchFamily="34" charset="-120"/>
              </a:rPr>
              <a:t> { </a:t>
            </a:r>
            <a:pPr indent="0" marL="0">
              <a:spcAft>
                <a:spcPts val="600"/>
              </a:spcAft>
              <a:buNone/>
            </a:pPr>
            <a:r>
              <a:rPr lang="en-US" sz="1200" dirty="0">
                <a:solidFill>
                  <a:srgbClr val="0B1A2E"/>
                </a:solidFill>
                <a:latin typeface="Menlo" pitchFamily="34" charset="0"/>
                <a:ea typeface="Menlo" pitchFamily="34" charset="-122"/>
                <a:cs typeface="Menlo" pitchFamily="34" charset="-120"/>
              </a:rPr>
              <a:t>"label":</a:t>
            </a:r>
            <a:pPr indent="0" marL="0">
              <a:spcAft>
                <a:spcPts val="600"/>
              </a:spcAft>
              <a:buNone/>
            </a:pPr>
            <a:r>
              <a:rPr lang="en-US" sz="1200" dirty="0">
                <a:solidFill>
                  <a:srgbClr val="0B1A2E"/>
                </a:solidFill>
                <a:latin typeface="Menlo" pitchFamily="34" charset="0"/>
                <a:ea typeface="Menlo" pitchFamily="34" charset="-122"/>
                <a:cs typeface="Menlo" pitchFamily="34" charset="-120"/>
              </a:rPr>
              <a:t> "Single neuron"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b="1" dirty="0">
                <a:solidFill>
                  <a:srgbClr val="026FD7"/>
                </a:solidFill>
                <a:latin typeface="Menlo" pitchFamily="34" charset="0"/>
                <a:ea typeface="Menlo" pitchFamily="34" charset="-122"/>
                <a:cs typeface="Menlo" pitchFamily="34" charset="-120"/>
              </a:rPr>
              <a:t>"selection":</a:t>
            </a:r>
            <a:pPr indent="0" marL="0">
              <a:spcAft>
                <a:spcPts val="600"/>
              </a:spcAft>
              <a:buNone/>
            </a:pPr>
            <a:r>
              <a:rPr lang="en-US" sz="1200" dirty="0">
                <a:solidFill>
                  <a:srgbClr val="0B1A2E"/>
                </a:solidFill>
                <a:latin typeface="Menlo" pitchFamily="34" charset="0"/>
                <a:ea typeface="Menlo" pitchFamily="34" charset="-122"/>
                <a:cs typeface="Menlo" pitchFamily="34" charset="-120"/>
              </a:rPr>
              <a:t> { </a:t>
            </a:r>
            <a:pPr indent="0" marL="0">
              <a:spcAft>
                <a:spcPts val="600"/>
              </a:spcAft>
              <a:buNone/>
            </a:pPr>
            <a:r>
              <a:rPr lang="en-US" sz="1200" dirty="0">
                <a:solidFill>
                  <a:srgbClr val="0B1A2E"/>
                </a:solidFill>
                <a:latin typeface="Menlo" pitchFamily="34" charset="0"/>
                <a:ea typeface="Menlo" pitchFamily="34" charset="-122"/>
                <a:cs typeface="Menlo" pitchFamily="34" charset="-120"/>
              </a:rPr>
              <a:t>"entities":</a:t>
            </a:r>
            <a:pPr indent="0" marL="0">
              <a:spcAft>
                <a:spcPts val="600"/>
              </a:spcAft>
              <a:buNone/>
            </a:pPr>
            <a:r>
              <a:rPr lang="en-US" sz="1200" dirty="0">
                <a:solidFill>
                  <a:srgbClr val="0B1A2E"/>
                </a:solidFill>
                <a:latin typeface="Menlo" pitchFamily="34" charset="0"/>
                <a:ea typeface="Menlo" pitchFamily="34" charset="-122"/>
                <a:cs typeface="Menlo" pitchFamily="34" charset="-120"/>
              </a:rPr>
              <a:t> ["MEM__jy180314…"]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b="1" dirty="0">
                <a:solidFill>
                  <a:srgbClr val="026FD7"/>
                </a:solidFill>
                <a:latin typeface="Menlo" pitchFamily="34" charset="0"/>
                <a:ea typeface="Menlo" pitchFamily="34" charset="-122"/>
                <a:cs typeface="Menlo" pitchFamily="34" charset="-120"/>
              </a:rPr>
              <a:t>"cases":</a:t>
            </a:r>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 </a:t>
            </a:r>
            <a:pPr indent="0" marL="0">
              <a:spcAft>
                <a:spcPts val="600"/>
              </a:spcAft>
              <a:buNone/>
            </a:pPr>
            <a:r>
              <a:rPr lang="en-US" sz="1200" dirty="0">
                <a:solidFill>
                  <a:srgbClr val="0B1A2E"/>
                </a:solidFill>
                <a:latin typeface="Menlo" pitchFamily="34" charset="0"/>
                <a:ea typeface="Menlo" pitchFamily="34" charset="-122"/>
                <a:cs typeface="Menlo" pitchFamily="34" charset="-120"/>
              </a:rPr>
              <a:t>"name":</a:t>
            </a:r>
            <a:pPr indent="0" marL="0">
              <a:spcAft>
                <a:spcPts val="600"/>
              </a:spcAft>
              <a:buNone/>
            </a:pPr>
            <a:r>
              <a:rPr lang="en-US" sz="1200" dirty="0">
                <a:solidFill>
                  <a:srgbClr val="0B1A2E"/>
                </a:solidFill>
                <a:latin typeface="Menlo" pitchFamily="34" charset="0"/>
                <a:ea typeface="Menlo" pitchFamily="34" charset="-122"/>
                <a:cs typeface="Menlo" pitchFamily="34" charset="-120"/>
              </a:rPr>
              <a:t> "a constant current clamp",</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b="1" dirty="0">
                <a:solidFill>
                  <a:srgbClr val="026FD7"/>
                </a:solidFill>
                <a:latin typeface="Menlo" pitchFamily="34" charset="0"/>
                <a:ea typeface="Menlo" pitchFamily="34" charset="-122"/>
                <a:cs typeface="Menlo" pitchFamily="34" charset="-120"/>
              </a:rPr>
              <a:t>"config":</a:t>
            </a:r>
            <a:pPr indent="0" marL="0">
              <a:spcAft>
                <a:spcPts val="600"/>
              </a:spcAft>
              <a:buNone/>
            </a:pPr>
            <a:r>
              <a:rPr lang="en-US" sz="1200" dirty="0">
                <a:solidFill>
                  <a:srgbClr val="0B1A2E"/>
                </a:solidFill>
                <a:latin typeface="Menlo" pitchFamily="34" charset="0"/>
                <a:ea typeface="Menlo" pitchFamily="34" charset="-122"/>
                <a:cs typeface="Menlo" pitchFamily="34" charset="-120"/>
              </a:rPr>
              <a:t> { …the form values… }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 </a:t>
            </a:r>
            <a:pPr indent="0" marL="0">
              <a:spcAft>
                <a:spcPts val="600"/>
              </a:spcAft>
              <a:buNone/>
            </a:pPr>
            <a:r>
              <a:rPr lang="en-US" sz="1200" dirty="0">
                <a:solidFill>
                  <a:srgbClr val="0B1A2E"/>
                </a:solidFill>
                <a:latin typeface="Menlo" pitchFamily="34" charset="0"/>
                <a:ea typeface="Menlo" pitchFamily="34" charset="-122"/>
                <a:cs typeface="Menlo" pitchFamily="34" charset="-120"/>
              </a:rPr>
              <a:t>"name":</a:t>
            </a:r>
            <a:pPr indent="0" marL="0">
              <a:spcAft>
                <a:spcPts val="600"/>
              </a:spcAft>
              <a:buNone/>
            </a:pPr>
            <a:r>
              <a:rPr lang="en-US" sz="1200" dirty="0">
                <a:solidFill>
                  <a:srgbClr val="0B1A2E"/>
                </a:solidFill>
                <a:latin typeface="Menlo" pitchFamily="34" charset="0"/>
                <a:ea typeface="Menlo" pitchFamily="34" charset="-122"/>
                <a:cs typeface="Menlo" pitchFamily="34" charset="-120"/>
              </a:rPr>
              <a:t> "the same clamp, two amplitudes",</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pPr indent="0" marL="0">
              <a:spcAft>
                <a:spcPts val="600"/>
              </a:spcAft>
              <a:buNone/>
            </a:pPr>
            <a:r>
              <a:rPr lang="en-US" sz="1200" b="1" dirty="0">
                <a:solidFill>
                  <a:srgbClr val="026FD7"/>
                </a:solidFill>
                <a:latin typeface="Menlo" pitchFamily="34" charset="0"/>
                <a:ea typeface="Menlo" pitchFamily="34" charset="-122"/>
                <a:cs typeface="Menlo" pitchFamily="34" charset="-120"/>
              </a:rPr>
              <a:t>"config":</a:t>
            </a:r>
            <a:pPr indent="0" marL="0">
              <a:spcAft>
                <a:spcPts val="600"/>
              </a:spcAft>
              <a:buNone/>
            </a:pPr>
            <a:r>
              <a:rPr lang="en-US" sz="1200" dirty="0">
                <a:solidFill>
                  <a:srgbClr val="0B1A2E"/>
                </a:solidFill>
                <a:latin typeface="Menlo" pitchFamily="34" charset="0"/>
                <a:ea typeface="Menlo" pitchFamily="34" charset="-122"/>
                <a:cs typeface="Menlo" pitchFamily="34" charset="-120"/>
              </a:rPr>
              <a:t> { …the form values… }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  ]</a:t>
            </a:r>
            <a:endParaRPr lang="en-US" sz="1200" dirty="0"/>
          </a:p>
          <a:p>
            <a:pPr indent="0" marL="0">
              <a:spcAft>
                <a:spcPts val="600"/>
              </a:spcAft>
              <a:buNone/>
            </a:pPr>
            <a:r>
              <a:rPr lang="en-US" sz="1200" dirty="0">
                <a:solidFill>
                  <a:srgbClr val="0B1A2E"/>
                </a:solidFill>
                <a:latin typeface="Menlo" pitchFamily="34" charset="0"/>
                <a:ea typeface="Menlo" pitchFamily="34" charset="-122"/>
                <a:cs typeface="Menlo" pitchFamily="34" charset="-120"/>
              </a:rPr>
              <a:t>}</a:t>
            </a:r>
            <a:endParaRPr lang="en-US" sz="1200" dirty="0"/>
          </a:p>
        </p:txBody>
      </p:sp>
      <p:sp>
        <p:nvSpPr>
          <p:cNvPr id="7" name="text-242"/>
          <p:cNvSpPr txBox="1"/>
          <p:nvPr/>
        </p:nvSpPr>
        <p:spPr>
          <a:xfrm>
            <a:off x="6675120" y="1783080"/>
            <a:ext cx="1417320" cy="365760"/>
          </a:xfrm>
          <a:prstGeom prst="rect">
            <a:avLst/>
          </a:prstGeom>
          <a:noFill/>
          <a:ln/>
        </p:spPr>
        <p:txBody>
          <a:bodyPr wrap="square" lIns="0" tIns="0" rIns="0" bIns="0" rtlCol="0" anchor="ctr"/>
          <a:lstStyle/>
          <a:p>
            <a:pPr indent="0" marL="0">
              <a:buNone/>
            </a:pPr>
            <a:r>
              <a:rPr lang="en-US" sz="1500" b="1" dirty="0">
                <a:solidFill>
                  <a:schemeClr val="accent1"/>
                </a:solidFill>
                <a:latin typeface="Menlo" pitchFamily="34" charset="0"/>
                <a:ea typeface="Menlo" pitchFamily="34" charset="-122"/>
                <a:cs typeface="Menlo" pitchFamily="34" charset="-120"/>
              </a:rPr>
              <a:t>env</a:t>
            </a:r>
            <a:endParaRPr lang="en-US" sz="1500" dirty="0"/>
          </a:p>
        </p:txBody>
      </p:sp>
      <p:sp>
        <p:nvSpPr>
          <p:cNvPr id="8" name="text-243"/>
          <p:cNvSpPr txBox="1"/>
          <p:nvPr/>
        </p:nvSpPr>
        <p:spPr>
          <a:xfrm>
            <a:off x="8138160" y="1783080"/>
            <a:ext cx="3502152" cy="365760"/>
          </a:xfrm>
          <a:prstGeom prst="rect">
            <a:avLst/>
          </a:prstGeom>
          <a:noFill/>
          <a:ln/>
        </p:spPr>
        <p:txBody>
          <a:bodyPr wrap="square" lIns="0" tIns="0" rIns="0" bIns="0" rtlCol="0" anchor="ctr"/>
          <a:lstStyle/>
          <a:p>
            <a:pPr indent="0" marL="0">
              <a:buNone/>
            </a:pPr>
            <a:r>
              <a:rPr lang="en-US" sz="1700" b="1" dirty="0">
                <a:solidFill>
                  <a:schemeClr val="tx1"/>
                </a:solidFill>
              </a:rPr>
              <a:t>Where it runs</a:t>
            </a:r>
            <a:endParaRPr lang="en-US" sz="1700" dirty="0"/>
          </a:p>
        </p:txBody>
      </p:sp>
      <p:sp>
        <p:nvSpPr>
          <p:cNvPr id="9" name="text-244"/>
          <p:cNvSpPr txBox="1"/>
          <p:nvPr/>
        </p:nvSpPr>
        <p:spPr>
          <a:xfrm>
            <a:off x="8138160" y="2130552"/>
            <a:ext cx="3502152" cy="320040"/>
          </a:xfrm>
          <a:prstGeom prst="rect">
            <a:avLst/>
          </a:prstGeom>
          <a:noFill/>
          <a:ln/>
        </p:spPr>
        <p:txBody>
          <a:bodyPr wrap="square" lIns="0" tIns="0" rIns="0" bIns="0" rtlCol="0" anchor="t"/>
          <a:lstStyle/>
          <a:p>
            <a:pPr indent="0" marL="0">
              <a:buNone/>
            </a:pPr>
            <a:r>
              <a:rPr lang="en-US" sz="1300" dirty="0">
                <a:solidFill>
                  <a:schemeClr val="tx2"/>
                </a:solidFill>
              </a:rPr>
              <a:t>staging, production or both. No tag needed.</a:t>
            </a:r>
            <a:endParaRPr lang="en-US" sz="1300" dirty="0"/>
          </a:p>
        </p:txBody>
      </p:sp>
      <p:sp>
        <p:nvSpPr>
          <p:cNvPr id="10" name="text-245"/>
          <p:cNvSpPr txBox="1"/>
          <p:nvPr/>
        </p:nvSpPr>
        <p:spPr>
          <a:xfrm>
            <a:off x="6675120" y="2532888"/>
            <a:ext cx="1417320" cy="365760"/>
          </a:xfrm>
          <a:prstGeom prst="rect">
            <a:avLst/>
          </a:prstGeom>
          <a:noFill/>
          <a:ln/>
        </p:spPr>
        <p:txBody>
          <a:bodyPr wrap="square" lIns="0" tIns="0" rIns="0" bIns="0" rtlCol="0" anchor="ctr"/>
          <a:lstStyle/>
          <a:p>
            <a:pPr indent="0" marL="0">
              <a:buNone/>
            </a:pPr>
            <a:r>
              <a:rPr lang="en-US" sz="1500" b="1" dirty="0">
                <a:solidFill>
                  <a:schemeClr val="accent1"/>
                </a:solidFill>
                <a:latin typeface="Menlo" pitchFamily="34" charset="0"/>
                <a:ea typeface="Menlo" pitchFamily="34" charset="-122"/>
                <a:cs typeface="Menlo" pitchFamily="34" charset="-120"/>
              </a:rPr>
              <a:t>selection</a:t>
            </a:r>
            <a:endParaRPr lang="en-US" sz="1500" dirty="0"/>
          </a:p>
        </p:txBody>
      </p:sp>
      <p:sp>
        <p:nvSpPr>
          <p:cNvPr id="11" name="text-246"/>
          <p:cNvSpPr txBox="1"/>
          <p:nvPr/>
        </p:nvSpPr>
        <p:spPr>
          <a:xfrm>
            <a:off x="8138160" y="2532888"/>
            <a:ext cx="3502152" cy="365760"/>
          </a:xfrm>
          <a:prstGeom prst="rect">
            <a:avLst/>
          </a:prstGeom>
          <a:noFill/>
          <a:ln/>
        </p:spPr>
        <p:txBody>
          <a:bodyPr wrap="square" lIns="0" tIns="0" rIns="0" bIns="0" rtlCol="0" anchor="ctr"/>
          <a:lstStyle/>
          <a:p>
            <a:pPr indent="0" marL="0">
              <a:buNone/>
            </a:pPr>
            <a:r>
              <a:rPr lang="en-US" sz="1700" b="1" dirty="0">
                <a:solidFill>
                  <a:schemeClr val="tx1"/>
                </a:solidFill>
              </a:rPr>
              <a:t>What to pick first</a:t>
            </a:r>
            <a:endParaRPr lang="en-US" sz="1700" dirty="0"/>
          </a:p>
        </p:txBody>
      </p:sp>
      <p:sp>
        <p:nvSpPr>
          <p:cNvPr id="12" name="text-247"/>
          <p:cNvSpPr txBox="1"/>
          <p:nvPr/>
        </p:nvSpPr>
        <p:spPr>
          <a:xfrm>
            <a:off x="8138160" y="2880360"/>
            <a:ext cx="3502152" cy="320040"/>
          </a:xfrm>
          <a:prstGeom prst="rect">
            <a:avLst/>
          </a:prstGeom>
          <a:noFill/>
          <a:ln/>
        </p:spPr>
        <p:txBody>
          <a:bodyPr wrap="square" lIns="0" tIns="0" rIns="0" bIns="0" rtlCol="0" anchor="t"/>
          <a:lstStyle/>
          <a:p>
            <a:pPr indent="0" marL="0">
              <a:buNone/>
            </a:pPr>
            <a:r>
              <a:rPr lang="en-US" sz="1300" dirty="0">
                <a:solidFill>
                  <a:schemeClr val="tx2"/>
                </a:solidFill>
              </a:rPr>
              <a:t>the ME-model the form starts from.</a:t>
            </a:r>
            <a:endParaRPr lang="en-US" sz="1300" dirty="0"/>
          </a:p>
        </p:txBody>
      </p:sp>
      <p:sp>
        <p:nvSpPr>
          <p:cNvPr id="13" name="text-248"/>
          <p:cNvSpPr txBox="1"/>
          <p:nvPr/>
        </p:nvSpPr>
        <p:spPr>
          <a:xfrm>
            <a:off x="6675120" y="3282696"/>
            <a:ext cx="1417320" cy="365760"/>
          </a:xfrm>
          <a:prstGeom prst="rect">
            <a:avLst/>
          </a:prstGeom>
          <a:noFill/>
          <a:ln/>
        </p:spPr>
        <p:txBody>
          <a:bodyPr wrap="square" lIns="0" tIns="0" rIns="0" bIns="0" rtlCol="0" anchor="ctr"/>
          <a:lstStyle/>
          <a:p>
            <a:pPr indent="0" marL="0">
              <a:buNone/>
            </a:pPr>
            <a:r>
              <a:rPr lang="en-US" sz="1500" b="1" dirty="0">
                <a:solidFill>
                  <a:schemeClr val="accent1"/>
                </a:solidFill>
                <a:latin typeface="Menlo" pitchFamily="34" charset="0"/>
                <a:ea typeface="Menlo" pitchFamily="34" charset="-122"/>
                <a:cs typeface="Menlo" pitchFamily="34" charset="-120"/>
              </a:rPr>
              <a:t>cases</a:t>
            </a:r>
            <a:endParaRPr lang="en-US" sz="1500" dirty="0"/>
          </a:p>
        </p:txBody>
      </p:sp>
      <p:sp>
        <p:nvSpPr>
          <p:cNvPr id="14" name="text-249"/>
          <p:cNvSpPr txBox="1"/>
          <p:nvPr/>
        </p:nvSpPr>
        <p:spPr>
          <a:xfrm>
            <a:off x="8138160" y="3282696"/>
            <a:ext cx="3502152" cy="365760"/>
          </a:xfrm>
          <a:prstGeom prst="rect">
            <a:avLst/>
          </a:prstGeom>
          <a:noFill/>
          <a:ln/>
        </p:spPr>
        <p:txBody>
          <a:bodyPr wrap="square" lIns="0" tIns="0" rIns="0" bIns="0" rtlCol="0" anchor="ctr"/>
          <a:lstStyle/>
          <a:p>
            <a:pPr indent="0" marL="0">
              <a:buNone/>
            </a:pPr>
            <a:r>
              <a:rPr lang="en-US" sz="1700" b="1" dirty="0">
                <a:solidFill>
                  <a:schemeClr val="tx1"/>
                </a:solidFill>
              </a:rPr>
              <a:t>One entry, one test</a:t>
            </a:r>
            <a:endParaRPr lang="en-US" sz="1700" dirty="0"/>
          </a:p>
        </p:txBody>
      </p:sp>
      <p:sp>
        <p:nvSpPr>
          <p:cNvPr id="15" name="text-250"/>
          <p:cNvSpPr txBox="1"/>
          <p:nvPr/>
        </p:nvSpPr>
        <p:spPr>
          <a:xfrm>
            <a:off x="8138160" y="3630168"/>
            <a:ext cx="3502152" cy="320040"/>
          </a:xfrm>
          <a:prstGeom prst="rect">
            <a:avLst/>
          </a:prstGeom>
          <a:noFill/>
          <a:ln/>
        </p:spPr>
        <p:txBody>
          <a:bodyPr wrap="square" lIns="0" tIns="0" rIns="0" bIns="0" rtlCol="0" anchor="t"/>
          <a:lstStyle/>
          <a:p>
            <a:pPr indent="0" marL="0">
              <a:buNone/>
            </a:pPr>
            <a:r>
              <a:rPr lang="en-US" sz="1300" dirty="0">
                <a:solidFill>
                  <a:schemeClr val="tx2"/>
                </a:solidFill>
              </a:rPr>
              <a:t>each configuration becomes its own test.</a:t>
            </a:r>
            <a:endParaRPr lang="en-US" sz="1300" dirty="0"/>
          </a:p>
        </p:txBody>
      </p:sp>
      <p:sp>
        <p:nvSpPr>
          <p:cNvPr id="16" name="text-251"/>
          <p:cNvSpPr txBox="1"/>
          <p:nvPr/>
        </p:nvSpPr>
        <p:spPr>
          <a:xfrm>
            <a:off x="6675120" y="4032504"/>
            <a:ext cx="1417320" cy="365760"/>
          </a:xfrm>
          <a:prstGeom prst="rect">
            <a:avLst/>
          </a:prstGeom>
          <a:noFill/>
          <a:ln/>
        </p:spPr>
        <p:txBody>
          <a:bodyPr wrap="square" lIns="0" tIns="0" rIns="0" bIns="0" rtlCol="0" anchor="ctr"/>
          <a:lstStyle/>
          <a:p>
            <a:pPr indent="0" marL="0">
              <a:buNone/>
            </a:pPr>
            <a:r>
              <a:rPr lang="en-US" sz="1500" b="1" dirty="0">
                <a:solidFill>
                  <a:schemeClr val="accent1"/>
                </a:solidFill>
                <a:latin typeface="Menlo" pitchFamily="34" charset="0"/>
                <a:ea typeface="Menlo" pitchFamily="34" charset="-122"/>
                <a:cs typeface="Menlo" pitchFamily="34" charset="-120"/>
              </a:rPr>
              <a:t>config</a:t>
            </a:r>
            <a:endParaRPr lang="en-US" sz="1500" dirty="0"/>
          </a:p>
        </p:txBody>
      </p:sp>
      <p:sp>
        <p:nvSpPr>
          <p:cNvPr id="17" name="text-252"/>
          <p:cNvSpPr txBox="1"/>
          <p:nvPr/>
        </p:nvSpPr>
        <p:spPr>
          <a:xfrm>
            <a:off x="8138160" y="4032504"/>
            <a:ext cx="3502152" cy="365760"/>
          </a:xfrm>
          <a:prstGeom prst="rect">
            <a:avLst/>
          </a:prstGeom>
          <a:noFill/>
          <a:ln/>
        </p:spPr>
        <p:txBody>
          <a:bodyPr wrap="square" lIns="0" tIns="0" rIns="0" bIns="0" rtlCol="0" anchor="ctr"/>
          <a:lstStyle/>
          <a:p>
            <a:pPr indent="0" marL="0">
              <a:buNone/>
            </a:pPr>
            <a:r>
              <a:rPr lang="en-US" sz="1700" b="1" dirty="0">
                <a:solidFill>
                  <a:schemeClr val="tx1"/>
                </a:solidFill>
              </a:rPr>
              <a:t>The form values</a:t>
            </a:r>
            <a:endParaRPr lang="en-US" sz="1700" dirty="0"/>
          </a:p>
        </p:txBody>
      </p:sp>
      <p:sp>
        <p:nvSpPr>
          <p:cNvPr id="18" name="text-253"/>
          <p:cNvSpPr txBox="1"/>
          <p:nvPr/>
        </p:nvSpPr>
        <p:spPr>
          <a:xfrm>
            <a:off x="8138160" y="4379976"/>
            <a:ext cx="3502152" cy="320040"/>
          </a:xfrm>
          <a:prstGeom prst="rect">
            <a:avLst/>
          </a:prstGeom>
          <a:noFill/>
          <a:ln/>
        </p:spPr>
        <p:txBody>
          <a:bodyPr wrap="square" lIns="0" tIns="0" rIns="0" bIns="0" rtlCol="0" anchor="t"/>
          <a:lstStyle/>
          <a:p>
            <a:pPr indent="0" marL="0">
              <a:buNone/>
            </a:pPr>
            <a:r>
              <a:rPr lang="en-US" sz="1300" dirty="0">
                <a:solidFill>
                  <a:schemeClr val="tx2"/>
                </a:solidFill>
              </a:rPr>
              <a:t>as the app’s own form sends them.</a:t>
            </a:r>
            <a:endParaRPr lang="en-US" sz="1300" dirty="0"/>
          </a:p>
        </p:txBody>
      </p:sp>
      <p:sp>
        <p:nvSpPr>
          <p:cNvPr id="19" name="card-254"/>
          <p:cNvSpPr/>
          <p:nvPr/>
        </p:nvSpPr>
        <p:spPr>
          <a:xfrm>
            <a:off x="6675120" y="4892040"/>
            <a:ext cx="4965192" cy="1188720"/>
          </a:xfrm>
          <a:prstGeom prst="roundRect">
            <a:avLst>
              <a:gd name="adj" fmla="val 7692"/>
            </a:avLst>
          </a:prstGeom>
          <a:solidFill>
            <a:schemeClr val="bg2"/>
          </a:solidFill>
          <a:ln/>
        </p:spPr>
      </p:sp>
      <p:sp>
        <p:nvSpPr>
          <p:cNvPr id="20" name="text-255"/>
          <p:cNvSpPr txBox="1"/>
          <p:nvPr/>
        </p:nvSpPr>
        <p:spPr>
          <a:xfrm>
            <a:off x="6903720" y="5001768"/>
            <a:ext cx="4480560" cy="228600"/>
          </a:xfrm>
          <a:prstGeom prst="rect">
            <a:avLst/>
          </a:prstGeom>
          <a:noFill/>
          <a:ln/>
        </p:spPr>
        <p:txBody>
          <a:bodyPr wrap="square" lIns="0" tIns="0" rIns="0" bIns="0" rtlCol="0" anchor="ctr"/>
          <a:lstStyle/>
          <a:p>
            <a:pPr indent="0" marL="0">
              <a:buNone/>
            </a:pPr>
            <a:r>
              <a:rPr lang="en-US" sz="1000" b="1" spc="150" kern="0" dirty="0">
                <a:solidFill>
                  <a:schemeClr val="tx2"/>
                </a:solidFill>
              </a:rPr>
              <a:t>IN THE SCENARIO</a:t>
            </a:r>
            <a:endParaRPr lang="en-US" sz="1000" dirty="0"/>
          </a:p>
        </p:txBody>
      </p:sp>
      <p:sp>
        <p:nvSpPr>
          <p:cNvPr id="21" name="text-256"/>
          <p:cNvSpPr txBox="1"/>
          <p:nvPr/>
        </p:nvSpPr>
        <p:spPr>
          <a:xfrm>
            <a:off x="6903720" y="5257800"/>
            <a:ext cx="4572000" cy="77724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latin typeface="Menlo" pitchFamily="34" charset="0"/>
                <a:ea typeface="Menlo" pitchFamily="34" charset="-122"/>
                <a:cs typeface="Menlo" pitchFamily="34" charset="-120"/>
              </a:rPr>
              <a:t>Seed: seed.json</a:t>
            </a:r>
            <a:endParaRPr lang="en-US" sz="1300" dirty="0"/>
          </a:p>
          <a:p>
            <a:pPr indent="0" marL="0">
              <a:spcAft>
                <a:spcPts val="300"/>
              </a:spcAft>
              <a:buNone/>
            </a:pPr>
            <a:r>
              <a:rPr lang="en-US" sz="1300" b="1" dirty="0">
                <a:solidFill>
                  <a:schemeClr val="tx1"/>
                </a:solidFill>
                <a:latin typeface="Menlo" pitchFamily="34" charset="0"/>
                <a:ea typeface="Menlo" pitchFamily="34" charset="-122"/>
                <a:cs typeface="Menlo" pitchFamily="34" charset="-120"/>
              </a:rPr>
              <a:t>For each: configuration in the seed</a:t>
            </a:r>
            <a:endParaRPr lang="en-US" sz="1300" dirty="0"/>
          </a:p>
          <a:p>
            <a:pPr indent="0" marL="0">
              <a:spcAft>
                <a:spcPts val="300"/>
              </a:spcAft>
              <a:buNone/>
            </a:pPr>
            <a:r>
              <a:rPr lang="en-US" sz="1200" dirty="0">
                <a:solidFill>
                  <a:srgbClr val="4A5870"/>
                </a:solidFill>
              </a:rPr>
              <a:t>You write the English. The seed holds the values.</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casebook: the checker and the skeleton</a:t>
            </a:r>
            <a:endParaRPr lang="en-US" sz="3400" dirty="0"/>
          </a:p>
        </p:txBody>
      </p:sp>
      <p:sp>
        <p:nvSpPr>
          <p:cNvPr id="3" name="card-257"/>
          <p:cNvSpPr/>
          <p:nvPr/>
        </p:nvSpPr>
        <p:spPr>
          <a:xfrm>
            <a:off x="548640" y="1371600"/>
            <a:ext cx="5029200" cy="2926080"/>
          </a:xfrm>
          <a:prstGeom prst="roundRect">
            <a:avLst>
              <a:gd name="adj" fmla="val 4375"/>
            </a:avLst>
          </a:prstGeom>
          <a:solidFill>
            <a:schemeClr val="tx1"/>
          </a:solidFill>
          <a:ln/>
        </p:spPr>
      </p:sp>
      <p:sp>
        <p:nvSpPr>
          <p:cNvPr id="4" name="node-258"/>
          <p:cNvSpPr/>
          <p:nvPr/>
        </p:nvSpPr>
        <p:spPr>
          <a:xfrm>
            <a:off x="804672" y="1563624"/>
            <a:ext cx="118872" cy="118872"/>
          </a:xfrm>
          <a:prstGeom prst="ellipse">
            <a:avLst/>
          </a:prstGeom>
          <a:solidFill>
            <a:srgbClr val="3A4A63"/>
          </a:solidFill>
          <a:ln/>
        </p:spPr>
      </p:sp>
      <p:sp>
        <p:nvSpPr>
          <p:cNvPr id="5" name="node-259"/>
          <p:cNvSpPr/>
          <p:nvPr/>
        </p:nvSpPr>
        <p:spPr>
          <a:xfrm>
            <a:off x="1005840" y="1563624"/>
            <a:ext cx="118872" cy="118872"/>
          </a:xfrm>
          <a:prstGeom prst="ellipse">
            <a:avLst/>
          </a:prstGeom>
          <a:solidFill>
            <a:srgbClr val="3A4A63"/>
          </a:solidFill>
          <a:ln/>
        </p:spPr>
      </p:sp>
      <p:sp>
        <p:nvSpPr>
          <p:cNvPr id="6" name="node-260"/>
          <p:cNvSpPr/>
          <p:nvPr/>
        </p:nvSpPr>
        <p:spPr>
          <a:xfrm>
            <a:off x="1207008" y="1563624"/>
            <a:ext cx="118872" cy="118872"/>
          </a:xfrm>
          <a:prstGeom prst="ellipse">
            <a:avLst/>
          </a:prstGeom>
          <a:solidFill>
            <a:srgbClr val="3A4A63"/>
          </a:solidFill>
          <a:ln/>
        </p:spPr>
      </p:sp>
      <p:sp>
        <p:nvSpPr>
          <p:cNvPr id="7" name="text-261"/>
          <p:cNvSpPr txBox="1"/>
          <p:nvPr/>
        </p:nvSpPr>
        <p:spPr>
          <a:xfrm>
            <a:off x="868680" y="1874520"/>
            <a:ext cx="4526280" cy="2286000"/>
          </a:xfrm>
          <a:prstGeom prst="rect">
            <a:avLst/>
          </a:prstGeom>
          <a:noFill/>
          <a:ln/>
        </p:spPr>
        <p:txBody>
          <a:bodyPr wrap="square" lIns="0" tIns="0" rIns="0" bIns="0" rtlCol="0" anchor="t"/>
          <a:lstStyle/>
          <a:p>
            <a:pPr indent="0" marL="0">
              <a:spcAft>
                <a:spcPts val="800"/>
              </a:spcAft>
              <a:buNone/>
            </a:pPr>
            <a:r>
              <a:rPr lang="en-US" sz="1200" b="1" dirty="0">
                <a:solidFill>
                  <a:srgbClr val="5CC8FF"/>
                </a:solidFill>
                <a:latin typeface="Menlo" pitchFamily="34" charset="0"/>
                <a:ea typeface="Menlo" pitchFamily="34" charset="-122"/>
                <a:cs typeface="Menlo" pitchFamily="34" charset="-120"/>
              </a:rPr>
              <a:t>$ </a:t>
            </a:r>
            <a:pPr indent="0" marL="0">
              <a:spcAft>
                <a:spcPts val="800"/>
              </a:spcAft>
              <a:buNone/>
            </a:pPr>
            <a:r>
              <a:rPr lang="en-US" sz="1200" dirty="0">
                <a:solidFill>
                  <a:srgbClr val="FFFFFF"/>
                </a:solidFill>
                <a:latin typeface="Menlo" pitchFamily="34" charset="0"/>
                <a:ea typeface="Menlo" pitchFamily="34" charset="-122"/>
                <a:cs typeface="Menlo" pitchFamily="34" charset="-120"/>
              </a:rPr>
              <a:t>make casebook scenarios/pricing-demo</a:t>
            </a:r>
            <a:endParaRPr lang="en-US" sz="1200" dirty="0"/>
          </a:p>
          <a:p>
            <a:pPr indent="0" marL="0">
              <a:spcAft>
                <a:spcPts val="100"/>
              </a:spcAft>
              <a:buNone/>
            </a:pPr>
            <a:r>
              <a:rPr lang="en-US" sz="1200" dirty="0">
                <a:solidFill>
                  <a:srgbClr val="FFFFFF"/>
                </a:solidFill>
                <a:latin typeface="Menlo" pitchFamily="34" charset="0"/>
                <a:ea typeface="Menlo" pitchFamily="34" charset="-122"/>
                <a:cs typeface="Menlo" pitchFamily="34" charset="-120"/>
              </a:rPr>
              <a:t>scenarios/pricing-demo/scenario.md:10</a:t>
            </a:r>
            <a:endParaRPr lang="en-US" sz="1200" dirty="0"/>
          </a:p>
          <a:p>
            <a:pPr indent="0" marL="0">
              <a:spcAft>
                <a:spcPts val="100"/>
              </a:spcAft>
              <a:buNone/>
            </a:pPr>
            <a:r>
              <a:rPr lang="en-US" sz="1200" b="1" dirty="0">
                <a:solidFill>
                  <a:srgbClr val="FF7A7E"/>
                </a:solidFill>
                <a:latin typeface="Menlo" pitchFamily="34" charset="0"/>
                <a:ea typeface="Menlo" pitchFamily="34" charset="-122"/>
                <a:cs typeface="Menlo" pitchFamily="34" charset="-120"/>
              </a:rPr>
              <a:t>  error no-expected — This case checks nothing.</a:t>
            </a:r>
            <a:endParaRPr lang="en-US" sz="1200" dirty="0"/>
          </a:p>
          <a:p>
            <a:pPr indent="0" marL="0">
              <a:spcAft>
                <a:spcPts val="800"/>
              </a:spcAft>
              <a:buNone/>
            </a:pPr>
            <a:r>
              <a:rPr lang="en-US" sz="1200" dirty="0">
                <a:solidFill>
                  <a:srgbClr val="A9B7CC"/>
                </a:solidFill>
                <a:latin typeface="Menlo" pitchFamily="34" charset="0"/>
                <a:ea typeface="Menlo" pitchFamily="34" charset="-122"/>
                <a:cs typeface="Menlo" pitchFamily="34" charset="-120"/>
              </a:rPr>
              <a:t>  Fix: add "Expected:" with dashed lines</a:t>
            </a:r>
            <a:endParaRPr lang="en-US" sz="1200" dirty="0"/>
          </a:p>
          <a:p>
            <a:pPr indent="0" marL="0">
              <a:spcAft>
                <a:spcPts val="800"/>
              </a:spcAft>
              <a:buNone/>
            </a:pPr>
            <a:r>
              <a:rPr lang="en-US" sz="1200" b="1" dirty="0">
                <a:solidFill>
                  <a:srgbClr val="FF7A7E"/>
                </a:solidFill>
                <a:latin typeface="Menlo" pitchFamily="34" charset="0"/>
                <a:ea typeface="Menlo" pitchFamily="34" charset="-122"/>
                <a:cs typeface="Menlo" pitchFamily="34" charset="-120"/>
              </a:rPr>
              <a:t>1 file · 1 case · 1 error · 0 warnings</a:t>
            </a:r>
            <a:endParaRPr lang="en-US" sz="1200" dirty="0"/>
          </a:p>
          <a:p>
            <a:pPr indent="0" marL="0">
              <a:spcAft>
                <a:spcPts val="200"/>
              </a:spcAft>
              <a:buNone/>
            </a:pPr>
            <a:r>
              <a:rPr lang="en-US" sz="1200" dirty="0">
                <a:solidFill>
                  <a:srgbClr val="A9B7CC"/>
                </a:solidFill>
                <a:latin typeface="Menlo" pitchFamily="34" charset="0"/>
                <a:ea typeface="Menlo" pitchFamily="34" charset="-122"/>
                <a:cs typeface="Menlo" pitchFamily="34" charset="-120"/>
              </a:rPr>
              <a:t># after adding Expected:</a:t>
            </a:r>
            <a:endParaRPr lang="en-US" sz="1200" dirty="0"/>
          </a:p>
          <a:p>
            <a:pPr indent="0" marL="0">
              <a:spcAft>
                <a:spcPts val="800"/>
              </a:spcAft>
              <a:buNone/>
            </a:pPr>
            <a:r>
              <a:rPr lang="en-US" sz="1200" b="1" dirty="0">
                <a:solidFill>
                  <a:srgbClr val="5CC8FF"/>
                </a:solidFill>
                <a:latin typeface="Menlo" pitchFamily="34" charset="0"/>
                <a:ea typeface="Menlo" pitchFamily="34" charset="-122"/>
                <a:cs typeface="Menlo" pitchFamily="34" charset="-120"/>
              </a:rPr>
              <a:t>$ </a:t>
            </a:r>
            <a:pPr indent="0" marL="0">
              <a:spcAft>
                <a:spcPts val="800"/>
              </a:spcAft>
              <a:buNone/>
            </a:pPr>
            <a:r>
              <a:rPr lang="en-US" sz="1200" dirty="0">
                <a:solidFill>
                  <a:srgbClr val="FFFFFF"/>
                </a:solidFill>
                <a:latin typeface="Menlo" pitchFamily="34" charset="0"/>
                <a:ea typeface="Menlo" pitchFamily="34" charset="-122"/>
                <a:cs typeface="Menlo" pitchFamily="34" charset="-120"/>
              </a:rPr>
              <a:t>make casebook scenarios/pricing-demo</a:t>
            </a:r>
            <a:endParaRPr lang="en-US" sz="1200" dirty="0"/>
          </a:p>
          <a:p>
            <a:pPr indent="0" marL="0">
              <a:spcAft>
                <a:spcPts val="800"/>
              </a:spcAft>
              <a:buNone/>
            </a:pPr>
            <a:r>
              <a:rPr lang="en-US" sz="1200" b="1" dirty="0">
                <a:solidFill>
                  <a:srgbClr val="4CC078"/>
                </a:solidFill>
                <a:latin typeface="Menlo" pitchFamily="34" charset="0"/>
                <a:ea typeface="Menlo" pitchFamily="34" charset="-122"/>
                <a:cs typeface="Menlo" pitchFamily="34" charset="-120"/>
              </a:rPr>
              <a:t>1 file · 1 case · 0 errors · 0 warnings</a:t>
            </a:r>
            <a:endParaRPr lang="en-US" sz="1200" dirty="0"/>
          </a:p>
        </p:txBody>
      </p:sp>
      <p:sp>
        <p:nvSpPr>
          <p:cNvPr id="8" name="card-262"/>
          <p:cNvSpPr/>
          <p:nvPr/>
        </p:nvSpPr>
        <p:spPr>
          <a:xfrm>
            <a:off x="5715000" y="1371600"/>
            <a:ext cx="3017520" cy="2926080"/>
          </a:xfrm>
          <a:prstGeom prst="roundRect">
            <a:avLst>
              <a:gd name="adj" fmla="val 3125"/>
            </a:avLst>
          </a:prstGeom>
          <a:solidFill>
            <a:schemeClr val="bg2"/>
          </a:solidFill>
          <a:ln/>
        </p:spPr>
      </p:sp>
      <p:sp>
        <p:nvSpPr>
          <p:cNvPr id="9" name="node-263"/>
          <p:cNvSpPr/>
          <p:nvPr/>
        </p:nvSpPr>
        <p:spPr>
          <a:xfrm>
            <a:off x="5897880" y="1554480"/>
            <a:ext cx="457200" cy="457200"/>
          </a:xfrm>
          <a:prstGeom prst="ellipse">
            <a:avLst/>
          </a:prstGeom>
          <a:solidFill>
            <a:schemeClr val="accent4"/>
          </a:solidFill>
          <a:ln/>
        </p:spPr>
      </p:sp>
      <p:pic>
        <p:nvPicPr>
          <p:cNvPr id="10" name="icon-264" descr="preencoded.png">    </p:cNvPr>
          <p:cNvPicPr>
            <a:picLocks noChangeAspect="1"/>
          </p:cNvPicPr>
          <p:nvPr/>
        </p:nvPicPr>
        <p:blipFill>
          <a:blip r:embed="rId1"/>
          <a:stretch>
            <a:fillRect/>
          </a:stretch>
        </p:blipFill>
        <p:spPr>
          <a:xfrm>
            <a:off x="6012180" y="1668780"/>
            <a:ext cx="228600" cy="228600"/>
          </a:xfrm>
          <a:prstGeom prst="rect">
            <a:avLst/>
          </a:prstGeom>
        </p:spPr>
      </p:pic>
      <p:sp>
        <p:nvSpPr>
          <p:cNvPr id="11" name="text-265"/>
          <p:cNvSpPr txBox="1"/>
          <p:nvPr/>
        </p:nvSpPr>
        <p:spPr>
          <a:xfrm>
            <a:off x="5943600" y="219456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Stops you on five things</a:t>
            </a:r>
            <a:endParaRPr lang="en-US" sz="1400" dirty="0"/>
          </a:p>
        </p:txBody>
      </p:sp>
      <p:sp>
        <p:nvSpPr>
          <p:cNvPr id="12" name="text-266"/>
          <p:cNvSpPr txBox="1"/>
          <p:nvPr/>
        </p:nvSpPr>
        <p:spPr>
          <a:xfrm>
            <a:off x="5852160" y="2606040"/>
            <a:ext cx="2788920"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no User, or an unknown one</a:t>
            </a:r>
            <a:endParaRPr lang="en-US" sz="1200" dirty="0"/>
          </a:p>
          <a:p>
            <a:pPr marL="342900" indent="-342900">
              <a:spcAft>
                <a:spcPts val="300"/>
              </a:spcAft>
              <a:buSzPct val="100000"/>
              <a:buChar char="•"/>
            </a:pPr>
            <a:r>
              <a:rPr lang="en-US" sz="1200" dirty="0">
                <a:solidFill>
                  <a:schemeClr val="tx1"/>
                </a:solidFill>
              </a:rPr>
              <a:t>a case with no Expected</a:t>
            </a:r>
            <a:endParaRPr lang="en-US" sz="1200" dirty="0"/>
          </a:p>
          <a:p>
            <a:pPr marL="342900" indent="-342900">
              <a:spcAft>
                <a:spcPts val="300"/>
              </a:spcAft>
              <a:buSzPct val="100000"/>
              <a:buChar char="•"/>
            </a:pPr>
            <a:r>
              <a:rPr lang="en-US" sz="1200" dirty="0">
                <a:solidFill>
                  <a:schemeClr val="tx1"/>
                </a:solidFill>
              </a:rPr>
              <a:t>a line it cannot place</a:t>
            </a:r>
            <a:endParaRPr lang="en-US" sz="1200" dirty="0"/>
          </a:p>
          <a:p>
            <a:pPr marL="342900" indent="-342900">
              <a:spcAft>
                <a:spcPts val="300"/>
              </a:spcAft>
              <a:buSzPct val="100000"/>
              <a:buChar char="•"/>
            </a:pPr>
            <a:r>
              <a:rPr lang="en-US" sz="1200" dirty="0">
                <a:solidFill>
                  <a:schemeClr val="tx1"/>
                </a:solidFill>
              </a:rPr>
              <a:t>a Seed: file that is missing</a:t>
            </a:r>
            <a:endParaRPr lang="en-US" sz="1200" dirty="0"/>
          </a:p>
          <a:p>
            <a:pPr marL="342900" indent="-342900">
              <a:spcAft>
                <a:spcPts val="300"/>
              </a:spcAft>
              <a:buSzPct val="100000"/>
              <a:buChar char="•"/>
            </a:pPr>
            <a:r>
              <a:rPr lang="en-US" sz="1200" dirty="0">
                <a:solidFill>
                  <a:schemeClr val="tx1"/>
                </a:solidFill>
              </a:rPr>
              <a:t>your own lab id in Page:</a:t>
            </a:r>
            <a:endParaRPr lang="en-US" sz="1200" dirty="0"/>
          </a:p>
        </p:txBody>
      </p:sp>
      <p:sp>
        <p:nvSpPr>
          <p:cNvPr id="13" name="card-267"/>
          <p:cNvSpPr/>
          <p:nvPr/>
        </p:nvSpPr>
        <p:spPr>
          <a:xfrm>
            <a:off x="8869680" y="1371600"/>
            <a:ext cx="2770632" cy="2926080"/>
          </a:xfrm>
          <a:prstGeom prst="roundRect">
            <a:avLst>
              <a:gd name="adj" fmla="val 3300"/>
            </a:avLst>
          </a:prstGeom>
          <a:solidFill>
            <a:schemeClr val="bg1"/>
          </a:solidFill>
          <a:ln w="12700">
            <a:solidFill>
              <a:srgbClr val="D5DCE6"/>
            </a:solidFill>
            <a:prstDash val="solid"/>
          </a:ln>
        </p:spPr>
      </p:sp>
      <p:sp>
        <p:nvSpPr>
          <p:cNvPr id="14" name="node-268"/>
          <p:cNvSpPr/>
          <p:nvPr/>
        </p:nvSpPr>
        <p:spPr>
          <a:xfrm>
            <a:off x="9052560" y="1554480"/>
            <a:ext cx="457200" cy="457200"/>
          </a:xfrm>
          <a:prstGeom prst="ellipse">
            <a:avLst/>
          </a:prstGeom>
          <a:solidFill>
            <a:schemeClr val="tx2"/>
          </a:solidFill>
          <a:ln/>
        </p:spPr>
      </p:sp>
      <p:pic>
        <p:nvPicPr>
          <p:cNvPr id="15" name="icon-269" descr="preencoded.png">    </p:cNvPr>
          <p:cNvPicPr>
            <a:picLocks noChangeAspect="1"/>
          </p:cNvPicPr>
          <p:nvPr/>
        </p:nvPicPr>
        <p:blipFill>
          <a:blip r:embed="rId2"/>
          <a:stretch>
            <a:fillRect/>
          </a:stretch>
        </p:blipFill>
        <p:spPr>
          <a:xfrm>
            <a:off x="9166860" y="1668780"/>
            <a:ext cx="228600" cy="228600"/>
          </a:xfrm>
          <a:prstGeom prst="rect">
            <a:avLst/>
          </a:prstGeom>
        </p:spPr>
      </p:pic>
      <p:sp>
        <p:nvSpPr>
          <p:cNvPr id="16" name="text-270"/>
          <p:cNvSpPr txBox="1"/>
          <p:nvPr/>
        </p:nvSpPr>
        <p:spPr>
          <a:xfrm>
            <a:off x="9098280" y="2194560"/>
            <a:ext cx="2423160" cy="365760"/>
          </a:xfrm>
          <a:prstGeom prst="rect">
            <a:avLst/>
          </a:prstGeom>
          <a:noFill/>
          <a:ln/>
        </p:spPr>
        <p:txBody>
          <a:bodyPr wrap="square" lIns="0" tIns="0" rIns="0" bIns="0" rtlCol="0" anchor="ctr"/>
          <a:lstStyle/>
          <a:p>
            <a:pPr indent="0" marL="0">
              <a:buNone/>
            </a:pPr>
            <a:r>
              <a:rPr lang="en-US" sz="1400" b="1" dirty="0">
                <a:solidFill>
                  <a:schemeClr val="tx1"/>
                </a:solidFill>
              </a:rPr>
              <a:t>Warns, never blocks</a:t>
            </a:r>
            <a:endParaRPr lang="en-US" sz="1400" dirty="0"/>
          </a:p>
        </p:txBody>
      </p:sp>
      <p:sp>
        <p:nvSpPr>
          <p:cNvPr id="17" name="text-271"/>
          <p:cNvSpPr txBox="1"/>
          <p:nvPr/>
        </p:nvSpPr>
        <p:spPr>
          <a:xfrm>
            <a:off x="9006840" y="2606040"/>
            <a:ext cx="2514600" cy="16002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placeholder text like xxxxx</a:t>
            </a:r>
            <a:endParaRPr lang="en-US" sz="1200" dirty="0"/>
          </a:p>
          <a:p>
            <a:pPr marL="342900" indent="-342900">
              <a:spcAft>
                <a:spcPts val="300"/>
              </a:spcAft>
              <a:buSzPct val="100000"/>
              <a:buChar char="•"/>
            </a:pPr>
            <a:r>
              <a:rPr lang="en-US" sz="1200" dirty="0">
                <a:solidFill>
                  <a:schemeClr val="tx1"/>
                </a:solidFill>
              </a:rPr>
              <a:t>more than ten steps</a:t>
            </a:r>
            <a:endParaRPr lang="en-US" sz="1200" dirty="0"/>
          </a:p>
          <a:p>
            <a:pPr marL="342900" indent="-342900">
              <a:spcAft>
                <a:spcPts val="300"/>
              </a:spcAft>
              <a:buSzPct val="100000"/>
              <a:buChar char="•"/>
            </a:pPr>
            <a:r>
              <a:rPr lang="en-US" sz="1200" dirty="0">
                <a:solidFill>
                  <a:schemeClr val="tx1"/>
                </a:solidFill>
              </a:rPr>
              <a:t>“before” with nothing noted</a:t>
            </a:r>
            <a:endParaRPr lang="en-US" sz="1200" dirty="0"/>
          </a:p>
        </p:txBody>
      </p:sp>
      <p:sp>
        <p:nvSpPr>
          <p:cNvPr id="18" name="card-272"/>
          <p:cNvSpPr/>
          <p:nvPr/>
        </p:nvSpPr>
        <p:spPr>
          <a:xfrm>
            <a:off x="548640" y="4480560"/>
            <a:ext cx="11091672" cy="1691640"/>
          </a:xfrm>
          <a:prstGeom prst="roundRect">
            <a:avLst>
              <a:gd name="adj" fmla="val 5405"/>
            </a:avLst>
          </a:prstGeom>
          <a:solidFill>
            <a:schemeClr val="bg2"/>
          </a:solidFill>
          <a:ln/>
        </p:spPr>
      </p:sp>
      <p:sp>
        <p:nvSpPr>
          <p:cNvPr id="19" name="node-273"/>
          <p:cNvSpPr/>
          <p:nvPr/>
        </p:nvSpPr>
        <p:spPr>
          <a:xfrm>
            <a:off x="777240" y="4681728"/>
            <a:ext cx="548640" cy="548640"/>
          </a:xfrm>
          <a:prstGeom prst="ellipse">
            <a:avLst/>
          </a:prstGeom>
          <a:solidFill>
            <a:schemeClr val="accent1"/>
          </a:solidFill>
          <a:ln/>
        </p:spPr>
      </p:sp>
      <p:pic>
        <p:nvPicPr>
          <p:cNvPr id="20" name="icon-274" descr="preencoded.png">    </p:cNvPr>
          <p:cNvPicPr>
            <a:picLocks noChangeAspect="1"/>
          </p:cNvPicPr>
          <p:nvPr/>
        </p:nvPicPr>
        <p:blipFill>
          <a:blip r:embed="rId3"/>
          <a:stretch>
            <a:fillRect/>
          </a:stretch>
        </p:blipFill>
        <p:spPr>
          <a:xfrm>
            <a:off x="914400" y="4818888"/>
            <a:ext cx="274320" cy="274320"/>
          </a:xfrm>
          <a:prstGeom prst="rect">
            <a:avLst/>
          </a:prstGeom>
        </p:spPr>
      </p:pic>
      <p:sp>
        <p:nvSpPr>
          <p:cNvPr id="21" name="text-275"/>
          <p:cNvSpPr txBox="1"/>
          <p:nvPr/>
        </p:nvSpPr>
        <p:spPr>
          <a:xfrm>
            <a:off x="1508760" y="4681728"/>
            <a:ext cx="4480560" cy="365760"/>
          </a:xfrm>
          <a:prstGeom prst="rect">
            <a:avLst/>
          </a:prstGeom>
          <a:noFill/>
          <a:ln/>
        </p:spPr>
        <p:txBody>
          <a:bodyPr wrap="square" lIns="0" tIns="0" rIns="0" bIns="0" rtlCol="0" anchor="ctr"/>
          <a:lstStyle/>
          <a:p>
            <a:pPr indent="0" marL="0">
              <a:buNone/>
            </a:pPr>
            <a:r>
              <a:rPr lang="en-US" sz="1800" b="1" dirty="0">
                <a:solidFill>
                  <a:schemeClr val="tx1"/>
                </a:solidFill>
                <a:latin typeface="Menlo" pitchFamily="34" charset="0"/>
                <a:ea typeface="Menlo" pitchFamily="34" charset="-122"/>
                <a:cs typeface="Menlo" pitchFamily="34" charset="-120"/>
              </a:rPr>
              <a:t>casebook skeleton</a:t>
            </a:r>
            <a:endParaRPr lang="en-US" sz="1800" dirty="0"/>
          </a:p>
        </p:txBody>
      </p:sp>
      <p:sp>
        <p:nvSpPr>
          <p:cNvPr id="22" name="text-276"/>
          <p:cNvSpPr txBox="1"/>
          <p:nvPr/>
        </p:nvSpPr>
        <p:spPr>
          <a:xfrm>
            <a:off x="1508760" y="5102352"/>
            <a:ext cx="4480560" cy="1005840"/>
          </a:xfrm>
          <a:prstGeom prst="rect">
            <a:avLst/>
          </a:prstGeom>
          <a:noFill/>
          <a:ln/>
        </p:spPr>
        <p:txBody>
          <a:bodyPr wrap="square" lIns="0" tIns="0" rIns="0" bIns="0" rtlCol="0" anchor="t"/>
          <a:lstStyle/>
          <a:p>
            <a:pPr indent="0" marL="0">
              <a:buNone/>
            </a:pPr>
            <a:r>
              <a:rPr lang="en-US" sz="1300" dirty="0">
                <a:solidFill>
                  <a:schemeClr val="tx1"/>
                </a:solidFill>
              </a:rPr>
              <a:t>Writes the empty test for every case, titled exactly as the case. Run it again after an edit: it adds new cases and flags renamed ones, and touches nothing else.</a:t>
            </a:r>
            <a:endParaRPr lang="en-US" sz="1300" dirty="0"/>
          </a:p>
        </p:txBody>
      </p:sp>
      <p:sp>
        <p:nvSpPr>
          <p:cNvPr id="23" name="card-277"/>
          <p:cNvSpPr/>
          <p:nvPr/>
        </p:nvSpPr>
        <p:spPr>
          <a:xfrm>
            <a:off x="6263640" y="4663440"/>
            <a:ext cx="5193792" cy="1371600"/>
          </a:xfrm>
          <a:prstGeom prst="roundRect">
            <a:avLst>
              <a:gd name="adj" fmla="val 9333"/>
            </a:avLst>
          </a:prstGeom>
          <a:solidFill>
            <a:schemeClr val="tx1"/>
          </a:solidFill>
          <a:ln/>
        </p:spPr>
      </p:sp>
      <p:sp>
        <p:nvSpPr>
          <p:cNvPr id="24" name="node-278"/>
          <p:cNvSpPr/>
          <p:nvPr/>
        </p:nvSpPr>
        <p:spPr>
          <a:xfrm>
            <a:off x="6519672" y="4855464"/>
            <a:ext cx="118872" cy="118872"/>
          </a:xfrm>
          <a:prstGeom prst="ellipse">
            <a:avLst/>
          </a:prstGeom>
          <a:solidFill>
            <a:srgbClr val="3A4A63"/>
          </a:solidFill>
          <a:ln/>
        </p:spPr>
      </p:sp>
      <p:sp>
        <p:nvSpPr>
          <p:cNvPr id="25" name="node-279"/>
          <p:cNvSpPr/>
          <p:nvPr/>
        </p:nvSpPr>
        <p:spPr>
          <a:xfrm>
            <a:off x="6720840" y="4855464"/>
            <a:ext cx="118872" cy="118872"/>
          </a:xfrm>
          <a:prstGeom prst="ellipse">
            <a:avLst/>
          </a:prstGeom>
          <a:solidFill>
            <a:srgbClr val="3A4A63"/>
          </a:solidFill>
          <a:ln/>
        </p:spPr>
      </p:sp>
      <p:sp>
        <p:nvSpPr>
          <p:cNvPr id="26" name="node-280"/>
          <p:cNvSpPr/>
          <p:nvPr/>
        </p:nvSpPr>
        <p:spPr>
          <a:xfrm>
            <a:off x="6922008" y="4855464"/>
            <a:ext cx="118872" cy="118872"/>
          </a:xfrm>
          <a:prstGeom prst="ellipse">
            <a:avLst/>
          </a:prstGeom>
          <a:solidFill>
            <a:srgbClr val="3A4A63"/>
          </a:solidFill>
          <a:ln/>
        </p:spPr>
      </p:sp>
      <p:sp>
        <p:nvSpPr>
          <p:cNvPr id="27" name="text-281"/>
          <p:cNvSpPr txBox="1"/>
          <p:nvPr/>
        </p:nvSpPr>
        <p:spPr>
          <a:xfrm>
            <a:off x="6583680" y="5029200"/>
            <a:ext cx="4690872" cy="731520"/>
          </a:xfrm>
          <a:prstGeom prst="rect">
            <a:avLst/>
          </a:prstGeom>
          <a:noFill/>
          <a:ln/>
        </p:spPr>
        <p:txBody>
          <a:bodyPr wrap="square" lIns="0" tIns="0" rIns="0" bIns="0" rtlCol="0" anchor="t"/>
          <a:lstStyle/>
          <a:p>
            <a:pPr indent="0" marL="0">
              <a:spcAft>
                <a:spcPts val="600"/>
              </a:spcAft>
              <a:buNone/>
            </a:pPr>
            <a:r>
              <a:rPr lang="en-US" sz="1100" b="1" dirty="0">
                <a:solidFill>
                  <a:srgbClr val="5CC8FF"/>
                </a:solidFill>
                <a:latin typeface="Menlo" pitchFamily="34" charset="0"/>
                <a:ea typeface="Menlo" pitchFamily="34" charset="-122"/>
                <a:cs typeface="Menlo" pitchFamily="34" charset="-120"/>
              </a:rPr>
              <a:t>$ </a:t>
            </a:r>
            <a:pPr indent="0" marL="0">
              <a:spcAft>
                <a:spcPts val="600"/>
              </a:spcAft>
              <a:buNone/>
            </a:pPr>
            <a:r>
              <a:rPr lang="en-US" sz="1100" dirty="0">
                <a:solidFill>
                  <a:srgbClr val="FFFFFF"/>
                </a:solidFill>
                <a:latin typeface="Menlo" pitchFamily="34" charset="0"/>
                <a:ea typeface="Menlo" pitchFamily="34" charset="-122"/>
                <a:cs typeface="Menlo" pitchFamily="34" charset="-120"/>
              </a:rPr>
              <a:t>make casebook skeleton scenarios/pricing-demo</a:t>
            </a:r>
            <a:endParaRPr lang="en-US" sz="1100" dirty="0"/>
          </a:p>
          <a:p>
            <a:pPr indent="0" marL="0">
              <a:spcAft>
                <a:spcPts val="100"/>
              </a:spcAft>
              <a:buNone/>
            </a:pPr>
            <a:r>
              <a:rPr lang="en-US" sz="1100" dirty="0">
                <a:solidFill>
                  <a:srgbClr val="FFFFFF"/>
                </a:solidFill>
                <a:latin typeface="Menlo" pitchFamily="34" charset="0"/>
                <a:ea typeface="Menlo" pitchFamily="34" charset="-122"/>
                <a:cs typeface="Menlo" pitchFamily="34" charset="-120"/>
              </a:rPr>
              <a:t>scenarios/pricing-demo/pricing-demo.spec.ts  created</a:t>
            </a:r>
            <a:endParaRPr lang="en-US" sz="1100" dirty="0"/>
          </a:p>
          <a:p>
            <a:pPr indent="0" marL="0">
              <a:spcAft>
                <a:spcPts val="600"/>
              </a:spcAft>
              <a:buNone/>
            </a:pPr>
            <a:r>
              <a:rPr lang="en-US" sz="1100" b="1" dirty="0">
                <a:solidFill>
                  <a:srgbClr val="4CC078"/>
                </a:solidFill>
                <a:latin typeface="Menlo" pitchFamily="34" charset="0"/>
                <a:ea typeface="Menlo" pitchFamily="34" charset="-122"/>
                <a:cs typeface="Menlo" pitchFamily="34" charset="-120"/>
              </a:rPr>
              <a:t>  + All four plans are offered</a:t>
            </a:r>
            <a:endParaRPr lang="en-US" sz="1100" dirty="0"/>
          </a:p>
          <a:p>
            <a:pPr indent="0" marL="0">
              <a:spcAft>
                <a:spcPts val="200"/>
              </a:spcAft>
              <a:buNone/>
            </a:pPr>
            <a:r>
              <a:rPr lang="en-US" sz="1100" dirty="0">
                <a:solidFill>
                  <a:srgbClr val="A9B7CC"/>
                </a:solidFill>
                <a:latin typeface="Menlo" pitchFamily="34" charset="0"/>
                <a:ea typeface="Menlo" pitchFamily="34" charset="-122"/>
                <a:cs typeface="Menlo" pitchFamily="34" charset="-120"/>
              </a:rPr>
              <a:t># an empty test.fixme, ready to be filled in</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Commands you’ll use</a:t>
            </a:r>
            <a:endParaRPr lang="en-US" sz="3400" dirty="0"/>
          </a:p>
        </p:txBody>
      </p:sp>
      <p:sp>
        <p:nvSpPr>
          <p:cNvPr id="3" name="text-282"/>
          <p:cNvSpPr txBox="1"/>
          <p:nvPr/>
        </p:nvSpPr>
        <p:spPr>
          <a:xfrm>
            <a:off x="1600200" y="1325880"/>
            <a:ext cx="3108960" cy="274320"/>
          </a:xfrm>
          <a:prstGeom prst="rect">
            <a:avLst/>
          </a:prstGeom>
          <a:noFill/>
          <a:ln/>
        </p:spPr>
        <p:txBody>
          <a:bodyPr wrap="square" lIns="0" tIns="0" rIns="0" bIns="0" rtlCol="0" anchor="ctr"/>
          <a:lstStyle/>
          <a:p>
            <a:pPr indent="0" marL="0">
              <a:buNone/>
            </a:pPr>
            <a:r>
              <a:rPr lang="en-US" sz="1100" b="1" spc="150" kern="0" dirty="0">
                <a:solidFill>
                  <a:schemeClr val="tx2"/>
                </a:solidFill>
              </a:rPr>
              <a:t>COMMAND</a:t>
            </a:r>
            <a:endParaRPr lang="en-US" sz="1100" dirty="0"/>
          </a:p>
        </p:txBody>
      </p:sp>
      <p:sp>
        <p:nvSpPr>
          <p:cNvPr id="4" name="text-283"/>
          <p:cNvSpPr txBox="1"/>
          <p:nvPr/>
        </p:nvSpPr>
        <p:spPr>
          <a:xfrm>
            <a:off x="4846320" y="1325880"/>
            <a:ext cx="2926080" cy="274320"/>
          </a:xfrm>
          <a:prstGeom prst="rect">
            <a:avLst/>
          </a:prstGeom>
          <a:noFill/>
          <a:ln/>
        </p:spPr>
        <p:txBody>
          <a:bodyPr wrap="square" lIns="0" tIns="0" rIns="0" bIns="0" rtlCol="0" anchor="ctr"/>
          <a:lstStyle/>
          <a:p>
            <a:pPr indent="0" marL="0">
              <a:buNone/>
            </a:pPr>
            <a:r>
              <a:rPr lang="en-US" sz="1100" b="1" spc="150" kern="0" dirty="0">
                <a:solidFill>
                  <a:schemeClr val="tx2"/>
                </a:solidFill>
              </a:rPr>
              <a:t>WHAT IT DOES</a:t>
            </a:r>
            <a:endParaRPr lang="en-US" sz="1100" dirty="0"/>
          </a:p>
        </p:txBody>
      </p:sp>
      <p:sp>
        <p:nvSpPr>
          <p:cNvPr id="5" name="text-284"/>
          <p:cNvSpPr txBox="1"/>
          <p:nvPr/>
        </p:nvSpPr>
        <p:spPr>
          <a:xfrm>
            <a:off x="7818120" y="1325880"/>
            <a:ext cx="3749040" cy="274320"/>
          </a:xfrm>
          <a:prstGeom prst="rect">
            <a:avLst/>
          </a:prstGeom>
          <a:noFill/>
          <a:ln/>
        </p:spPr>
        <p:txBody>
          <a:bodyPr wrap="square" lIns="0" tIns="0" rIns="0" bIns="0" rtlCol="0" anchor="ctr"/>
          <a:lstStyle/>
          <a:p>
            <a:pPr indent="0" marL="0">
              <a:buNone/>
            </a:pPr>
            <a:r>
              <a:rPr lang="en-US" sz="1100" b="1" spc="150" kern="0" dirty="0">
                <a:solidFill>
                  <a:schemeClr val="tx2"/>
                </a:solidFill>
              </a:rPr>
              <a:t>EXAMPLE</a:t>
            </a:r>
            <a:endParaRPr lang="en-US" sz="1100" dirty="0"/>
          </a:p>
        </p:txBody>
      </p:sp>
      <p:sp>
        <p:nvSpPr>
          <p:cNvPr id="6" name="text-285"/>
          <p:cNvSpPr txBox="1"/>
          <p:nvPr/>
        </p:nvSpPr>
        <p:spPr>
          <a:xfrm>
            <a:off x="548640" y="1691640"/>
            <a:ext cx="960120" cy="374904"/>
          </a:xfrm>
          <a:prstGeom prst="rect">
            <a:avLst/>
          </a:prstGeom>
          <a:noFill/>
          <a:ln/>
        </p:spPr>
        <p:txBody>
          <a:bodyPr wrap="square" lIns="0" tIns="0" rIns="0" bIns="0" rtlCol="0" anchor="ctr"/>
          <a:lstStyle/>
          <a:p>
            <a:pPr indent="0" marL="0">
              <a:buNone/>
            </a:pPr>
            <a:r>
              <a:rPr lang="en-US" sz="1100" b="1" spc="150" kern="0" dirty="0">
                <a:solidFill>
                  <a:schemeClr val="accent1"/>
                </a:solidFill>
              </a:rPr>
              <a:t>WRITE</a:t>
            </a:r>
            <a:endParaRPr lang="en-US" sz="1100" dirty="0"/>
          </a:p>
        </p:txBody>
      </p:sp>
      <p:sp>
        <p:nvSpPr>
          <p:cNvPr id="7" name="text-286"/>
          <p:cNvSpPr txBox="1"/>
          <p:nvPr/>
        </p:nvSpPr>
        <p:spPr>
          <a:xfrm>
            <a:off x="1600200" y="1691640"/>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scenario "&lt;title&gt;"</a:t>
            </a:r>
            <a:endParaRPr lang="en-US" sz="1400" dirty="0"/>
          </a:p>
        </p:txBody>
      </p:sp>
      <p:sp>
        <p:nvSpPr>
          <p:cNvPr id="8" name="text-287"/>
          <p:cNvSpPr txBox="1"/>
          <p:nvPr/>
        </p:nvSpPr>
        <p:spPr>
          <a:xfrm>
            <a:off x="4846320" y="1691640"/>
            <a:ext cx="2926080" cy="374904"/>
          </a:xfrm>
          <a:prstGeom prst="rect">
            <a:avLst/>
          </a:prstGeom>
          <a:noFill/>
          <a:ln/>
        </p:spPr>
        <p:txBody>
          <a:bodyPr wrap="square" lIns="0" tIns="0" rIns="0" bIns="0" rtlCol="0" anchor="ctr"/>
          <a:lstStyle/>
          <a:p>
            <a:pPr indent="0" marL="0">
              <a:buNone/>
            </a:pPr>
            <a:r>
              <a:rPr lang="en-US" sz="1400" dirty="0">
                <a:solidFill>
                  <a:schemeClr val="tx1"/>
                </a:solidFill>
              </a:rPr>
              <a:t>Create a starter scenario.md</a:t>
            </a:r>
            <a:endParaRPr lang="en-US" sz="1400" dirty="0"/>
          </a:p>
        </p:txBody>
      </p:sp>
      <p:sp>
        <p:nvSpPr>
          <p:cNvPr id="9" name="card-288"/>
          <p:cNvSpPr/>
          <p:nvPr/>
        </p:nvSpPr>
        <p:spPr>
          <a:xfrm>
            <a:off x="7818120" y="1728216"/>
            <a:ext cx="3822192" cy="301752"/>
          </a:xfrm>
          <a:prstGeom prst="roundRect">
            <a:avLst>
              <a:gd name="adj" fmla="val 18182"/>
            </a:avLst>
          </a:prstGeom>
          <a:solidFill>
            <a:schemeClr val="bg2"/>
          </a:solidFill>
          <a:ln/>
        </p:spPr>
      </p:sp>
      <p:sp>
        <p:nvSpPr>
          <p:cNvPr id="10" name="text-289"/>
          <p:cNvSpPr txBox="1"/>
          <p:nvPr/>
        </p:nvSpPr>
        <p:spPr>
          <a:xfrm>
            <a:off x="7927848" y="1728216"/>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scenario "pricing demo"</a:t>
            </a:r>
            <a:endParaRPr lang="en-US" sz="1200" dirty="0"/>
          </a:p>
        </p:txBody>
      </p:sp>
      <p:sp>
        <p:nvSpPr>
          <p:cNvPr id="11" name="text-290"/>
          <p:cNvSpPr txBox="1"/>
          <p:nvPr/>
        </p:nvSpPr>
        <p:spPr>
          <a:xfrm>
            <a:off x="1600200" y="2121408"/>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casebook &lt;path&gt;</a:t>
            </a:r>
            <a:endParaRPr lang="en-US" sz="1400" dirty="0"/>
          </a:p>
        </p:txBody>
      </p:sp>
      <p:sp>
        <p:nvSpPr>
          <p:cNvPr id="12" name="text-291"/>
          <p:cNvSpPr txBox="1"/>
          <p:nvPr/>
        </p:nvSpPr>
        <p:spPr>
          <a:xfrm>
            <a:off x="4846320" y="2121408"/>
            <a:ext cx="2926080" cy="374904"/>
          </a:xfrm>
          <a:prstGeom prst="rect">
            <a:avLst/>
          </a:prstGeom>
          <a:noFill/>
          <a:ln/>
        </p:spPr>
        <p:txBody>
          <a:bodyPr wrap="square" lIns="0" tIns="0" rIns="0" bIns="0" rtlCol="0" anchor="ctr"/>
          <a:lstStyle/>
          <a:p>
            <a:pPr indent="0" marL="0">
              <a:buNone/>
            </a:pPr>
            <a:r>
              <a:rPr lang="en-US" sz="1400" dirty="0">
                <a:solidFill>
                  <a:schemeClr val="tx1"/>
                </a:solidFill>
              </a:rPr>
              <a:t>Check scenarios are well formed</a:t>
            </a:r>
            <a:endParaRPr lang="en-US" sz="1400" dirty="0"/>
          </a:p>
        </p:txBody>
      </p:sp>
      <p:sp>
        <p:nvSpPr>
          <p:cNvPr id="13" name="card-292"/>
          <p:cNvSpPr/>
          <p:nvPr/>
        </p:nvSpPr>
        <p:spPr>
          <a:xfrm>
            <a:off x="7818120" y="2157984"/>
            <a:ext cx="3822192" cy="301752"/>
          </a:xfrm>
          <a:prstGeom prst="roundRect">
            <a:avLst>
              <a:gd name="adj" fmla="val 18182"/>
            </a:avLst>
          </a:prstGeom>
          <a:solidFill>
            <a:schemeClr val="bg2"/>
          </a:solidFill>
          <a:ln/>
        </p:spPr>
      </p:sp>
      <p:sp>
        <p:nvSpPr>
          <p:cNvPr id="14" name="text-293"/>
          <p:cNvSpPr txBox="1"/>
          <p:nvPr/>
        </p:nvSpPr>
        <p:spPr>
          <a:xfrm>
            <a:off x="7927848" y="2157984"/>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casebook scenarios/site/pricing</a:t>
            </a:r>
            <a:endParaRPr lang="en-US" sz="1200" dirty="0"/>
          </a:p>
        </p:txBody>
      </p:sp>
      <p:sp>
        <p:nvSpPr>
          <p:cNvPr id="15" name="link-294"/>
          <p:cNvSpPr/>
          <p:nvPr/>
        </p:nvSpPr>
        <p:spPr>
          <a:xfrm>
            <a:off x="548640" y="2523744"/>
            <a:ext cx="11091672" cy="0"/>
          </a:xfrm>
          <a:prstGeom prst="line">
            <a:avLst/>
          </a:prstGeom>
          <a:noFill/>
          <a:ln w="9525">
            <a:solidFill>
              <a:srgbClr val="DDE3EB"/>
            </a:solidFill>
            <a:prstDash val="solid"/>
          </a:ln>
        </p:spPr>
      </p:sp>
      <p:sp>
        <p:nvSpPr>
          <p:cNvPr id="16" name="text-295"/>
          <p:cNvSpPr txBox="1"/>
          <p:nvPr/>
        </p:nvSpPr>
        <p:spPr>
          <a:xfrm>
            <a:off x="548640" y="2551176"/>
            <a:ext cx="960120" cy="374904"/>
          </a:xfrm>
          <a:prstGeom prst="rect">
            <a:avLst/>
          </a:prstGeom>
          <a:noFill/>
          <a:ln/>
        </p:spPr>
        <p:txBody>
          <a:bodyPr wrap="square" lIns="0" tIns="0" rIns="0" bIns="0" rtlCol="0" anchor="ctr"/>
          <a:lstStyle/>
          <a:p>
            <a:pPr indent="0" marL="0">
              <a:buNone/>
            </a:pPr>
            <a:r>
              <a:rPr lang="en-US" sz="1100" b="1" spc="150" kern="0" dirty="0">
                <a:solidFill>
                  <a:schemeClr val="accent1"/>
                </a:solidFill>
              </a:rPr>
              <a:t>RUN</a:t>
            </a:r>
            <a:endParaRPr lang="en-US" sz="1100" dirty="0"/>
          </a:p>
        </p:txBody>
      </p:sp>
      <p:sp>
        <p:nvSpPr>
          <p:cNvPr id="17" name="text-296"/>
          <p:cNvSpPr txBox="1"/>
          <p:nvPr/>
        </p:nvSpPr>
        <p:spPr>
          <a:xfrm>
            <a:off x="1600200" y="2551176"/>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test &lt;path&gt;</a:t>
            </a:r>
            <a:endParaRPr lang="en-US" sz="1400" dirty="0"/>
          </a:p>
        </p:txBody>
      </p:sp>
      <p:sp>
        <p:nvSpPr>
          <p:cNvPr id="18" name="text-297"/>
          <p:cNvSpPr txBox="1"/>
          <p:nvPr/>
        </p:nvSpPr>
        <p:spPr>
          <a:xfrm>
            <a:off x="4846320" y="2551176"/>
            <a:ext cx="2926080" cy="374904"/>
          </a:xfrm>
          <a:prstGeom prst="rect">
            <a:avLst/>
          </a:prstGeom>
          <a:noFill/>
          <a:ln/>
        </p:spPr>
        <p:txBody>
          <a:bodyPr wrap="square" lIns="0" tIns="0" rIns="0" bIns="0" rtlCol="0" anchor="ctr"/>
          <a:lstStyle/>
          <a:p>
            <a:pPr indent="0" marL="0">
              <a:buNone/>
            </a:pPr>
            <a:r>
              <a:rPr lang="en-US" sz="1400" dirty="0">
                <a:solidFill>
                  <a:schemeClr val="tx1"/>
                </a:solidFill>
              </a:rPr>
              <a:t>Run tests on staging</a:t>
            </a:r>
            <a:endParaRPr lang="en-US" sz="1400" dirty="0"/>
          </a:p>
        </p:txBody>
      </p:sp>
      <p:sp>
        <p:nvSpPr>
          <p:cNvPr id="19" name="card-298"/>
          <p:cNvSpPr/>
          <p:nvPr/>
        </p:nvSpPr>
        <p:spPr>
          <a:xfrm>
            <a:off x="7818120" y="2587752"/>
            <a:ext cx="3822192" cy="301752"/>
          </a:xfrm>
          <a:prstGeom prst="roundRect">
            <a:avLst>
              <a:gd name="adj" fmla="val 18182"/>
            </a:avLst>
          </a:prstGeom>
          <a:solidFill>
            <a:schemeClr val="bg2"/>
          </a:solidFill>
          <a:ln/>
        </p:spPr>
      </p:sp>
      <p:sp>
        <p:nvSpPr>
          <p:cNvPr id="20" name="text-299"/>
          <p:cNvSpPr txBox="1"/>
          <p:nvPr/>
        </p:nvSpPr>
        <p:spPr>
          <a:xfrm>
            <a:off x="7927848" y="2587752"/>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test scenarios/site/pricing</a:t>
            </a:r>
            <a:endParaRPr lang="en-US" sz="1200" dirty="0"/>
          </a:p>
        </p:txBody>
      </p:sp>
      <p:sp>
        <p:nvSpPr>
          <p:cNvPr id="21" name="text-300"/>
          <p:cNvSpPr txBox="1"/>
          <p:nvPr/>
        </p:nvSpPr>
        <p:spPr>
          <a:xfrm>
            <a:off x="1600200" y="2980944"/>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test -- --grep &lt;tag&gt;</a:t>
            </a:r>
            <a:endParaRPr lang="en-US" sz="1400" dirty="0"/>
          </a:p>
        </p:txBody>
      </p:sp>
      <p:sp>
        <p:nvSpPr>
          <p:cNvPr id="22" name="text-301"/>
          <p:cNvSpPr txBox="1"/>
          <p:nvPr/>
        </p:nvSpPr>
        <p:spPr>
          <a:xfrm>
            <a:off x="4846320" y="2980944"/>
            <a:ext cx="2926080" cy="374904"/>
          </a:xfrm>
          <a:prstGeom prst="rect">
            <a:avLst/>
          </a:prstGeom>
          <a:noFill/>
          <a:ln/>
        </p:spPr>
        <p:txBody>
          <a:bodyPr wrap="square" lIns="0" tIns="0" rIns="0" bIns="0" rtlCol="0" anchor="ctr"/>
          <a:lstStyle/>
          <a:p>
            <a:pPr indent="0" marL="0">
              <a:buNone/>
            </a:pPr>
            <a:r>
              <a:rPr lang="en-US" sz="1400" dirty="0">
                <a:solidFill>
                  <a:schemeClr val="tx1"/>
                </a:solidFill>
              </a:rPr>
              <a:t>Run one tag only</a:t>
            </a:r>
            <a:endParaRPr lang="en-US" sz="1400" dirty="0"/>
          </a:p>
        </p:txBody>
      </p:sp>
      <p:sp>
        <p:nvSpPr>
          <p:cNvPr id="23" name="card-302"/>
          <p:cNvSpPr/>
          <p:nvPr/>
        </p:nvSpPr>
        <p:spPr>
          <a:xfrm>
            <a:off x="7818120" y="3017520"/>
            <a:ext cx="3822192" cy="301752"/>
          </a:xfrm>
          <a:prstGeom prst="roundRect">
            <a:avLst>
              <a:gd name="adj" fmla="val 18182"/>
            </a:avLst>
          </a:prstGeom>
          <a:solidFill>
            <a:schemeClr val="bg2"/>
          </a:solidFill>
          <a:ln/>
        </p:spPr>
      </p:sp>
      <p:sp>
        <p:nvSpPr>
          <p:cNvPr id="24" name="text-303"/>
          <p:cNvSpPr txBox="1"/>
          <p:nvPr/>
        </p:nvSpPr>
        <p:spPr>
          <a:xfrm>
            <a:off x="7927848" y="3017520"/>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test -- --grep @public</a:t>
            </a:r>
            <a:endParaRPr lang="en-US" sz="1200" dirty="0"/>
          </a:p>
        </p:txBody>
      </p:sp>
      <p:sp>
        <p:nvSpPr>
          <p:cNvPr id="25" name="link-304"/>
          <p:cNvSpPr/>
          <p:nvPr/>
        </p:nvSpPr>
        <p:spPr>
          <a:xfrm>
            <a:off x="548640" y="3383280"/>
            <a:ext cx="11091672" cy="0"/>
          </a:xfrm>
          <a:prstGeom prst="line">
            <a:avLst/>
          </a:prstGeom>
          <a:noFill/>
          <a:ln w="9525">
            <a:solidFill>
              <a:srgbClr val="DDE3EB"/>
            </a:solidFill>
            <a:prstDash val="solid"/>
          </a:ln>
        </p:spPr>
      </p:sp>
      <p:sp>
        <p:nvSpPr>
          <p:cNvPr id="26" name="text-305"/>
          <p:cNvSpPr txBox="1"/>
          <p:nvPr/>
        </p:nvSpPr>
        <p:spPr>
          <a:xfrm>
            <a:off x="548640" y="3410712"/>
            <a:ext cx="960120" cy="374904"/>
          </a:xfrm>
          <a:prstGeom prst="rect">
            <a:avLst/>
          </a:prstGeom>
          <a:noFill/>
          <a:ln/>
        </p:spPr>
        <p:txBody>
          <a:bodyPr wrap="square" lIns="0" tIns="0" rIns="0" bIns="0" rtlCol="0" anchor="ctr"/>
          <a:lstStyle/>
          <a:p>
            <a:pPr indent="0" marL="0">
              <a:buNone/>
            </a:pPr>
            <a:r>
              <a:rPr lang="en-US" sz="1100" b="1" spc="150" kern="0" dirty="0">
                <a:solidFill>
                  <a:schemeClr val="accent1"/>
                </a:solidFill>
              </a:rPr>
              <a:t>WATCH</a:t>
            </a:r>
            <a:endParaRPr lang="en-US" sz="1100" dirty="0"/>
          </a:p>
        </p:txBody>
      </p:sp>
      <p:sp>
        <p:nvSpPr>
          <p:cNvPr id="27" name="text-306"/>
          <p:cNvSpPr txBox="1"/>
          <p:nvPr/>
        </p:nvSpPr>
        <p:spPr>
          <a:xfrm>
            <a:off x="1600200" y="3410712"/>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test-headed &lt;path&gt;</a:t>
            </a:r>
            <a:endParaRPr lang="en-US" sz="1400" dirty="0"/>
          </a:p>
        </p:txBody>
      </p:sp>
      <p:sp>
        <p:nvSpPr>
          <p:cNvPr id="28" name="text-307"/>
          <p:cNvSpPr txBox="1"/>
          <p:nvPr/>
        </p:nvSpPr>
        <p:spPr>
          <a:xfrm>
            <a:off x="4846320" y="3410712"/>
            <a:ext cx="2926080" cy="374904"/>
          </a:xfrm>
          <a:prstGeom prst="rect">
            <a:avLst/>
          </a:prstGeom>
          <a:noFill/>
          <a:ln/>
        </p:spPr>
        <p:txBody>
          <a:bodyPr wrap="square" lIns="0" tIns="0" rIns="0" bIns="0" rtlCol="0" anchor="ctr"/>
          <a:lstStyle/>
          <a:p>
            <a:pPr indent="0" marL="0">
              <a:buNone/>
            </a:pPr>
            <a:r>
              <a:rPr lang="en-US" sz="1400" dirty="0">
                <a:solidFill>
                  <a:schemeClr val="tx1"/>
                </a:solidFill>
              </a:rPr>
              <a:t>Run with the browser visible</a:t>
            </a:r>
            <a:endParaRPr lang="en-US" sz="1400" dirty="0"/>
          </a:p>
        </p:txBody>
      </p:sp>
      <p:sp>
        <p:nvSpPr>
          <p:cNvPr id="29" name="card-308"/>
          <p:cNvSpPr/>
          <p:nvPr/>
        </p:nvSpPr>
        <p:spPr>
          <a:xfrm>
            <a:off x="7818120" y="3447288"/>
            <a:ext cx="3822192" cy="301752"/>
          </a:xfrm>
          <a:prstGeom prst="roundRect">
            <a:avLst>
              <a:gd name="adj" fmla="val 18182"/>
            </a:avLst>
          </a:prstGeom>
          <a:solidFill>
            <a:schemeClr val="bg2"/>
          </a:solidFill>
          <a:ln/>
        </p:spPr>
      </p:sp>
      <p:sp>
        <p:nvSpPr>
          <p:cNvPr id="30" name="text-309"/>
          <p:cNvSpPr txBox="1"/>
          <p:nvPr/>
        </p:nvSpPr>
        <p:spPr>
          <a:xfrm>
            <a:off x="7927848" y="3447288"/>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test-headed scenarios/site/pricing</a:t>
            </a:r>
            <a:endParaRPr lang="en-US" sz="1200" dirty="0"/>
          </a:p>
        </p:txBody>
      </p:sp>
      <p:sp>
        <p:nvSpPr>
          <p:cNvPr id="31" name="text-310"/>
          <p:cNvSpPr txBox="1"/>
          <p:nvPr/>
        </p:nvSpPr>
        <p:spPr>
          <a:xfrm>
            <a:off x="1600200" y="3840480"/>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test-ui &lt;path&gt;</a:t>
            </a:r>
            <a:endParaRPr lang="en-US" sz="1400" dirty="0"/>
          </a:p>
        </p:txBody>
      </p:sp>
      <p:sp>
        <p:nvSpPr>
          <p:cNvPr id="32" name="text-311"/>
          <p:cNvSpPr txBox="1"/>
          <p:nvPr/>
        </p:nvSpPr>
        <p:spPr>
          <a:xfrm>
            <a:off x="4846320" y="3840480"/>
            <a:ext cx="2926080" cy="374904"/>
          </a:xfrm>
          <a:prstGeom prst="rect">
            <a:avLst/>
          </a:prstGeom>
          <a:noFill/>
          <a:ln/>
        </p:spPr>
        <p:txBody>
          <a:bodyPr wrap="square" lIns="0" tIns="0" rIns="0" bIns="0" rtlCol="0" anchor="ctr"/>
          <a:lstStyle/>
          <a:p>
            <a:pPr indent="0" marL="0">
              <a:buNone/>
            </a:pPr>
            <a:r>
              <a:rPr lang="en-US" sz="1400" dirty="0">
                <a:solidFill>
                  <a:schemeClr val="tx1"/>
                </a:solidFill>
              </a:rPr>
              <a:t>Step through in Playwright’s UI</a:t>
            </a:r>
            <a:endParaRPr lang="en-US" sz="1400" dirty="0"/>
          </a:p>
        </p:txBody>
      </p:sp>
      <p:sp>
        <p:nvSpPr>
          <p:cNvPr id="33" name="card-312"/>
          <p:cNvSpPr/>
          <p:nvPr/>
        </p:nvSpPr>
        <p:spPr>
          <a:xfrm>
            <a:off x="7818120" y="3877056"/>
            <a:ext cx="3822192" cy="301752"/>
          </a:xfrm>
          <a:prstGeom prst="roundRect">
            <a:avLst>
              <a:gd name="adj" fmla="val 18182"/>
            </a:avLst>
          </a:prstGeom>
          <a:solidFill>
            <a:schemeClr val="bg2"/>
          </a:solidFill>
          <a:ln/>
        </p:spPr>
      </p:sp>
      <p:sp>
        <p:nvSpPr>
          <p:cNvPr id="34" name="text-313"/>
          <p:cNvSpPr txBox="1"/>
          <p:nvPr/>
        </p:nvSpPr>
        <p:spPr>
          <a:xfrm>
            <a:off x="7927848" y="3877056"/>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test-ui scenarios/site/pricing</a:t>
            </a:r>
            <a:endParaRPr lang="en-US" sz="1200" dirty="0"/>
          </a:p>
        </p:txBody>
      </p:sp>
      <p:sp>
        <p:nvSpPr>
          <p:cNvPr id="35" name="link-314"/>
          <p:cNvSpPr/>
          <p:nvPr/>
        </p:nvSpPr>
        <p:spPr>
          <a:xfrm>
            <a:off x="548640" y="4242816"/>
            <a:ext cx="11091672" cy="0"/>
          </a:xfrm>
          <a:prstGeom prst="line">
            <a:avLst/>
          </a:prstGeom>
          <a:noFill/>
          <a:ln w="9525">
            <a:solidFill>
              <a:srgbClr val="DDE3EB"/>
            </a:solidFill>
            <a:prstDash val="solid"/>
          </a:ln>
        </p:spPr>
      </p:sp>
      <p:sp>
        <p:nvSpPr>
          <p:cNvPr id="36" name="text-315"/>
          <p:cNvSpPr txBox="1"/>
          <p:nvPr/>
        </p:nvSpPr>
        <p:spPr>
          <a:xfrm>
            <a:off x="548640" y="4270248"/>
            <a:ext cx="960120" cy="374904"/>
          </a:xfrm>
          <a:prstGeom prst="rect">
            <a:avLst/>
          </a:prstGeom>
          <a:noFill/>
          <a:ln/>
        </p:spPr>
        <p:txBody>
          <a:bodyPr wrap="square" lIns="0" tIns="0" rIns="0" bIns="0" rtlCol="0" anchor="ctr"/>
          <a:lstStyle/>
          <a:p>
            <a:pPr indent="0" marL="0">
              <a:buNone/>
            </a:pPr>
            <a:r>
              <a:rPr lang="en-US" sz="1100" b="1" spc="150" kern="0" dirty="0">
                <a:solidFill>
                  <a:schemeClr val="accent1"/>
                </a:solidFill>
              </a:rPr>
              <a:t>LOOK</a:t>
            </a:r>
            <a:endParaRPr lang="en-US" sz="1100" dirty="0"/>
          </a:p>
        </p:txBody>
      </p:sp>
      <p:sp>
        <p:nvSpPr>
          <p:cNvPr id="37" name="text-316"/>
          <p:cNvSpPr txBox="1"/>
          <p:nvPr/>
        </p:nvSpPr>
        <p:spPr>
          <a:xfrm>
            <a:off x="1600200" y="4270248"/>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report</a:t>
            </a:r>
            <a:endParaRPr lang="en-US" sz="1400" dirty="0"/>
          </a:p>
        </p:txBody>
      </p:sp>
      <p:sp>
        <p:nvSpPr>
          <p:cNvPr id="38" name="text-317"/>
          <p:cNvSpPr txBox="1"/>
          <p:nvPr/>
        </p:nvSpPr>
        <p:spPr>
          <a:xfrm>
            <a:off x="4846320" y="4270248"/>
            <a:ext cx="2926080" cy="374904"/>
          </a:xfrm>
          <a:prstGeom prst="rect">
            <a:avLst/>
          </a:prstGeom>
          <a:noFill/>
          <a:ln/>
        </p:spPr>
        <p:txBody>
          <a:bodyPr wrap="square" lIns="0" tIns="0" rIns="0" bIns="0" rtlCol="0" anchor="ctr"/>
          <a:lstStyle/>
          <a:p>
            <a:pPr indent="0" marL="0">
              <a:buNone/>
            </a:pPr>
            <a:r>
              <a:rPr lang="en-US" sz="1400" dirty="0">
                <a:solidFill>
                  <a:schemeClr val="tx1"/>
                </a:solidFill>
              </a:rPr>
              <a:t>Open the last HTML report</a:t>
            </a:r>
            <a:endParaRPr lang="en-US" sz="1400" dirty="0"/>
          </a:p>
        </p:txBody>
      </p:sp>
      <p:sp>
        <p:nvSpPr>
          <p:cNvPr id="39" name="card-318"/>
          <p:cNvSpPr/>
          <p:nvPr/>
        </p:nvSpPr>
        <p:spPr>
          <a:xfrm>
            <a:off x="7818120" y="4306824"/>
            <a:ext cx="3822192" cy="301752"/>
          </a:xfrm>
          <a:prstGeom prst="roundRect">
            <a:avLst>
              <a:gd name="adj" fmla="val 18182"/>
            </a:avLst>
          </a:prstGeom>
          <a:solidFill>
            <a:schemeClr val="bg2"/>
          </a:solidFill>
          <a:ln/>
        </p:spPr>
      </p:sp>
      <p:sp>
        <p:nvSpPr>
          <p:cNvPr id="40" name="text-319"/>
          <p:cNvSpPr txBox="1"/>
          <p:nvPr/>
        </p:nvSpPr>
        <p:spPr>
          <a:xfrm>
            <a:off x="7927848" y="4306824"/>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test scenarios/site; make report</a:t>
            </a:r>
            <a:endParaRPr lang="en-US" sz="1200" dirty="0"/>
          </a:p>
        </p:txBody>
      </p:sp>
      <p:sp>
        <p:nvSpPr>
          <p:cNvPr id="41" name="link-320"/>
          <p:cNvSpPr/>
          <p:nvPr/>
        </p:nvSpPr>
        <p:spPr>
          <a:xfrm>
            <a:off x="548640" y="4672584"/>
            <a:ext cx="11091672" cy="0"/>
          </a:xfrm>
          <a:prstGeom prst="line">
            <a:avLst/>
          </a:prstGeom>
          <a:noFill/>
          <a:ln w="9525">
            <a:solidFill>
              <a:srgbClr val="DDE3EB"/>
            </a:solidFill>
            <a:prstDash val="solid"/>
          </a:ln>
        </p:spPr>
      </p:sp>
      <p:sp>
        <p:nvSpPr>
          <p:cNvPr id="42" name="text-321"/>
          <p:cNvSpPr txBox="1"/>
          <p:nvPr/>
        </p:nvSpPr>
        <p:spPr>
          <a:xfrm>
            <a:off x="548640" y="4700016"/>
            <a:ext cx="960120" cy="374904"/>
          </a:xfrm>
          <a:prstGeom prst="rect">
            <a:avLst/>
          </a:prstGeom>
          <a:noFill/>
          <a:ln/>
        </p:spPr>
        <p:txBody>
          <a:bodyPr wrap="square" lIns="0" tIns="0" rIns="0" bIns="0" rtlCol="0" anchor="ctr"/>
          <a:lstStyle/>
          <a:p>
            <a:pPr indent="0" marL="0">
              <a:buNone/>
            </a:pPr>
            <a:r>
              <a:rPr lang="en-US" sz="1100" b="1" spc="150" kern="0" dirty="0">
                <a:solidFill>
                  <a:schemeClr val="accent1"/>
                </a:solidFill>
              </a:rPr>
              <a:t>KEEP</a:t>
            </a:r>
            <a:endParaRPr lang="en-US" sz="1100" dirty="0"/>
          </a:p>
        </p:txBody>
      </p:sp>
      <p:sp>
        <p:nvSpPr>
          <p:cNvPr id="43" name="text-322"/>
          <p:cNvSpPr txBox="1"/>
          <p:nvPr/>
        </p:nvSpPr>
        <p:spPr>
          <a:xfrm>
            <a:off x="1600200" y="4700016"/>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check</a:t>
            </a:r>
            <a:endParaRPr lang="en-US" sz="1400" dirty="0"/>
          </a:p>
        </p:txBody>
      </p:sp>
      <p:sp>
        <p:nvSpPr>
          <p:cNvPr id="44" name="text-323"/>
          <p:cNvSpPr txBox="1"/>
          <p:nvPr/>
        </p:nvSpPr>
        <p:spPr>
          <a:xfrm>
            <a:off x="4846320" y="4700016"/>
            <a:ext cx="2926080" cy="374904"/>
          </a:xfrm>
          <a:prstGeom prst="rect">
            <a:avLst/>
          </a:prstGeom>
          <a:noFill/>
          <a:ln/>
        </p:spPr>
        <p:txBody>
          <a:bodyPr wrap="square" lIns="0" tIns="0" rIns="0" bIns="0" rtlCol="0" anchor="ctr"/>
          <a:lstStyle/>
          <a:p>
            <a:pPr indent="0" marL="0">
              <a:buNone/>
            </a:pPr>
            <a:r>
              <a:rPr lang="en-US" sz="1400" dirty="0">
                <a:solidFill>
                  <a:schemeClr val="tx1"/>
                </a:solidFill>
              </a:rPr>
              <a:t>Format, lint, types, unit tests</a:t>
            </a:r>
            <a:endParaRPr lang="en-US" sz="1400" dirty="0"/>
          </a:p>
        </p:txBody>
      </p:sp>
      <p:sp>
        <p:nvSpPr>
          <p:cNvPr id="45" name="card-324"/>
          <p:cNvSpPr/>
          <p:nvPr/>
        </p:nvSpPr>
        <p:spPr>
          <a:xfrm>
            <a:off x="7818120" y="4736592"/>
            <a:ext cx="3822192" cy="301752"/>
          </a:xfrm>
          <a:prstGeom prst="roundRect">
            <a:avLst>
              <a:gd name="adj" fmla="val 18182"/>
            </a:avLst>
          </a:prstGeom>
          <a:solidFill>
            <a:schemeClr val="bg2"/>
          </a:solidFill>
          <a:ln/>
        </p:spPr>
      </p:sp>
      <p:sp>
        <p:nvSpPr>
          <p:cNvPr id="46" name="text-325"/>
          <p:cNvSpPr txBox="1"/>
          <p:nvPr/>
        </p:nvSpPr>
        <p:spPr>
          <a:xfrm>
            <a:off x="7927848" y="4736592"/>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check &amp;&amp; git push</a:t>
            </a:r>
            <a:endParaRPr lang="en-US" sz="1200" dirty="0"/>
          </a:p>
        </p:txBody>
      </p:sp>
      <p:sp>
        <p:nvSpPr>
          <p:cNvPr id="47" name="text-326"/>
          <p:cNvSpPr txBox="1"/>
          <p:nvPr/>
        </p:nvSpPr>
        <p:spPr>
          <a:xfrm>
            <a:off x="1600200" y="5129784"/>
            <a:ext cx="3154680" cy="374904"/>
          </a:xfrm>
          <a:prstGeom prst="rect">
            <a:avLst/>
          </a:prstGeom>
          <a:noFill/>
          <a:ln/>
        </p:spPr>
        <p:txBody>
          <a:bodyPr wrap="square" lIns="0" tIns="0" rIns="0" bIns="0" rtlCol="0" anchor="ctr"/>
          <a:lstStyle/>
          <a:p>
            <a:pPr indent="0" marL="0">
              <a:buNone/>
            </a:pPr>
            <a:r>
              <a:rPr lang="en-US" sz="1400" b="1" dirty="0">
                <a:solidFill>
                  <a:schemeClr val="tx1"/>
                </a:solidFill>
                <a:latin typeface="Menlo" pitchFamily="34" charset="0"/>
                <a:ea typeface="Menlo" pitchFamily="34" charset="-122"/>
                <a:cs typeface="Menlo" pitchFamily="34" charset="-120"/>
              </a:rPr>
              <a:t>make auth</a:t>
            </a:r>
            <a:endParaRPr lang="en-US" sz="1400" dirty="0"/>
          </a:p>
        </p:txBody>
      </p:sp>
      <p:sp>
        <p:nvSpPr>
          <p:cNvPr id="48" name="text-327"/>
          <p:cNvSpPr txBox="1"/>
          <p:nvPr/>
        </p:nvSpPr>
        <p:spPr>
          <a:xfrm>
            <a:off x="4846320" y="5129784"/>
            <a:ext cx="2926080" cy="374904"/>
          </a:xfrm>
          <a:prstGeom prst="rect">
            <a:avLst/>
          </a:prstGeom>
          <a:noFill/>
          <a:ln/>
        </p:spPr>
        <p:txBody>
          <a:bodyPr wrap="square" lIns="0" tIns="0" rIns="0" bIns="0" rtlCol="0" anchor="ctr"/>
          <a:lstStyle/>
          <a:p>
            <a:pPr indent="0" marL="0">
              <a:buNone/>
            </a:pPr>
            <a:r>
              <a:rPr lang="en-US" sz="1400" dirty="0">
                <a:solidFill>
                  <a:schemeClr val="tx1"/>
                </a:solidFill>
              </a:rPr>
              <a:t>Refresh the 60-minute sign-in</a:t>
            </a:r>
            <a:endParaRPr lang="en-US" sz="1400" dirty="0"/>
          </a:p>
        </p:txBody>
      </p:sp>
      <p:sp>
        <p:nvSpPr>
          <p:cNvPr id="49" name="card-328"/>
          <p:cNvSpPr/>
          <p:nvPr/>
        </p:nvSpPr>
        <p:spPr>
          <a:xfrm>
            <a:off x="7818120" y="5166360"/>
            <a:ext cx="3822192" cy="301752"/>
          </a:xfrm>
          <a:prstGeom prst="roundRect">
            <a:avLst>
              <a:gd name="adj" fmla="val 18182"/>
            </a:avLst>
          </a:prstGeom>
          <a:solidFill>
            <a:schemeClr val="bg2"/>
          </a:solidFill>
          <a:ln/>
        </p:spPr>
      </p:sp>
      <p:sp>
        <p:nvSpPr>
          <p:cNvPr id="50" name="text-329"/>
          <p:cNvSpPr txBox="1"/>
          <p:nvPr/>
        </p:nvSpPr>
        <p:spPr>
          <a:xfrm>
            <a:off x="7927848" y="5166360"/>
            <a:ext cx="3657600" cy="301752"/>
          </a:xfrm>
          <a:prstGeom prst="rect">
            <a:avLst/>
          </a:prstGeom>
          <a:noFill/>
          <a:ln/>
        </p:spPr>
        <p:txBody>
          <a:bodyPr wrap="square" lIns="0" tIns="0" rIns="0" bIns="0" rtlCol="0" anchor="ctr"/>
          <a:lstStyle/>
          <a:p>
            <a:pPr indent="0" marL="0">
              <a:buNone/>
            </a:pPr>
            <a:r>
              <a:rPr lang="en-US" sz="1200" dirty="0">
                <a:solidFill>
                  <a:schemeClr val="tx2"/>
                </a:solidFill>
                <a:latin typeface="Menlo" pitchFamily="34" charset="0"/>
                <a:ea typeface="Menlo" pitchFamily="34" charset="-122"/>
                <a:cs typeface="Menlo" pitchFamily="34" charset="-120"/>
              </a:rPr>
              <a:t>make auth   # when you see /app/log-in</a:t>
            </a:r>
            <a:endParaRPr lang="en-US" sz="1200" dirty="0"/>
          </a:p>
        </p:txBody>
      </p:sp>
      <p:sp>
        <p:nvSpPr>
          <p:cNvPr id="51" name="text-330"/>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dirty="0">
                <a:solidFill>
                  <a:schemeClr val="tx2"/>
                </a:solidFill>
              </a:rPr>
              <a:t>Production: prefix any run with </a:t>
            </a:r>
            <a:pPr indent="0" marL="0">
              <a:buNone/>
            </a:pPr>
            <a:r>
              <a:rPr lang="en-US" sz="1300" b="1" dirty="0">
                <a:solidFill>
                  <a:schemeClr val="tx1"/>
                </a:solidFill>
                <a:latin typeface="Menlo" pitchFamily="34" charset="0"/>
                <a:ea typeface="Menlo" pitchFamily="34" charset="-122"/>
                <a:cs typeface="Menlo" pitchFamily="34" charset="-120"/>
              </a:rPr>
              <a:t>E2E_ENV=production</a:t>
            </a:r>
            <a:pPr indent="0" marL="0">
              <a:buNone/>
            </a:pPr>
            <a:r>
              <a:rPr lang="en-US" sz="1300" dirty="0">
                <a:solidFill>
                  <a:schemeClr val="tx2"/>
                </a:solidFill>
              </a:rPr>
              <a:t>. Every make command has a bun run twin; </a:t>
            </a:r>
            <a:pPr indent="0" marL="0">
              <a:buNone/>
            </a:pPr>
            <a:r>
              <a:rPr lang="en-US" sz="1300" b="1" dirty="0">
                <a:solidFill>
                  <a:schemeClr val="tx1"/>
                </a:solidFill>
                <a:latin typeface="Menlo" pitchFamily="34" charset="0"/>
                <a:ea typeface="Menlo" pitchFamily="34" charset="-122"/>
                <a:cs typeface="Menlo" pitchFamily="34" charset="-120"/>
              </a:rPr>
              <a:t>make help</a:t>
            </a:r>
            <a:pPr indent="0" marL="0">
              <a:buNone/>
            </a:pPr>
            <a:r>
              <a:rPr lang="en-US" sz="1300" dirty="0">
                <a:solidFill>
                  <a:schemeClr val="tx2"/>
                </a:solidFill>
              </a:rPr>
              <a:t> lists them all.</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Two AI commands do the coding</a:t>
            </a:r>
            <a:endParaRPr lang="en-US" sz="3400" dirty="0"/>
          </a:p>
        </p:txBody>
      </p:sp>
      <p:sp>
        <p:nvSpPr>
          <p:cNvPr id="3" name="card-331"/>
          <p:cNvSpPr/>
          <p:nvPr/>
        </p:nvSpPr>
        <p:spPr>
          <a:xfrm>
            <a:off x="548640" y="1325880"/>
            <a:ext cx="5454396" cy="3063240"/>
          </a:xfrm>
          <a:prstGeom prst="roundRect">
            <a:avLst>
              <a:gd name="adj" fmla="val 3582"/>
            </a:avLst>
          </a:prstGeom>
          <a:solidFill>
            <a:schemeClr val="tx1"/>
          </a:solidFill>
          <a:ln/>
        </p:spPr>
      </p:sp>
      <p:sp>
        <p:nvSpPr>
          <p:cNvPr id="4" name="text-332"/>
          <p:cNvSpPr txBox="1"/>
          <p:nvPr/>
        </p:nvSpPr>
        <p:spPr>
          <a:xfrm>
            <a:off x="868680" y="1572768"/>
            <a:ext cx="4846320" cy="457200"/>
          </a:xfrm>
          <a:prstGeom prst="rect">
            <a:avLst/>
          </a:prstGeom>
          <a:noFill/>
          <a:ln/>
        </p:spPr>
        <p:txBody>
          <a:bodyPr wrap="square" lIns="0" tIns="0" rIns="0" bIns="0" rtlCol="0" anchor="ctr"/>
          <a:lstStyle/>
          <a:p>
            <a:pPr indent="0" marL="0">
              <a:buNone/>
            </a:pPr>
            <a:r>
              <a:rPr lang="en-US" sz="2000" b="1" dirty="0">
                <a:solidFill>
                  <a:schemeClr val="accent2"/>
                </a:solidFill>
                <a:latin typeface="Menlo" pitchFamily="34" charset="0"/>
                <a:ea typeface="Menlo" pitchFamily="34" charset="-122"/>
                <a:cs typeface="Menlo" pitchFamily="34" charset="-120"/>
              </a:rPr>
              <a:t>/e2e-generate &lt;path&gt;</a:t>
            </a:r>
            <a:endParaRPr lang="en-US" sz="2000" dirty="0"/>
          </a:p>
        </p:txBody>
      </p:sp>
      <p:sp>
        <p:nvSpPr>
          <p:cNvPr id="5" name="text-333"/>
          <p:cNvSpPr txBox="1"/>
          <p:nvPr/>
        </p:nvSpPr>
        <p:spPr>
          <a:xfrm>
            <a:off x="868680" y="21488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bg1"/>
                </a:solidFill>
              </a:rPr>
              <a:t>checks the file, writes one empty test per case</a:t>
            </a:r>
            <a:endParaRPr lang="en-US" sz="1500" dirty="0"/>
          </a:p>
          <a:p>
            <a:pPr marL="342900" indent="-342900">
              <a:spcAft>
                <a:spcPts val="500"/>
              </a:spcAft>
              <a:buSzPct val="100000"/>
              <a:buChar char="•"/>
            </a:pPr>
            <a:r>
              <a:rPr lang="en-US" sz="1500" dirty="0">
                <a:solidFill>
                  <a:schemeClr val="bg1"/>
                </a:solidFill>
              </a:rPr>
              <a:t>opens the real app with the Playwright CLI</a:t>
            </a:r>
            <a:endParaRPr lang="en-US" sz="1500" dirty="0"/>
          </a:p>
          <a:p>
            <a:pPr marL="342900" indent="-342900">
              <a:spcAft>
                <a:spcPts val="500"/>
              </a:spcAft>
              <a:buSzPct val="100000"/>
              <a:buChar char="•"/>
            </a:pPr>
            <a:r>
              <a:rPr lang="en-US" sz="1500" dirty="0">
                <a:solidFill>
                  <a:schemeClr val="bg1"/>
                </a:solidFill>
              </a:rPr>
              <a:t>fills each test in, runs it until it passes twice</a:t>
            </a:r>
            <a:endParaRPr lang="en-US" sz="1500" dirty="0"/>
          </a:p>
        </p:txBody>
      </p:sp>
      <p:sp>
        <p:nvSpPr>
          <p:cNvPr id="6" name="text-334"/>
          <p:cNvSpPr txBox="1"/>
          <p:nvPr/>
        </p:nvSpPr>
        <p:spPr>
          <a:xfrm>
            <a:off x="868680" y="3429000"/>
            <a:ext cx="2743200" cy="228600"/>
          </a:xfrm>
          <a:prstGeom prst="rect">
            <a:avLst/>
          </a:prstGeom>
          <a:noFill/>
          <a:ln/>
        </p:spPr>
        <p:txBody>
          <a:bodyPr wrap="square" lIns="0" tIns="0" rIns="0" bIns="0" rtlCol="0" anchor="ctr"/>
          <a:lstStyle/>
          <a:p>
            <a:pPr indent="0" marL="0">
              <a:buNone/>
            </a:pPr>
            <a:r>
              <a:rPr lang="en-US" sz="1000" b="1" spc="150" kern="0" dirty="0">
                <a:solidFill>
                  <a:srgbClr val="A9B7CC"/>
                </a:solidFill>
              </a:rPr>
              <a:t>EXAMPLE</a:t>
            </a:r>
            <a:endParaRPr lang="en-US" sz="1000" dirty="0"/>
          </a:p>
        </p:txBody>
      </p:sp>
      <p:sp>
        <p:nvSpPr>
          <p:cNvPr id="7" name="card-335"/>
          <p:cNvSpPr/>
          <p:nvPr/>
        </p:nvSpPr>
        <p:spPr>
          <a:xfrm>
            <a:off x="868680" y="3703320"/>
            <a:ext cx="4818888" cy="411480"/>
          </a:xfrm>
          <a:prstGeom prst="roundRect">
            <a:avLst>
              <a:gd name="adj" fmla="val 13333"/>
            </a:avLst>
          </a:prstGeom>
          <a:solidFill>
            <a:srgbClr val="1B3150"/>
          </a:solidFill>
          <a:ln/>
        </p:spPr>
      </p:sp>
      <p:sp>
        <p:nvSpPr>
          <p:cNvPr id="8" name="text-336"/>
          <p:cNvSpPr txBox="1"/>
          <p:nvPr/>
        </p:nvSpPr>
        <p:spPr>
          <a:xfrm>
            <a:off x="1005840" y="3703320"/>
            <a:ext cx="4572000" cy="411480"/>
          </a:xfrm>
          <a:prstGeom prst="rect">
            <a:avLst/>
          </a:prstGeom>
          <a:noFill/>
          <a:ln/>
        </p:spPr>
        <p:txBody>
          <a:bodyPr wrap="square" lIns="0" tIns="0" rIns="0" bIns="0" rtlCol="0" anchor="ctr"/>
          <a:lstStyle/>
          <a:p>
            <a:pPr indent="0" marL="0">
              <a:buNone/>
            </a:pPr>
            <a:r>
              <a:rPr lang="en-US" sz="1300" b="1" dirty="0">
                <a:solidFill>
                  <a:srgbClr val="FFFFFF"/>
                </a:solidFill>
                <a:latin typeface="Menlo" pitchFamily="34" charset="0"/>
                <a:ea typeface="Menlo" pitchFamily="34" charset="-122"/>
                <a:cs typeface="Menlo" pitchFamily="34" charset="-120"/>
              </a:rPr>
              <a:t>/e2e-generate scenarios/pricing-demo</a:t>
            </a:r>
            <a:endParaRPr lang="en-US" sz="1300" dirty="0"/>
          </a:p>
        </p:txBody>
      </p:sp>
      <p:sp>
        <p:nvSpPr>
          <p:cNvPr id="9" name="card-337"/>
          <p:cNvSpPr/>
          <p:nvPr/>
        </p:nvSpPr>
        <p:spPr>
          <a:xfrm>
            <a:off x="6185916" y="1325880"/>
            <a:ext cx="5454396" cy="3063240"/>
          </a:xfrm>
          <a:prstGeom prst="roundRect">
            <a:avLst>
              <a:gd name="adj" fmla="val 3582"/>
            </a:avLst>
          </a:prstGeom>
          <a:solidFill>
            <a:schemeClr val="bg2"/>
          </a:solidFill>
          <a:ln/>
        </p:spPr>
      </p:sp>
      <p:sp>
        <p:nvSpPr>
          <p:cNvPr id="10" name="text-338"/>
          <p:cNvSpPr txBox="1"/>
          <p:nvPr/>
        </p:nvSpPr>
        <p:spPr>
          <a:xfrm>
            <a:off x="6505956" y="1572768"/>
            <a:ext cx="4846320" cy="457200"/>
          </a:xfrm>
          <a:prstGeom prst="rect">
            <a:avLst/>
          </a:prstGeom>
          <a:noFill/>
          <a:ln/>
        </p:spPr>
        <p:txBody>
          <a:bodyPr wrap="square" lIns="0" tIns="0" rIns="0" bIns="0" rtlCol="0" anchor="ctr"/>
          <a:lstStyle/>
          <a:p>
            <a:pPr indent="0" marL="0">
              <a:buNone/>
            </a:pPr>
            <a:r>
              <a:rPr lang="en-US" sz="2000" b="1" dirty="0">
                <a:solidFill>
                  <a:schemeClr val="accent1"/>
                </a:solidFill>
                <a:latin typeface="Menlo" pitchFamily="34" charset="0"/>
                <a:ea typeface="Menlo" pitchFamily="34" charset="-122"/>
                <a:cs typeface="Menlo" pitchFamily="34" charset="-120"/>
              </a:rPr>
              <a:t>/e2e-heal &lt;path&gt;</a:t>
            </a:r>
            <a:endParaRPr lang="en-US" sz="2000" dirty="0"/>
          </a:p>
        </p:txBody>
      </p:sp>
      <p:sp>
        <p:nvSpPr>
          <p:cNvPr id="11" name="text-339"/>
          <p:cNvSpPr txBox="1"/>
          <p:nvPr/>
        </p:nvSpPr>
        <p:spPr>
          <a:xfrm>
            <a:off x="6505956" y="2148840"/>
            <a:ext cx="4937760" cy="118872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1"/>
                </a:solidFill>
              </a:rPr>
              <a:t>adds, renames or deletes tests to match the cases</a:t>
            </a:r>
            <a:endParaRPr lang="en-US" sz="1500" dirty="0"/>
          </a:p>
          <a:p>
            <a:pPr marL="342900" indent="-342900">
              <a:spcAft>
                <a:spcPts val="500"/>
              </a:spcAft>
              <a:buSzPct val="100000"/>
              <a:buChar char="•"/>
            </a:pPr>
            <a:r>
              <a:rPr lang="en-US" sz="1500" dirty="0">
                <a:solidFill>
                  <a:schemeClr val="tx1"/>
                </a:solidFill>
              </a:rPr>
              <a:t>repairs how a test finds things on the page</a:t>
            </a:r>
            <a:endParaRPr lang="en-US" sz="1500" dirty="0"/>
          </a:p>
          <a:p>
            <a:pPr marL="342900" indent="-342900">
              <a:spcAft>
                <a:spcPts val="500"/>
              </a:spcAft>
              <a:buSzPct val="100000"/>
              <a:buChar char="•"/>
            </a:pPr>
            <a:r>
              <a:rPr lang="en-US" sz="1500" dirty="0">
                <a:solidFill>
                  <a:schemeClr val="tx1"/>
                </a:solidFill>
              </a:rPr>
              <a:t>never changes what a test expects</a:t>
            </a:r>
            <a:endParaRPr lang="en-US" sz="1500" dirty="0"/>
          </a:p>
        </p:txBody>
      </p:sp>
      <p:sp>
        <p:nvSpPr>
          <p:cNvPr id="12" name="text-340"/>
          <p:cNvSpPr txBox="1"/>
          <p:nvPr/>
        </p:nvSpPr>
        <p:spPr>
          <a:xfrm>
            <a:off x="6505956" y="3429000"/>
            <a:ext cx="2743200" cy="228600"/>
          </a:xfrm>
          <a:prstGeom prst="rect">
            <a:avLst/>
          </a:prstGeom>
          <a:noFill/>
          <a:ln/>
        </p:spPr>
        <p:txBody>
          <a:bodyPr wrap="square" lIns="0" tIns="0" rIns="0" bIns="0" rtlCol="0" anchor="ctr"/>
          <a:lstStyle/>
          <a:p>
            <a:pPr indent="0" marL="0">
              <a:buNone/>
            </a:pPr>
            <a:r>
              <a:rPr lang="en-US" sz="1000" b="1" spc="150" kern="0" dirty="0">
                <a:solidFill>
                  <a:srgbClr val="4A5870"/>
                </a:solidFill>
              </a:rPr>
              <a:t>EXAMPLE</a:t>
            </a:r>
            <a:endParaRPr lang="en-US" sz="1000" dirty="0"/>
          </a:p>
        </p:txBody>
      </p:sp>
      <p:sp>
        <p:nvSpPr>
          <p:cNvPr id="13" name="card-341"/>
          <p:cNvSpPr/>
          <p:nvPr/>
        </p:nvSpPr>
        <p:spPr>
          <a:xfrm>
            <a:off x="6505956" y="3703320"/>
            <a:ext cx="4818888" cy="411480"/>
          </a:xfrm>
          <a:prstGeom prst="roundRect">
            <a:avLst>
              <a:gd name="adj" fmla="val 13333"/>
            </a:avLst>
          </a:prstGeom>
          <a:solidFill>
            <a:srgbClr val="FFFFFF"/>
          </a:solidFill>
          <a:ln/>
        </p:spPr>
      </p:sp>
      <p:sp>
        <p:nvSpPr>
          <p:cNvPr id="14" name="text-342"/>
          <p:cNvSpPr txBox="1"/>
          <p:nvPr/>
        </p:nvSpPr>
        <p:spPr>
          <a:xfrm>
            <a:off x="6643116" y="3703320"/>
            <a:ext cx="4572000" cy="411480"/>
          </a:xfrm>
          <a:prstGeom prst="rect">
            <a:avLst/>
          </a:prstGeom>
          <a:noFill/>
          <a:ln/>
        </p:spPr>
        <p:txBody>
          <a:bodyPr wrap="square" lIns="0" tIns="0" rIns="0" bIns="0" rtlCol="0" anchor="ctr"/>
          <a:lstStyle/>
          <a:p>
            <a:pPr indent="0" marL="0">
              <a:buNone/>
            </a:pPr>
            <a:r>
              <a:rPr lang="en-US" sz="1300" b="1" dirty="0">
                <a:solidFill>
                  <a:srgbClr val="0B1A2E"/>
                </a:solidFill>
                <a:latin typeface="Menlo" pitchFamily="34" charset="0"/>
                <a:ea typeface="Menlo" pitchFamily="34" charset="-122"/>
                <a:cs typeface="Menlo" pitchFamily="34" charset="-120"/>
              </a:rPr>
              <a:t>/e2e-heal scenarios/site/pricing</a:t>
            </a:r>
            <a:endParaRPr lang="en-US" sz="1300" dirty="0"/>
          </a:p>
        </p:txBody>
      </p:sp>
      <p:sp>
        <p:nvSpPr>
          <p:cNvPr id="15" name="text-343"/>
          <p:cNvSpPr txBox="1"/>
          <p:nvPr/>
        </p:nvSpPr>
        <p:spPr>
          <a:xfrm>
            <a:off x="548640" y="4617720"/>
            <a:ext cx="2743200" cy="274320"/>
          </a:xfrm>
          <a:prstGeom prst="rect">
            <a:avLst/>
          </a:prstGeom>
          <a:noFill/>
          <a:ln/>
        </p:spPr>
        <p:txBody>
          <a:bodyPr wrap="square" lIns="0" tIns="0" rIns="0" bIns="0" rtlCol="0" anchor="ctr"/>
          <a:lstStyle/>
          <a:p>
            <a:pPr indent="0" marL="0">
              <a:buNone/>
            </a:pPr>
            <a:r>
              <a:rPr lang="en-US" sz="1100" b="1" spc="150" kern="0" dirty="0">
                <a:solidFill>
                  <a:schemeClr val="tx2"/>
                </a:solidFill>
              </a:rPr>
              <a:t>WORKS IN</a:t>
            </a:r>
            <a:endParaRPr lang="en-US" sz="1100" dirty="0"/>
          </a:p>
        </p:txBody>
      </p:sp>
      <p:sp>
        <p:nvSpPr>
          <p:cNvPr id="16" name="card-344"/>
          <p:cNvSpPr/>
          <p:nvPr/>
        </p:nvSpPr>
        <p:spPr>
          <a:xfrm>
            <a:off x="548640" y="4937760"/>
            <a:ext cx="2057400" cy="868680"/>
          </a:xfrm>
          <a:prstGeom prst="roundRect">
            <a:avLst>
              <a:gd name="adj" fmla="val 10526"/>
            </a:avLst>
          </a:prstGeom>
          <a:solidFill>
            <a:schemeClr val="bg1"/>
          </a:solidFill>
          <a:ln w="12700">
            <a:solidFill>
              <a:srgbClr val="D5DCE6"/>
            </a:solidFill>
            <a:prstDash val="solid"/>
          </a:ln>
        </p:spPr>
      </p:sp>
      <p:sp>
        <p:nvSpPr>
          <p:cNvPr id="17" name="text-345"/>
          <p:cNvSpPr txBox="1"/>
          <p:nvPr/>
        </p:nvSpPr>
        <p:spPr>
          <a:xfrm>
            <a:off x="731520" y="4937760"/>
            <a:ext cx="1783080" cy="868680"/>
          </a:xfrm>
          <a:prstGeom prst="rect">
            <a:avLst/>
          </a:prstGeom>
          <a:noFill/>
          <a:ln/>
        </p:spPr>
        <p:txBody>
          <a:bodyPr wrap="square" lIns="0" tIns="0" rIns="0" bIns="0" rtlCol="0" anchor="ctr"/>
          <a:lstStyle/>
          <a:p>
            <a:pPr indent="0" marL="0">
              <a:buNone/>
            </a:pPr>
            <a:r>
              <a:rPr lang="en-US" sz="1600" b="1" dirty="0">
                <a:solidFill>
                  <a:schemeClr val="tx1"/>
                </a:solidFill>
              </a:rPr>
              <a:t>Claude Code</a:t>
            </a:r>
            <a:endParaRPr lang="en-US" sz="1600" dirty="0"/>
          </a:p>
          <a:p>
            <a:pPr indent="0" marL="0">
              <a:buNone/>
            </a:pPr>
            <a:r>
              <a:rPr lang="en-US" sz="1100" dirty="0">
                <a:solidFill>
                  <a:schemeClr val="tx2"/>
                </a:solidFill>
                <a:latin typeface="Menlo" pitchFamily="34" charset="0"/>
                <a:ea typeface="Menlo" pitchFamily="34" charset="-122"/>
                <a:cs typeface="Menlo" pitchFamily="34" charset="-120"/>
              </a:rPr>
              <a:t>/e2e-generate</a:t>
            </a:r>
            <a:endParaRPr lang="en-US" sz="1600" dirty="0"/>
          </a:p>
        </p:txBody>
      </p:sp>
      <p:sp>
        <p:nvSpPr>
          <p:cNvPr id="18" name="card-346"/>
          <p:cNvSpPr/>
          <p:nvPr/>
        </p:nvSpPr>
        <p:spPr>
          <a:xfrm>
            <a:off x="2807208" y="4937760"/>
            <a:ext cx="2057400" cy="868680"/>
          </a:xfrm>
          <a:prstGeom prst="roundRect">
            <a:avLst>
              <a:gd name="adj" fmla="val 10526"/>
            </a:avLst>
          </a:prstGeom>
          <a:solidFill>
            <a:schemeClr val="bg1"/>
          </a:solidFill>
          <a:ln w="12700">
            <a:solidFill>
              <a:srgbClr val="D5DCE6"/>
            </a:solidFill>
            <a:prstDash val="solid"/>
          </a:ln>
        </p:spPr>
      </p:sp>
      <p:sp>
        <p:nvSpPr>
          <p:cNvPr id="19" name="text-347"/>
          <p:cNvSpPr txBox="1"/>
          <p:nvPr/>
        </p:nvSpPr>
        <p:spPr>
          <a:xfrm>
            <a:off x="2990088" y="4937760"/>
            <a:ext cx="1783080" cy="868680"/>
          </a:xfrm>
          <a:prstGeom prst="rect">
            <a:avLst/>
          </a:prstGeom>
          <a:noFill/>
          <a:ln/>
        </p:spPr>
        <p:txBody>
          <a:bodyPr wrap="square" lIns="0" tIns="0" rIns="0" bIns="0" rtlCol="0" anchor="ctr"/>
          <a:lstStyle/>
          <a:p>
            <a:pPr indent="0" marL="0">
              <a:buNone/>
            </a:pPr>
            <a:r>
              <a:rPr lang="en-US" sz="1600" b="1" dirty="0">
                <a:solidFill>
                  <a:schemeClr val="tx1"/>
                </a:solidFill>
              </a:rPr>
              <a:t>Cursor</a:t>
            </a:r>
            <a:endParaRPr lang="en-US" sz="1600" dirty="0"/>
          </a:p>
          <a:p>
            <a:pPr indent="0" marL="0">
              <a:buNone/>
            </a:pPr>
            <a:r>
              <a:rPr lang="en-US" sz="1100" dirty="0">
                <a:solidFill>
                  <a:schemeClr val="tx2"/>
                </a:solidFill>
                <a:latin typeface="Menlo" pitchFamily="34" charset="0"/>
                <a:ea typeface="Menlo" pitchFamily="34" charset="-122"/>
                <a:cs typeface="Menlo" pitchFamily="34" charset="-120"/>
              </a:rPr>
              <a:t>/e2e-generate</a:t>
            </a:r>
            <a:endParaRPr lang="en-US" sz="1600" dirty="0"/>
          </a:p>
        </p:txBody>
      </p:sp>
      <p:sp>
        <p:nvSpPr>
          <p:cNvPr id="20" name="card-348"/>
          <p:cNvSpPr/>
          <p:nvPr/>
        </p:nvSpPr>
        <p:spPr>
          <a:xfrm>
            <a:off x="5065776" y="4937760"/>
            <a:ext cx="2057400" cy="868680"/>
          </a:xfrm>
          <a:prstGeom prst="roundRect">
            <a:avLst>
              <a:gd name="adj" fmla="val 10526"/>
            </a:avLst>
          </a:prstGeom>
          <a:solidFill>
            <a:schemeClr val="bg1"/>
          </a:solidFill>
          <a:ln w="12700">
            <a:solidFill>
              <a:srgbClr val="D5DCE6"/>
            </a:solidFill>
            <a:prstDash val="solid"/>
          </a:ln>
        </p:spPr>
      </p:sp>
      <p:sp>
        <p:nvSpPr>
          <p:cNvPr id="21" name="text-349"/>
          <p:cNvSpPr txBox="1"/>
          <p:nvPr/>
        </p:nvSpPr>
        <p:spPr>
          <a:xfrm>
            <a:off x="5248656" y="4937760"/>
            <a:ext cx="1783080" cy="868680"/>
          </a:xfrm>
          <a:prstGeom prst="rect">
            <a:avLst/>
          </a:prstGeom>
          <a:noFill/>
          <a:ln/>
        </p:spPr>
        <p:txBody>
          <a:bodyPr wrap="square" lIns="0" tIns="0" rIns="0" bIns="0" rtlCol="0" anchor="ctr"/>
          <a:lstStyle/>
          <a:p>
            <a:pPr indent="0" marL="0">
              <a:buNone/>
            </a:pPr>
            <a:r>
              <a:rPr lang="en-US" sz="1600" b="1" dirty="0">
                <a:solidFill>
                  <a:schemeClr val="tx1"/>
                </a:solidFill>
              </a:rPr>
              <a:t>Kiro</a:t>
            </a:r>
            <a:endParaRPr lang="en-US" sz="1600" dirty="0"/>
          </a:p>
          <a:p>
            <a:pPr indent="0" marL="0">
              <a:buNone/>
            </a:pPr>
            <a:r>
              <a:rPr lang="en-US" sz="1100" dirty="0">
                <a:solidFill>
                  <a:schemeClr val="tx2"/>
                </a:solidFill>
                <a:latin typeface="Menlo" pitchFamily="34" charset="0"/>
                <a:ea typeface="Menlo" pitchFamily="34" charset="-122"/>
                <a:cs typeface="Menlo" pitchFamily="34" charset="-120"/>
              </a:rPr>
              <a:t>steering file</a:t>
            </a:r>
            <a:endParaRPr lang="en-US" sz="1600" dirty="0"/>
          </a:p>
        </p:txBody>
      </p:sp>
      <p:sp>
        <p:nvSpPr>
          <p:cNvPr id="22" name="card-350"/>
          <p:cNvSpPr/>
          <p:nvPr/>
        </p:nvSpPr>
        <p:spPr>
          <a:xfrm>
            <a:off x="7324344" y="4937760"/>
            <a:ext cx="2057400" cy="868680"/>
          </a:xfrm>
          <a:prstGeom prst="roundRect">
            <a:avLst>
              <a:gd name="adj" fmla="val 10526"/>
            </a:avLst>
          </a:prstGeom>
          <a:solidFill>
            <a:schemeClr val="bg1"/>
          </a:solidFill>
          <a:ln w="12700">
            <a:solidFill>
              <a:srgbClr val="D5DCE6"/>
            </a:solidFill>
            <a:prstDash val="solid"/>
          </a:ln>
        </p:spPr>
      </p:sp>
      <p:sp>
        <p:nvSpPr>
          <p:cNvPr id="23" name="text-351"/>
          <p:cNvSpPr txBox="1"/>
          <p:nvPr/>
        </p:nvSpPr>
        <p:spPr>
          <a:xfrm>
            <a:off x="7507224" y="4937760"/>
            <a:ext cx="1783080" cy="868680"/>
          </a:xfrm>
          <a:prstGeom prst="rect">
            <a:avLst/>
          </a:prstGeom>
          <a:noFill/>
          <a:ln/>
        </p:spPr>
        <p:txBody>
          <a:bodyPr wrap="square" lIns="0" tIns="0" rIns="0" bIns="0" rtlCol="0" anchor="ctr"/>
          <a:lstStyle/>
          <a:p>
            <a:pPr indent="0" marL="0">
              <a:buNone/>
            </a:pPr>
            <a:r>
              <a:rPr lang="en-US" sz="1600" b="1" dirty="0">
                <a:solidFill>
                  <a:schemeClr val="tx1"/>
                </a:solidFill>
              </a:rPr>
              <a:t>Codex</a:t>
            </a:r>
            <a:endParaRPr lang="en-US" sz="1600" dirty="0"/>
          </a:p>
          <a:p>
            <a:pPr indent="0" marL="0">
              <a:buNone/>
            </a:pPr>
            <a:r>
              <a:rPr lang="en-US" sz="1100" dirty="0">
                <a:solidFill>
                  <a:schemeClr val="tx2"/>
                </a:solidFill>
                <a:latin typeface="Menlo" pitchFamily="34" charset="0"/>
                <a:ea typeface="Menlo" pitchFamily="34" charset="-122"/>
                <a:cs typeface="Menlo" pitchFamily="34" charset="-120"/>
              </a:rPr>
              <a:t>follow prompts/…</a:t>
            </a:r>
            <a:endParaRPr lang="en-US" sz="1600" dirty="0"/>
          </a:p>
        </p:txBody>
      </p:sp>
      <p:sp>
        <p:nvSpPr>
          <p:cNvPr id="24" name="card-352"/>
          <p:cNvSpPr/>
          <p:nvPr/>
        </p:nvSpPr>
        <p:spPr>
          <a:xfrm>
            <a:off x="9582912" y="4937760"/>
            <a:ext cx="2057400" cy="868680"/>
          </a:xfrm>
          <a:prstGeom prst="roundRect">
            <a:avLst>
              <a:gd name="adj" fmla="val 10526"/>
            </a:avLst>
          </a:prstGeom>
          <a:solidFill>
            <a:schemeClr val="bg1"/>
          </a:solidFill>
          <a:ln w="12700">
            <a:solidFill>
              <a:srgbClr val="4A5870"/>
            </a:solidFill>
            <a:prstDash val="dash"/>
          </a:ln>
        </p:spPr>
      </p:sp>
      <p:sp>
        <p:nvSpPr>
          <p:cNvPr id="25" name="text-353"/>
          <p:cNvSpPr txBox="1"/>
          <p:nvPr/>
        </p:nvSpPr>
        <p:spPr>
          <a:xfrm>
            <a:off x="9765792" y="4937760"/>
            <a:ext cx="1783080" cy="868680"/>
          </a:xfrm>
          <a:prstGeom prst="rect">
            <a:avLst/>
          </a:prstGeom>
          <a:noFill/>
          <a:ln/>
        </p:spPr>
        <p:txBody>
          <a:bodyPr wrap="square" lIns="0" tIns="0" rIns="0" bIns="0" rtlCol="0" anchor="ctr"/>
          <a:lstStyle/>
          <a:p>
            <a:pPr indent="0" marL="0">
              <a:buNone/>
            </a:pPr>
            <a:r>
              <a:rPr lang="en-US" sz="1600" b="1" dirty="0">
                <a:solidFill>
                  <a:schemeClr val="tx2"/>
                </a:solidFill>
              </a:rPr>
              <a:t>+ next agent</a:t>
            </a:r>
            <a:endParaRPr lang="en-US" sz="1600" dirty="0"/>
          </a:p>
          <a:p>
            <a:pPr indent="0" marL="0">
              <a:buNone/>
            </a:pPr>
            <a:r>
              <a:rPr lang="en-US" sz="1100" dirty="0">
                <a:solidFill>
                  <a:schemeClr val="tx2"/>
                </a:solidFill>
                <a:latin typeface="Menlo" pitchFamily="34" charset="0"/>
                <a:ea typeface="Menlo" pitchFamily="34" charset="-122"/>
                <a:cs typeface="Menlo" pitchFamily="34" charset="-120"/>
              </a:rPr>
              <a:t>one small file</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The agent browses with the Playwright CLI</a:t>
            </a:r>
            <a:endParaRPr lang="en-US" sz="3400" dirty="0"/>
          </a:p>
        </p:txBody>
      </p:sp>
      <p:sp>
        <p:nvSpPr>
          <p:cNvPr id="3" name="text-354"/>
          <p:cNvSpPr txBox="1"/>
          <p:nvPr/>
        </p:nvSpPr>
        <p:spPr>
          <a:xfrm>
            <a:off x="548640" y="1216152"/>
            <a:ext cx="10972800" cy="411480"/>
          </a:xfrm>
          <a:prstGeom prst="rect">
            <a:avLst/>
          </a:prstGeom>
          <a:noFill/>
          <a:ln/>
        </p:spPr>
        <p:txBody>
          <a:bodyPr wrap="square" lIns="0" tIns="0" rIns="0" bIns="0" rtlCol="0" anchor="ctr"/>
          <a:lstStyle/>
          <a:p>
            <a:pPr indent="0" marL="0">
              <a:buNone/>
            </a:pPr>
            <a:r>
              <a:rPr lang="en-US" sz="1800" dirty="0">
                <a:solidFill>
                  <a:schemeClr val="tx2"/>
                </a:solidFill>
              </a:rPr>
              <a:t>Every locator comes from the real page, never from a guess.</a:t>
            </a:r>
            <a:endParaRPr lang="en-US" sz="1800" dirty="0"/>
          </a:p>
        </p:txBody>
      </p:sp>
      <p:sp>
        <p:nvSpPr>
          <p:cNvPr id="4" name="link-355"/>
          <p:cNvSpPr/>
          <p:nvPr/>
        </p:nvSpPr>
        <p:spPr>
          <a:xfrm>
            <a:off x="2560320" y="2697480"/>
            <a:ext cx="1435608" cy="0"/>
          </a:xfrm>
          <a:prstGeom prst="line">
            <a:avLst/>
          </a:prstGeom>
          <a:noFill/>
          <a:ln w="19050">
            <a:solidFill>
              <a:srgbClr val="4A5870"/>
            </a:solidFill>
            <a:prstDash val="solid"/>
          </a:ln>
        </p:spPr>
      </p:sp>
      <p:sp>
        <p:nvSpPr>
          <p:cNvPr id="5" name="node-356"/>
          <p:cNvSpPr/>
          <p:nvPr/>
        </p:nvSpPr>
        <p:spPr>
          <a:xfrm>
            <a:off x="3941064" y="2642616"/>
            <a:ext cx="109728" cy="109728"/>
          </a:xfrm>
          <a:prstGeom prst="ellipse">
            <a:avLst/>
          </a:prstGeom>
          <a:solidFill>
            <a:srgbClr val="026FD7"/>
          </a:solidFill>
          <a:ln/>
        </p:spPr>
      </p:sp>
      <p:sp>
        <p:nvSpPr>
          <p:cNvPr id="6" name="node-357"/>
          <p:cNvSpPr/>
          <p:nvPr/>
        </p:nvSpPr>
        <p:spPr>
          <a:xfrm>
            <a:off x="1325880" y="2148840"/>
            <a:ext cx="1097280" cy="1097280"/>
          </a:xfrm>
          <a:prstGeom prst="ellipse">
            <a:avLst/>
          </a:prstGeom>
          <a:solidFill>
            <a:schemeClr val="tx1"/>
          </a:solidFill>
          <a:ln/>
        </p:spPr>
      </p:sp>
      <p:pic>
        <p:nvPicPr>
          <p:cNvPr id="7" name="icon-358" descr="preencoded.png">    </p:cNvPr>
          <p:cNvPicPr>
            <a:picLocks noChangeAspect="1"/>
          </p:cNvPicPr>
          <p:nvPr/>
        </p:nvPicPr>
        <p:blipFill>
          <a:blip r:embed="rId1"/>
          <a:stretch>
            <a:fillRect/>
          </a:stretch>
        </p:blipFill>
        <p:spPr>
          <a:xfrm>
            <a:off x="1600200" y="2423160"/>
            <a:ext cx="548640" cy="548640"/>
          </a:xfrm>
          <a:prstGeom prst="rect">
            <a:avLst/>
          </a:prstGeom>
        </p:spPr>
      </p:pic>
      <p:sp>
        <p:nvSpPr>
          <p:cNvPr id="8" name="text-359"/>
          <p:cNvSpPr txBox="1"/>
          <p:nvPr/>
        </p:nvSpPr>
        <p:spPr>
          <a:xfrm>
            <a:off x="548640" y="3429000"/>
            <a:ext cx="2651760" cy="365760"/>
          </a:xfrm>
          <a:prstGeom prst="rect">
            <a:avLst/>
          </a:prstGeom>
          <a:noFill/>
          <a:ln/>
        </p:spPr>
        <p:txBody>
          <a:bodyPr wrap="square" lIns="0" tIns="0" rIns="0" bIns="0" rtlCol="0" anchor="ctr"/>
          <a:lstStyle/>
          <a:p>
            <a:pPr algn="ctr" indent="0" marL="0">
              <a:buNone/>
            </a:pPr>
            <a:r>
              <a:rPr lang="en-US" sz="1700" b="1" dirty="0">
                <a:solidFill>
                  <a:schemeClr val="tx1"/>
                </a:solidFill>
              </a:rPr>
              <a:t>Signs in</a:t>
            </a:r>
            <a:endParaRPr lang="en-US" sz="1700" dirty="0"/>
          </a:p>
        </p:txBody>
      </p:sp>
      <p:sp>
        <p:nvSpPr>
          <p:cNvPr id="9" name="text-360"/>
          <p:cNvSpPr txBox="1"/>
          <p:nvPr/>
        </p:nvSpPr>
        <p:spPr>
          <a:xfrm>
            <a:off x="594360" y="3813048"/>
            <a:ext cx="2560320" cy="594360"/>
          </a:xfrm>
          <a:prstGeom prst="rect">
            <a:avLst/>
          </a:prstGeom>
          <a:noFill/>
          <a:ln/>
        </p:spPr>
        <p:txBody>
          <a:bodyPr wrap="square" lIns="0" tIns="0" rIns="0" bIns="0" rtlCol="0" anchor="t"/>
          <a:lstStyle/>
          <a:p>
            <a:pPr algn="ctr" indent="0" marL="0">
              <a:buNone/>
            </a:pPr>
            <a:r>
              <a:rPr lang="en-US" sz="1300" dirty="0">
                <a:solidFill>
                  <a:schemeClr val="tx2"/>
                </a:solidFill>
              </a:rPr>
              <a:t>as the QA user</a:t>
            </a:r>
            <a:endParaRPr lang="en-US" sz="1300" dirty="0"/>
          </a:p>
        </p:txBody>
      </p:sp>
      <p:sp>
        <p:nvSpPr>
          <p:cNvPr id="10" name="link-361"/>
          <p:cNvSpPr/>
          <p:nvPr/>
        </p:nvSpPr>
        <p:spPr>
          <a:xfrm>
            <a:off x="5367528" y="2697480"/>
            <a:ext cx="1435608" cy="0"/>
          </a:xfrm>
          <a:prstGeom prst="line">
            <a:avLst/>
          </a:prstGeom>
          <a:noFill/>
          <a:ln w="19050">
            <a:solidFill>
              <a:srgbClr val="4A5870"/>
            </a:solidFill>
            <a:prstDash val="solid"/>
          </a:ln>
        </p:spPr>
      </p:sp>
      <p:sp>
        <p:nvSpPr>
          <p:cNvPr id="11" name="node-362"/>
          <p:cNvSpPr/>
          <p:nvPr/>
        </p:nvSpPr>
        <p:spPr>
          <a:xfrm>
            <a:off x="6748272" y="2642616"/>
            <a:ext cx="109728" cy="109728"/>
          </a:xfrm>
          <a:prstGeom prst="ellipse">
            <a:avLst/>
          </a:prstGeom>
          <a:solidFill>
            <a:srgbClr val="026FD7"/>
          </a:solidFill>
          <a:ln/>
        </p:spPr>
      </p:sp>
      <p:sp>
        <p:nvSpPr>
          <p:cNvPr id="12" name="node-363"/>
          <p:cNvSpPr/>
          <p:nvPr/>
        </p:nvSpPr>
        <p:spPr>
          <a:xfrm>
            <a:off x="4133088" y="2148840"/>
            <a:ext cx="1097280" cy="1097280"/>
          </a:xfrm>
          <a:prstGeom prst="ellipse">
            <a:avLst/>
          </a:prstGeom>
          <a:solidFill>
            <a:schemeClr val="tx1"/>
          </a:solidFill>
          <a:ln/>
        </p:spPr>
      </p:sp>
      <p:pic>
        <p:nvPicPr>
          <p:cNvPr id="13" name="icon-364" descr="preencoded.png">    </p:cNvPr>
          <p:cNvPicPr>
            <a:picLocks noChangeAspect="1"/>
          </p:cNvPicPr>
          <p:nvPr/>
        </p:nvPicPr>
        <p:blipFill>
          <a:blip r:embed="rId2"/>
          <a:stretch>
            <a:fillRect/>
          </a:stretch>
        </p:blipFill>
        <p:spPr>
          <a:xfrm>
            <a:off x="4407408" y="2423160"/>
            <a:ext cx="548640" cy="548640"/>
          </a:xfrm>
          <a:prstGeom prst="rect">
            <a:avLst/>
          </a:prstGeom>
        </p:spPr>
      </p:pic>
      <p:sp>
        <p:nvSpPr>
          <p:cNvPr id="14" name="text-365"/>
          <p:cNvSpPr txBox="1"/>
          <p:nvPr/>
        </p:nvSpPr>
        <p:spPr>
          <a:xfrm>
            <a:off x="3355848" y="3429000"/>
            <a:ext cx="2651760" cy="365760"/>
          </a:xfrm>
          <a:prstGeom prst="rect">
            <a:avLst/>
          </a:prstGeom>
          <a:noFill/>
          <a:ln/>
        </p:spPr>
        <p:txBody>
          <a:bodyPr wrap="square" lIns="0" tIns="0" rIns="0" bIns="0" rtlCol="0" anchor="ctr"/>
          <a:lstStyle/>
          <a:p>
            <a:pPr algn="ctr" indent="0" marL="0">
              <a:buNone/>
            </a:pPr>
            <a:r>
              <a:rPr lang="en-US" sz="1700" b="1" dirty="0">
                <a:solidFill>
                  <a:schemeClr val="tx1"/>
                </a:solidFill>
              </a:rPr>
              <a:t>Opens the page</a:t>
            </a:r>
            <a:endParaRPr lang="en-US" sz="1700" dirty="0"/>
          </a:p>
        </p:txBody>
      </p:sp>
      <p:sp>
        <p:nvSpPr>
          <p:cNvPr id="15" name="text-366"/>
          <p:cNvSpPr txBox="1"/>
          <p:nvPr/>
        </p:nvSpPr>
        <p:spPr>
          <a:xfrm>
            <a:off x="3401568" y="3813048"/>
            <a:ext cx="2560320" cy="594360"/>
          </a:xfrm>
          <a:prstGeom prst="rect">
            <a:avLst/>
          </a:prstGeom>
          <a:noFill/>
          <a:ln/>
        </p:spPr>
        <p:txBody>
          <a:bodyPr wrap="square" lIns="0" tIns="0" rIns="0" bIns="0" rtlCol="0" anchor="t"/>
          <a:lstStyle/>
          <a:p>
            <a:pPr algn="ctr" indent="0" marL="0">
              <a:buNone/>
            </a:pPr>
            <a:r>
              <a:rPr lang="en-US" sz="1300" dirty="0">
                <a:solidFill>
                  <a:schemeClr val="tx2"/>
                </a:solidFill>
              </a:rPr>
              <a:t>the page your scenario starts on</a:t>
            </a:r>
            <a:endParaRPr lang="en-US" sz="1300" dirty="0"/>
          </a:p>
        </p:txBody>
      </p:sp>
      <p:sp>
        <p:nvSpPr>
          <p:cNvPr id="16" name="link-367"/>
          <p:cNvSpPr/>
          <p:nvPr/>
        </p:nvSpPr>
        <p:spPr>
          <a:xfrm>
            <a:off x="8174736" y="2697480"/>
            <a:ext cx="1435608" cy="0"/>
          </a:xfrm>
          <a:prstGeom prst="line">
            <a:avLst/>
          </a:prstGeom>
          <a:noFill/>
          <a:ln w="19050">
            <a:solidFill>
              <a:srgbClr val="4A5870"/>
            </a:solidFill>
            <a:prstDash val="solid"/>
          </a:ln>
        </p:spPr>
      </p:sp>
      <p:sp>
        <p:nvSpPr>
          <p:cNvPr id="17" name="node-368"/>
          <p:cNvSpPr/>
          <p:nvPr/>
        </p:nvSpPr>
        <p:spPr>
          <a:xfrm>
            <a:off x="9555480" y="2642616"/>
            <a:ext cx="109728" cy="109728"/>
          </a:xfrm>
          <a:prstGeom prst="ellipse">
            <a:avLst/>
          </a:prstGeom>
          <a:solidFill>
            <a:srgbClr val="026FD7"/>
          </a:solidFill>
          <a:ln/>
        </p:spPr>
      </p:sp>
      <p:sp>
        <p:nvSpPr>
          <p:cNvPr id="18" name="node-369"/>
          <p:cNvSpPr/>
          <p:nvPr/>
        </p:nvSpPr>
        <p:spPr>
          <a:xfrm>
            <a:off x="6940296" y="2148840"/>
            <a:ext cx="1097280" cy="1097280"/>
          </a:xfrm>
          <a:prstGeom prst="ellipse">
            <a:avLst/>
          </a:prstGeom>
          <a:solidFill>
            <a:schemeClr val="accent1"/>
          </a:solidFill>
          <a:ln/>
        </p:spPr>
      </p:sp>
      <p:pic>
        <p:nvPicPr>
          <p:cNvPr id="19" name="icon-370" descr="preencoded.png">    </p:cNvPr>
          <p:cNvPicPr>
            <a:picLocks noChangeAspect="1"/>
          </p:cNvPicPr>
          <p:nvPr/>
        </p:nvPicPr>
        <p:blipFill>
          <a:blip r:embed="rId3"/>
          <a:stretch>
            <a:fillRect/>
          </a:stretch>
        </p:blipFill>
        <p:spPr>
          <a:xfrm>
            <a:off x="7214616" y="2423160"/>
            <a:ext cx="548640" cy="548640"/>
          </a:xfrm>
          <a:prstGeom prst="rect">
            <a:avLst/>
          </a:prstGeom>
        </p:spPr>
      </p:pic>
      <p:sp>
        <p:nvSpPr>
          <p:cNvPr id="20" name="text-371"/>
          <p:cNvSpPr txBox="1"/>
          <p:nvPr/>
        </p:nvSpPr>
        <p:spPr>
          <a:xfrm>
            <a:off x="6163056" y="3429000"/>
            <a:ext cx="2651760" cy="365760"/>
          </a:xfrm>
          <a:prstGeom prst="rect">
            <a:avLst/>
          </a:prstGeom>
          <a:noFill/>
          <a:ln/>
        </p:spPr>
        <p:txBody>
          <a:bodyPr wrap="square" lIns="0" tIns="0" rIns="0" bIns="0" rtlCol="0" anchor="ctr"/>
          <a:lstStyle/>
          <a:p>
            <a:pPr algn="ctr" indent="0" marL="0">
              <a:buNone/>
            </a:pPr>
            <a:r>
              <a:rPr lang="en-US" sz="1700" b="1" dirty="0">
                <a:solidFill>
                  <a:schemeClr val="tx1"/>
                </a:solidFill>
              </a:rPr>
              <a:t>Finds your words</a:t>
            </a:r>
            <a:endParaRPr lang="en-US" sz="1700" dirty="0"/>
          </a:p>
        </p:txBody>
      </p:sp>
      <p:sp>
        <p:nvSpPr>
          <p:cNvPr id="21" name="text-372"/>
          <p:cNvSpPr txBox="1"/>
          <p:nvPr/>
        </p:nvSpPr>
        <p:spPr>
          <a:xfrm>
            <a:off x="6208776" y="3813048"/>
            <a:ext cx="2560320" cy="594360"/>
          </a:xfrm>
          <a:prstGeom prst="rect">
            <a:avLst/>
          </a:prstGeom>
          <a:noFill/>
          <a:ln/>
        </p:spPr>
        <p:txBody>
          <a:bodyPr wrap="square" lIns="0" tIns="0" rIns="0" bIns="0" rtlCol="0" anchor="t"/>
          <a:lstStyle/>
          <a:p>
            <a:pPr algn="ctr" indent="0" marL="0">
              <a:buNone/>
            </a:pPr>
            <a:r>
              <a:rPr lang="en-US" sz="1300" dirty="0">
                <a:solidFill>
                  <a:schemeClr val="tx2"/>
                </a:solidFill>
              </a:rPr>
              <a:t>each word your scenario quotes</a:t>
            </a:r>
            <a:endParaRPr lang="en-US" sz="1300" dirty="0"/>
          </a:p>
        </p:txBody>
      </p:sp>
      <p:sp>
        <p:nvSpPr>
          <p:cNvPr id="22" name="node-373"/>
          <p:cNvSpPr/>
          <p:nvPr/>
        </p:nvSpPr>
        <p:spPr>
          <a:xfrm>
            <a:off x="9747504" y="2148840"/>
            <a:ext cx="1097280" cy="1097280"/>
          </a:xfrm>
          <a:prstGeom prst="ellipse">
            <a:avLst/>
          </a:prstGeom>
          <a:solidFill>
            <a:schemeClr val="tx1"/>
          </a:solidFill>
          <a:ln/>
        </p:spPr>
      </p:sp>
      <p:pic>
        <p:nvPicPr>
          <p:cNvPr id="23" name="icon-374" descr="preencoded.png">    </p:cNvPr>
          <p:cNvPicPr>
            <a:picLocks noChangeAspect="1"/>
          </p:cNvPicPr>
          <p:nvPr/>
        </p:nvPicPr>
        <p:blipFill>
          <a:blip r:embed="rId4"/>
          <a:stretch>
            <a:fillRect/>
          </a:stretch>
        </p:blipFill>
        <p:spPr>
          <a:xfrm>
            <a:off x="10021824" y="2423160"/>
            <a:ext cx="548640" cy="548640"/>
          </a:xfrm>
          <a:prstGeom prst="rect">
            <a:avLst/>
          </a:prstGeom>
        </p:spPr>
      </p:pic>
      <p:sp>
        <p:nvSpPr>
          <p:cNvPr id="24" name="text-375"/>
          <p:cNvSpPr txBox="1"/>
          <p:nvPr/>
        </p:nvSpPr>
        <p:spPr>
          <a:xfrm>
            <a:off x="8970264" y="3429000"/>
            <a:ext cx="2651760" cy="365760"/>
          </a:xfrm>
          <a:prstGeom prst="rect">
            <a:avLst/>
          </a:prstGeom>
          <a:noFill/>
          <a:ln/>
        </p:spPr>
        <p:txBody>
          <a:bodyPr wrap="square" lIns="0" tIns="0" rIns="0" bIns="0" rtlCol="0" anchor="ctr"/>
          <a:lstStyle/>
          <a:p>
            <a:pPr algn="ctr" indent="0" marL="0">
              <a:buNone/>
            </a:pPr>
            <a:r>
              <a:rPr lang="en-US" sz="1700" b="1" dirty="0">
                <a:solidFill>
                  <a:schemeClr val="tx1"/>
                </a:solidFill>
              </a:rPr>
              <a:t>Writes the check</a:t>
            </a:r>
            <a:endParaRPr lang="en-US" sz="1700" dirty="0"/>
          </a:p>
        </p:txBody>
      </p:sp>
      <p:sp>
        <p:nvSpPr>
          <p:cNvPr id="25" name="text-376"/>
          <p:cNvSpPr txBox="1"/>
          <p:nvPr/>
        </p:nvSpPr>
        <p:spPr>
          <a:xfrm>
            <a:off x="9015984" y="3813048"/>
            <a:ext cx="2560320" cy="594360"/>
          </a:xfrm>
          <a:prstGeom prst="rect">
            <a:avLst/>
          </a:prstGeom>
          <a:noFill/>
          <a:ln/>
        </p:spPr>
        <p:txBody>
          <a:bodyPr wrap="square" lIns="0" tIns="0" rIns="0" bIns="0" rtlCol="0" anchor="t"/>
          <a:lstStyle/>
          <a:p>
            <a:pPr algn="ctr" indent="0" marL="0">
              <a:buNone/>
            </a:pPr>
            <a:r>
              <a:rPr lang="en-US" sz="1300" dirty="0">
                <a:solidFill>
                  <a:schemeClr val="tx2"/>
                </a:solidFill>
              </a:rPr>
              <a:t>then runs the test to prove it</a:t>
            </a:r>
            <a:endParaRPr lang="en-US" sz="1300" dirty="0"/>
          </a:p>
        </p:txBody>
      </p:sp>
      <p:sp>
        <p:nvSpPr>
          <p:cNvPr id="26" name="card-377"/>
          <p:cNvSpPr/>
          <p:nvPr/>
        </p:nvSpPr>
        <p:spPr>
          <a:xfrm>
            <a:off x="548640" y="4709160"/>
            <a:ext cx="3575304" cy="960120"/>
          </a:xfrm>
          <a:prstGeom prst="roundRect">
            <a:avLst>
              <a:gd name="adj" fmla="val 9524"/>
            </a:avLst>
          </a:prstGeom>
          <a:solidFill>
            <a:schemeClr val="bg2"/>
          </a:solidFill>
          <a:ln/>
        </p:spPr>
      </p:sp>
      <p:sp>
        <p:nvSpPr>
          <p:cNvPr id="27" name="node-378"/>
          <p:cNvSpPr/>
          <p:nvPr/>
        </p:nvSpPr>
        <p:spPr>
          <a:xfrm>
            <a:off x="777240" y="4914900"/>
            <a:ext cx="548640" cy="548640"/>
          </a:xfrm>
          <a:prstGeom prst="ellipse">
            <a:avLst/>
          </a:prstGeom>
          <a:solidFill>
            <a:schemeClr val="accent1"/>
          </a:solidFill>
          <a:ln/>
        </p:spPr>
      </p:sp>
      <p:pic>
        <p:nvPicPr>
          <p:cNvPr id="28" name="icon-379" descr="preencoded.png">    </p:cNvPr>
          <p:cNvPicPr>
            <a:picLocks noChangeAspect="1"/>
          </p:cNvPicPr>
          <p:nvPr/>
        </p:nvPicPr>
        <p:blipFill>
          <a:blip r:embed="rId5"/>
          <a:stretch>
            <a:fillRect/>
          </a:stretch>
        </p:blipFill>
        <p:spPr>
          <a:xfrm>
            <a:off x="914400" y="5052060"/>
            <a:ext cx="274320" cy="274320"/>
          </a:xfrm>
          <a:prstGeom prst="rect">
            <a:avLst/>
          </a:prstGeom>
        </p:spPr>
      </p:pic>
      <p:sp>
        <p:nvSpPr>
          <p:cNvPr id="29" name="text-380"/>
          <p:cNvSpPr txBox="1"/>
          <p:nvPr/>
        </p:nvSpPr>
        <p:spPr>
          <a:xfrm>
            <a:off x="1463040" y="4846320"/>
            <a:ext cx="2560320" cy="347472"/>
          </a:xfrm>
          <a:prstGeom prst="rect">
            <a:avLst/>
          </a:prstGeom>
          <a:noFill/>
          <a:ln/>
        </p:spPr>
        <p:txBody>
          <a:bodyPr wrap="square" lIns="0" tIns="0" rIns="0" bIns="0" rtlCol="0" anchor="ctr"/>
          <a:lstStyle/>
          <a:p>
            <a:pPr indent="0" marL="0">
              <a:buNone/>
            </a:pPr>
            <a:r>
              <a:rPr lang="en-US" sz="1500" b="1" dirty="0">
                <a:solidFill>
                  <a:schemeClr val="tx1"/>
                </a:solidFill>
              </a:rPr>
              <a:t>One browser, kept alive</a:t>
            </a:r>
            <a:endParaRPr lang="en-US" sz="1500" dirty="0"/>
          </a:p>
        </p:txBody>
      </p:sp>
      <p:sp>
        <p:nvSpPr>
          <p:cNvPr id="30" name="text-381"/>
          <p:cNvSpPr txBox="1"/>
          <p:nvPr/>
        </p:nvSpPr>
        <p:spPr>
          <a:xfrm>
            <a:off x="1463040" y="5193792"/>
            <a:ext cx="2560320" cy="320040"/>
          </a:xfrm>
          <a:prstGeom prst="rect">
            <a:avLst/>
          </a:prstGeom>
          <a:noFill/>
          <a:ln/>
        </p:spPr>
        <p:txBody>
          <a:bodyPr wrap="square" lIns="0" tIns="0" rIns="0" bIns="0" rtlCol="0" anchor="t"/>
          <a:lstStyle/>
          <a:p>
            <a:pPr indent="0" marL="0">
              <a:buNone/>
            </a:pPr>
            <a:r>
              <a:rPr lang="en-US" sz="1200" dirty="0">
                <a:solidFill>
                  <a:schemeClr val="tx2"/>
                </a:solidFill>
              </a:rPr>
              <a:t>every step of the job reuses it</a:t>
            </a:r>
            <a:endParaRPr lang="en-US" sz="1200" dirty="0"/>
          </a:p>
        </p:txBody>
      </p:sp>
      <p:sp>
        <p:nvSpPr>
          <p:cNvPr id="31" name="card-382"/>
          <p:cNvSpPr/>
          <p:nvPr/>
        </p:nvSpPr>
        <p:spPr>
          <a:xfrm>
            <a:off x="4306824" y="4709160"/>
            <a:ext cx="3575304" cy="960120"/>
          </a:xfrm>
          <a:prstGeom prst="roundRect">
            <a:avLst>
              <a:gd name="adj" fmla="val 9524"/>
            </a:avLst>
          </a:prstGeom>
          <a:solidFill>
            <a:schemeClr val="bg2"/>
          </a:solidFill>
          <a:ln/>
        </p:spPr>
      </p:sp>
      <p:sp>
        <p:nvSpPr>
          <p:cNvPr id="32" name="node-383"/>
          <p:cNvSpPr/>
          <p:nvPr/>
        </p:nvSpPr>
        <p:spPr>
          <a:xfrm>
            <a:off x="4535424" y="4914900"/>
            <a:ext cx="548640" cy="548640"/>
          </a:xfrm>
          <a:prstGeom prst="ellipse">
            <a:avLst/>
          </a:prstGeom>
          <a:solidFill>
            <a:schemeClr val="accent1"/>
          </a:solidFill>
          <a:ln/>
        </p:spPr>
      </p:sp>
      <p:pic>
        <p:nvPicPr>
          <p:cNvPr id="33" name="icon-384" descr="preencoded.png">    </p:cNvPr>
          <p:cNvPicPr>
            <a:picLocks noChangeAspect="1"/>
          </p:cNvPicPr>
          <p:nvPr/>
        </p:nvPicPr>
        <p:blipFill>
          <a:blip r:embed="rId6"/>
          <a:stretch>
            <a:fillRect/>
          </a:stretch>
        </p:blipFill>
        <p:spPr>
          <a:xfrm>
            <a:off x="4672584" y="5052060"/>
            <a:ext cx="274320" cy="274320"/>
          </a:xfrm>
          <a:prstGeom prst="rect">
            <a:avLst/>
          </a:prstGeom>
        </p:spPr>
      </p:pic>
      <p:sp>
        <p:nvSpPr>
          <p:cNvPr id="34" name="text-385"/>
          <p:cNvSpPr txBox="1"/>
          <p:nvPr/>
        </p:nvSpPr>
        <p:spPr>
          <a:xfrm>
            <a:off x="5221224" y="4846320"/>
            <a:ext cx="2560320" cy="347472"/>
          </a:xfrm>
          <a:prstGeom prst="rect">
            <a:avLst/>
          </a:prstGeom>
          <a:noFill/>
          <a:ln/>
        </p:spPr>
        <p:txBody>
          <a:bodyPr wrap="square" lIns="0" tIns="0" rIns="0" bIns="0" rtlCol="0" anchor="ctr"/>
          <a:lstStyle/>
          <a:p>
            <a:pPr indent="0" marL="0">
              <a:buNone/>
            </a:pPr>
            <a:r>
              <a:rPr lang="en-US" sz="1500" b="1" dirty="0">
                <a:solidFill>
                  <a:schemeClr val="tx1"/>
                </a:solidFill>
              </a:rPr>
              <a:t>Nothing on your screen</a:t>
            </a:r>
            <a:endParaRPr lang="en-US" sz="1500" dirty="0"/>
          </a:p>
        </p:txBody>
      </p:sp>
      <p:sp>
        <p:nvSpPr>
          <p:cNvPr id="35" name="text-386"/>
          <p:cNvSpPr txBox="1"/>
          <p:nvPr/>
        </p:nvSpPr>
        <p:spPr>
          <a:xfrm>
            <a:off x="5221224" y="5193792"/>
            <a:ext cx="2560320" cy="320040"/>
          </a:xfrm>
          <a:prstGeom prst="rect">
            <a:avLst/>
          </a:prstGeom>
          <a:noFill/>
          <a:ln/>
        </p:spPr>
        <p:txBody>
          <a:bodyPr wrap="square" lIns="0" tIns="0" rIns="0" bIns="0" rtlCol="0" anchor="t"/>
          <a:lstStyle/>
          <a:p>
            <a:pPr indent="0" marL="0">
              <a:buNone/>
            </a:pPr>
            <a:r>
              <a:rPr lang="en-US" sz="1200" dirty="0">
                <a:solidFill>
                  <a:schemeClr val="tx2"/>
                </a:solidFill>
              </a:rPr>
              <a:t>it works in the background</a:t>
            </a:r>
            <a:endParaRPr lang="en-US" sz="1200" dirty="0"/>
          </a:p>
        </p:txBody>
      </p:sp>
      <p:sp>
        <p:nvSpPr>
          <p:cNvPr id="36" name="card-387"/>
          <p:cNvSpPr/>
          <p:nvPr/>
        </p:nvSpPr>
        <p:spPr>
          <a:xfrm>
            <a:off x="8065008" y="4709160"/>
            <a:ext cx="3575304" cy="960120"/>
          </a:xfrm>
          <a:prstGeom prst="roundRect">
            <a:avLst>
              <a:gd name="adj" fmla="val 9524"/>
            </a:avLst>
          </a:prstGeom>
          <a:solidFill>
            <a:schemeClr val="bg2"/>
          </a:solidFill>
          <a:ln/>
        </p:spPr>
      </p:sp>
      <p:sp>
        <p:nvSpPr>
          <p:cNvPr id="37" name="node-388"/>
          <p:cNvSpPr/>
          <p:nvPr/>
        </p:nvSpPr>
        <p:spPr>
          <a:xfrm>
            <a:off x="8293608" y="4914900"/>
            <a:ext cx="548640" cy="548640"/>
          </a:xfrm>
          <a:prstGeom prst="ellipse">
            <a:avLst/>
          </a:prstGeom>
          <a:solidFill>
            <a:schemeClr val="accent1"/>
          </a:solidFill>
          <a:ln/>
        </p:spPr>
      </p:sp>
      <p:pic>
        <p:nvPicPr>
          <p:cNvPr id="38" name="icon-389" descr="preencoded.png">    </p:cNvPr>
          <p:cNvPicPr>
            <a:picLocks noChangeAspect="1"/>
          </p:cNvPicPr>
          <p:nvPr/>
        </p:nvPicPr>
        <p:blipFill>
          <a:blip r:embed="rId7"/>
          <a:stretch>
            <a:fillRect/>
          </a:stretch>
        </p:blipFill>
        <p:spPr>
          <a:xfrm>
            <a:off x="8430768" y="5052060"/>
            <a:ext cx="274320" cy="274320"/>
          </a:xfrm>
          <a:prstGeom prst="rect">
            <a:avLst/>
          </a:prstGeom>
        </p:spPr>
      </p:pic>
      <p:sp>
        <p:nvSpPr>
          <p:cNvPr id="39" name="text-390"/>
          <p:cNvSpPr txBox="1"/>
          <p:nvPr/>
        </p:nvSpPr>
        <p:spPr>
          <a:xfrm>
            <a:off x="8979408" y="4846320"/>
            <a:ext cx="2560320" cy="347472"/>
          </a:xfrm>
          <a:prstGeom prst="rect">
            <a:avLst/>
          </a:prstGeom>
          <a:noFill/>
          <a:ln/>
        </p:spPr>
        <p:txBody>
          <a:bodyPr wrap="square" lIns="0" tIns="0" rIns="0" bIns="0" rtlCol="0" anchor="ctr"/>
          <a:lstStyle/>
          <a:p>
            <a:pPr indent="0" marL="0">
              <a:buNone/>
            </a:pPr>
            <a:r>
              <a:rPr lang="en-US" sz="1500" b="1" dirty="0">
                <a:solidFill>
                  <a:schemeClr val="tx1"/>
                </a:solidFill>
              </a:rPr>
              <a:t>Installed by make setup</a:t>
            </a:r>
            <a:endParaRPr lang="en-US" sz="1500" dirty="0"/>
          </a:p>
        </p:txBody>
      </p:sp>
      <p:sp>
        <p:nvSpPr>
          <p:cNvPr id="40" name="text-391"/>
          <p:cNvSpPr txBox="1"/>
          <p:nvPr/>
        </p:nvSpPr>
        <p:spPr>
          <a:xfrm>
            <a:off x="8979408" y="5193792"/>
            <a:ext cx="2560320" cy="320040"/>
          </a:xfrm>
          <a:prstGeom prst="rect">
            <a:avLst/>
          </a:prstGeom>
          <a:noFill/>
          <a:ln/>
        </p:spPr>
        <p:txBody>
          <a:bodyPr wrap="square" lIns="0" tIns="0" rIns="0" bIns="0" rtlCol="0" anchor="t"/>
          <a:lstStyle/>
          <a:p>
            <a:pPr indent="0" marL="0">
              <a:buNone/>
            </a:pPr>
            <a:r>
              <a:rPr lang="en-US" sz="1200" dirty="0">
                <a:solidFill>
                  <a:schemeClr val="tx2"/>
                </a:solidFill>
              </a:rPr>
              <a:t>as a skill, for every agent</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Demo · A public page, from a sentence to a test</a:t>
            </a:r>
            <a:endParaRPr lang="en-US" sz="3400" dirty="0"/>
          </a:p>
        </p:txBody>
      </p:sp>
      <p:sp>
        <p:nvSpPr>
          <p:cNvPr id="3" name="card-392"/>
          <p:cNvSpPr/>
          <p:nvPr/>
        </p:nvSpPr>
        <p:spPr>
          <a:xfrm>
            <a:off x="548640" y="1325880"/>
            <a:ext cx="5074920" cy="4754880"/>
          </a:xfrm>
          <a:prstGeom prst="roundRect">
            <a:avLst>
              <a:gd name="adj" fmla="val 2308"/>
            </a:avLst>
          </a:prstGeom>
          <a:solidFill>
            <a:schemeClr val="bg1"/>
          </a:solidFill>
          <a:ln w="12700">
            <a:solidFill>
              <a:srgbClr val="D5DCE6"/>
            </a:solidFill>
            <a:prstDash val="solid"/>
          </a:ln>
          <a:effectLst>
            <a:outerShdw sx="100000" sy="100000" kx="0" ky="0" algn="bl" rotWithShape="0" blurRad="127000" dist="38100" dir="5400000">
              <a:srgbClr val="0B1A2E">
                <a:alpha val="12000"/>
              </a:srgbClr>
            </a:outerShdw>
          </a:effectLst>
        </p:spPr>
      </p:sp>
      <p:sp>
        <p:nvSpPr>
          <p:cNvPr id="4" name="text-393"/>
          <p:cNvSpPr txBox="1"/>
          <p:nvPr/>
        </p:nvSpPr>
        <p:spPr>
          <a:xfrm>
            <a:off x="822960" y="1481328"/>
            <a:ext cx="4572000" cy="274320"/>
          </a:xfrm>
          <a:prstGeom prst="rect">
            <a:avLst/>
          </a:prstGeom>
          <a:noFill/>
          <a:ln/>
        </p:spPr>
        <p:txBody>
          <a:bodyPr wrap="square" lIns="0" tIns="0" rIns="0" bIns="0" rtlCol="0" anchor="ctr"/>
          <a:lstStyle/>
          <a:p>
            <a:pPr indent="0" marL="0">
              <a:buNone/>
            </a:pPr>
            <a:r>
              <a:rPr lang="en-US" sz="1100" dirty="0">
                <a:solidFill>
                  <a:schemeClr val="tx2"/>
                </a:solidFill>
                <a:latin typeface="Menlo" pitchFamily="34" charset="0"/>
                <a:ea typeface="Menlo" pitchFamily="34" charset="-122"/>
                <a:cs typeface="Menlo" pitchFamily="34" charset="-120"/>
              </a:rPr>
              <a:t>scenarios/pricing-demo/scenario.md</a:t>
            </a:r>
            <a:endParaRPr lang="en-US" sz="1100" dirty="0"/>
          </a:p>
        </p:txBody>
      </p:sp>
      <p:sp>
        <p:nvSpPr>
          <p:cNvPr id="5" name="text-394"/>
          <p:cNvSpPr txBox="1"/>
          <p:nvPr/>
        </p:nvSpPr>
        <p:spPr>
          <a:xfrm>
            <a:off x="822960" y="1874520"/>
            <a:ext cx="4617720" cy="4069080"/>
          </a:xfrm>
          <a:prstGeom prst="rect">
            <a:avLst/>
          </a:prstGeom>
          <a:noFill/>
          <a:ln/>
        </p:spPr>
        <p:txBody>
          <a:bodyPr wrap="square" lIns="0" tIns="0" rIns="0" bIns="0" rtlCol="0" anchor="t"/>
          <a:lstStyle/>
          <a:p>
            <a:pPr indent="0" marL="0">
              <a:buNone/>
            </a:pPr>
            <a:r>
              <a:rPr lang="en-US" sz="1400" b="1" dirty="0">
                <a:solidFill>
                  <a:srgbClr val="0B1A2E"/>
                </a:solidFill>
                <a:latin typeface="Menlo" pitchFamily="34" charset="0"/>
                <a:ea typeface="Menlo" pitchFamily="34" charset="-122"/>
                <a:cs typeface="Menlo" pitchFamily="34" charset="-120"/>
              </a:rPr>
              <a:t># Pricing demo</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a:t>
            </a:r>
            <a:endParaRPr lang="en-US" sz="1400" dirty="0"/>
          </a:p>
          <a:p>
            <a:pPr indent="0" marL="0">
              <a:buNone/>
            </a:pPr>
            <a:r>
              <a:rPr lang="en-US" sz="1400" b="1" dirty="0">
                <a:solidFill>
                  <a:srgbClr val="026FD7"/>
                </a:solidFill>
                <a:latin typeface="Menlo" pitchFamily="34" charset="0"/>
                <a:ea typeface="Menlo" pitchFamily="34" charset="-122"/>
                <a:cs typeface="Menlo" pitchFamily="34" charset="-120"/>
              </a:rPr>
              <a:t>User:</a:t>
            </a:r>
            <a:pPr indent="0" marL="0">
              <a:buNone/>
            </a:pPr>
            <a:r>
              <a:rPr lang="en-US" sz="1400" dirty="0">
                <a:solidFill>
                  <a:srgbClr val="0B1A2E"/>
                </a:solidFill>
                <a:latin typeface="Menlo" pitchFamily="34" charset="0"/>
                <a:ea typeface="Menlo" pitchFamily="34" charset="-122"/>
                <a:cs typeface="Menlo" pitchFamily="34" charset="-120"/>
              </a:rPr>
              <a:t> visitor</a:t>
            </a:r>
            <a:endParaRPr lang="en-US" sz="1400" dirty="0"/>
          </a:p>
          <a:p>
            <a:pPr indent="0" marL="0">
              <a:buNone/>
            </a:pPr>
            <a:r>
              <a:rPr lang="en-US" sz="1400" b="1" dirty="0">
                <a:solidFill>
                  <a:srgbClr val="026FD7"/>
                </a:solidFill>
                <a:latin typeface="Menlo" pitchFamily="34" charset="0"/>
                <a:ea typeface="Menlo" pitchFamily="34" charset="-122"/>
                <a:cs typeface="Menlo" pitchFamily="34" charset="-120"/>
              </a:rPr>
              <a:t>Page:</a:t>
            </a:r>
            <a:pPr indent="0" marL="0">
              <a:buNone/>
            </a:pPr>
            <a:r>
              <a:rPr lang="en-US" sz="1400" dirty="0">
                <a:solidFill>
                  <a:srgbClr val="0B1A2E"/>
                </a:solidFill>
                <a:latin typeface="Menlo" pitchFamily="34" charset="0"/>
                <a:ea typeface="Menlo" pitchFamily="34" charset="-122"/>
                <a:cs typeface="Menlo" pitchFamily="34" charset="-120"/>
              </a:rPr>
              <a:t> /pricing</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a:t>
            </a:r>
            <a:endParaRPr lang="en-US" sz="1400" dirty="0"/>
          </a:p>
          <a:p>
            <a:pPr indent="0" marL="0">
              <a:buNone/>
            </a:pPr>
            <a:r>
              <a:rPr lang="en-US" sz="1400" b="1" dirty="0">
                <a:solidFill>
                  <a:srgbClr val="0B1A2E"/>
                </a:solidFill>
                <a:latin typeface="Menlo" pitchFamily="34" charset="0"/>
                <a:ea typeface="Menlo" pitchFamily="34" charset="-122"/>
                <a:cs typeface="Menlo" pitchFamily="34" charset="-120"/>
              </a:rPr>
              <a:t>## All four plans are offered</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a:t>
            </a:r>
            <a:endParaRPr lang="en-US" sz="1400" dirty="0"/>
          </a:p>
          <a:p>
            <a:pPr indent="0" marL="0">
              <a:buNone/>
            </a:pPr>
            <a:r>
              <a:rPr lang="en-US" sz="1400" b="1" dirty="0">
                <a:solidFill>
                  <a:srgbClr val="026FD7"/>
                </a:solidFill>
                <a:latin typeface="Menlo" pitchFamily="34" charset="0"/>
                <a:ea typeface="Menlo" pitchFamily="34" charset="-122"/>
                <a:cs typeface="Menlo" pitchFamily="34" charset="-120"/>
              </a:rPr>
              <a:t>Steps:</a:t>
            </a:r>
            <a:pPr indent="0" marL="0">
              <a:buNone/>
            </a:pP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1. Open the Pricing page</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a:t>
            </a:r>
            <a:endParaRPr lang="en-US" sz="1400" dirty="0"/>
          </a:p>
          <a:p>
            <a:pPr indent="0" marL="0">
              <a:buNone/>
            </a:pPr>
            <a:r>
              <a:rPr lang="en-US" sz="1400" b="1" dirty="0">
                <a:solidFill>
                  <a:srgbClr val="026FD7"/>
                </a:solidFill>
                <a:latin typeface="Menlo" pitchFamily="34" charset="0"/>
                <a:ea typeface="Menlo" pitchFamily="34" charset="-122"/>
                <a:cs typeface="Menlo" pitchFamily="34" charset="-120"/>
              </a:rPr>
              <a:t>Expected:</a:t>
            </a:r>
            <a:pPr indent="0" marL="0">
              <a:buNone/>
            </a:pP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The "Pricing" headline is showing</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There are four plans</a:t>
            </a:r>
            <a:endParaRPr lang="en-US" sz="1400" dirty="0"/>
          </a:p>
          <a:p>
            <a:pPr indent="0" marL="0">
              <a:buNone/>
            </a:pPr>
            <a:r>
              <a:rPr lang="en-US" sz="1400" dirty="0">
                <a:solidFill>
                  <a:srgbClr val="0B1A2E"/>
                </a:solidFill>
                <a:latin typeface="Menlo" pitchFamily="34" charset="0"/>
                <a:ea typeface="Menlo" pitchFamily="34" charset="-122"/>
                <a:cs typeface="Menlo" pitchFamily="34" charset="-120"/>
              </a:rPr>
              <a:t>- "Pro" is one of them</a:t>
            </a:r>
            <a:endParaRPr lang="en-US" sz="1400" dirty="0"/>
          </a:p>
        </p:txBody>
      </p:sp>
      <p:sp>
        <p:nvSpPr>
          <p:cNvPr id="6" name="node-395"/>
          <p:cNvSpPr/>
          <p:nvPr/>
        </p:nvSpPr>
        <p:spPr>
          <a:xfrm>
            <a:off x="5943600" y="1380744"/>
            <a:ext cx="384048" cy="384048"/>
          </a:xfrm>
          <a:prstGeom prst="ellipse">
            <a:avLst/>
          </a:prstGeom>
          <a:solidFill>
            <a:schemeClr val="accent1"/>
          </a:solidFill>
          <a:ln/>
        </p:spPr>
      </p:sp>
      <p:sp>
        <p:nvSpPr>
          <p:cNvPr id="7" name="text-396"/>
          <p:cNvSpPr txBox="1"/>
          <p:nvPr/>
        </p:nvSpPr>
        <p:spPr>
          <a:xfrm>
            <a:off x="5943600" y="13807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ard-397"/>
          <p:cNvSpPr/>
          <p:nvPr/>
        </p:nvSpPr>
        <p:spPr>
          <a:xfrm>
            <a:off x="6492240" y="1371600"/>
            <a:ext cx="5148072" cy="402336"/>
          </a:xfrm>
          <a:prstGeom prst="roundRect">
            <a:avLst>
              <a:gd name="adj" fmla="val 13636"/>
            </a:avLst>
          </a:prstGeom>
          <a:solidFill>
            <a:schemeClr val="bg2"/>
          </a:solidFill>
          <a:ln/>
        </p:spPr>
      </p:sp>
      <p:sp>
        <p:nvSpPr>
          <p:cNvPr id="9" name="text-398"/>
          <p:cNvSpPr txBox="1"/>
          <p:nvPr/>
        </p:nvSpPr>
        <p:spPr>
          <a:xfrm>
            <a:off x="6629400" y="1371600"/>
            <a:ext cx="4937760" cy="402336"/>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make scenario "pricing demo"</a:t>
            </a:r>
            <a:endParaRPr lang="en-US" sz="1300" dirty="0"/>
          </a:p>
        </p:txBody>
      </p:sp>
      <p:sp>
        <p:nvSpPr>
          <p:cNvPr id="10" name="text-399"/>
          <p:cNvSpPr txBox="1"/>
          <p:nvPr/>
        </p:nvSpPr>
        <p:spPr>
          <a:xfrm>
            <a:off x="6629400" y="1810512"/>
            <a:ext cx="4937760" cy="274320"/>
          </a:xfrm>
          <a:prstGeom prst="rect">
            <a:avLst/>
          </a:prstGeom>
          <a:noFill/>
          <a:ln/>
        </p:spPr>
        <p:txBody>
          <a:bodyPr wrap="square" lIns="0" tIns="0" rIns="0" bIns="0" rtlCol="0" anchor="ctr"/>
          <a:lstStyle/>
          <a:p>
            <a:pPr indent="0" marL="0">
              <a:buNone/>
            </a:pPr>
            <a:r>
              <a:rPr lang="en-US" sz="1200" dirty="0">
                <a:solidFill>
                  <a:schemeClr val="tx2"/>
                </a:solidFill>
              </a:rPr>
              <a:t>creates scenarios/pricing-demo/scenario.md</a:t>
            </a:r>
            <a:endParaRPr lang="en-US" sz="1200" dirty="0"/>
          </a:p>
        </p:txBody>
      </p:sp>
      <p:sp>
        <p:nvSpPr>
          <p:cNvPr id="11" name="node-400"/>
          <p:cNvSpPr/>
          <p:nvPr/>
        </p:nvSpPr>
        <p:spPr>
          <a:xfrm>
            <a:off x="5943600" y="2167128"/>
            <a:ext cx="384048" cy="384048"/>
          </a:xfrm>
          <a:prstGeom prst="ellipse">
            <a:avLst/>
          </a:prstGeom>
          <a:solidFill>
            <a:schemeClr val="accent1"/>
          </a:solidFill>
          <a:ln/>
        </p:spPr>
      </p:sp>
      <p:sp>
        <p:nvSpPr>
          <p:cNvPr id="12" name="text-401"/>
          <p:cNvSpPr txBox="1"/>
          <p:nvPr/>
        </p:nvSpPr>
        <p:spPr>
          <a:xfrm>
            <a:off x="5943600" y="21671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ard-402"/>
          <p:cNvSpPr/>
          <p:nvPr/>
        </p:nvSpPr>
        <p:spPr>
          <a:xfrm>
            <a:off x="6492240" y="2157984"/>
            <a:ext cx="5148072" cy="402336"/>
          </a:xfrm>
          <a:prstGeom prst="roundRect">
            <a:avLst>
              <a:gd name="adj" fmla="val 13636"/>
            </a:avLst>
          </a:prstGeom>
          <a:solidFill>
            <a:schemeClr val="bg2"/>
          </a:solidFill>
          <a:ln/>
        </p:spPr>
      </p:sp>
      <p:sp>
        <p:nvSpPr>
          <p:cNvPr id="14" name="text-403"/>
          <p:cNvSpPr txBox="1"/>
          <p:nvPr/>
        </p:nvSpPr>
        <p:spPr>
          <a:xfrm>
            <a:off x="6629400" y="2157984"/>
            <a:ext cx="4937760" cy="402336"/>
          </a:xfrm>
          <a:prstGeom prst="rect">
            <a:avLst/>
          </a:prstGeom>
          <a:noFill/>
          <a:ln/>
        </p:spPr>
        <p:txBody>
          <a:bodyPr wrap="square" lIns="0" tIns="0" rIns="0" bIns="0" rtlCol="0" anchor="ctr"/>
          <a:lstStyle/>
          <a:p>
            <a:pPr indent="0" marL="0">
              <a:buNone/>
            </a:pPr>
            <a:r>
              <a:rPr lang="en-US" sz="1300" i="1" dirty="0">
                <a:solidFill>
                  <a:schemeClr val="tx2"/>
                </a:solidFill>
              </a:rPr>
              <a:t>paste the case on the left, User: visitor</a:t>
            </a:r>
            <a:endParaRPr lang="en-US" sz="1300" dirty="0"/>
          </a:p>
        </p:txBody>
      </p:sp>
      <p:sp>
        <p:nvSpPr>
          <p:cNvPr id="15" name="text-404"/>
          <p:cNvSpPr txBox="1"/>
          <p:nvPr/>
        </p:nvSpPr>
        <p:spPr>
          <a:xfrm>
            <a:off x="6629400" y="2596896"/>
            <a:ext cx="4937760" cy="274320"/>
          </a:xfrm>
          <a:prstGeom prst="rect">
            <a:avLst/>
          </a:prstGeom>
          <a:noFill/>
          <a:ln/>
        </p:spPr>
        <p:txBody>
          <a:bodyPr wrap="square" lIns="0" tIns="0" rIns="0" bIns="0" rtlCol="0" anchor="ctr"/>
          <a:lstStyle/>
          <a:p>
            <a:pPr indent="0" marL="0">
              <a:buNone/>
            </a:pPr>
            <a:r>
              <a:rPr lang="en-US" sz="1200" dirty="0">
                <a:solidFill>
                  <a:schemeClr val="tx2"/>
                </a:solidFill>
              </a:rPr>
              <a:t>signed out, so it will be tagged @public</a:t>
            </a:r>
            <a:endParaRPr lang="en-US" sz="1200" dirty="0"/>
          </a:p>
        </p:txBody>
      </p:sp>
      <p:sp>
        <p:nvSpPr>
          <p:cNvPr id="16" name="node-405"/>
          <p:cNvSpPr/>
          <p:nvPr/>
        </p:nvSpPr>
        <p:spPr>
          <a:xfrm>
            <a:off x="5943600" y="2953512"/>
            <a:ext cx="384048" cy="384048"/>
          </a:xfrm>
          <a:prstGeom prst="ellipse">
            <a:avLst/>
          </a:prstGeom>
          <a:solidFill>
            <a:schemeClr val="accent1"/>
          </a:solidFill>
          <a:ln/>
        </p:spPr>
      </p:sp>
      <p:sp>
        <p:nvSpPr>
          <p:cNvPr id="17" name="text-406"/>
          <p:cNvSpPr txBox="1"/>
          <p:nvPr/>
        </p:nvSpPr>
        <p:spPr>
          <a:xfrm>
            <a:off x="5943600" y="29535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rd-407"/>
          <p:cNvSpPr/>
          <p:nvPr/>
        </p:nvSpPr>
        <p:spPr>
          <a:xfrm>
            <a:off x="6492240" y="2944368"/>
            <a:ext cx="5148072" cy="402336"/>
          </a:xfrm>
          <a:prstGeom prst="roundRect">
            <a:avLst>
              <a:gd name="adj" fmla="val 13636"/>
            </a:avLst>
          </a:prstGeom>
          <a:solidFill>
            <a:schemeClr val="bg2"/>
          </a:solidFill>
          <a:ln/>
        </p:spPr>
      </p:sp>
      <p:sp>
        <p:nvSpPr>
          <p:cNvPr id="19" name="text-408"/>
          <p:cNvSpPr txBox="1"/>
          <p:nvPr/>
        </p:nvSpPr>
        <p:spPr>
          <a:xfrm>
            <a:off x="6629400" y="2944368"/>
            <a:ext cx="4937760" cy="402336"/>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make casebook scenarios/pricing-demo</a:t>
            </a:r>
            <a:endParaRPr lang="en-US" sz="1300" dirty="0"/>
          </a:p>
        </p:txBody>
      </p:sp>
      <p:sp>
        <p:nvSpPr>
          <p:cNvPr id="20" name="text-409"/>
          <p:cNvSpPr txBox="1"/>
          <p:nvPr/>
        </p:nvSpPr>
        <p:spPr>
          <a:xfrm>
            <a:off x="6629400" y="3383280"/>
            <a:ext cx="4937760" cy="274320"/>
          </a:xfrm>
          <a:prstGeom prst="rect">
            <a:avLst/>
          </a:prstGeom>
          <a:noFill/>
          <a:ln/>
        </p:spPr>
        <p:txBody>
          <a:bodyPr wrap="square" lIns="0" tIns="0" rIns="0" bIns="0" rtlCol="0" anchor="ctr"/>
          <a:lstStyle/>
          <a:p>
            <a:pPr indent="0" marL="0">
              <a:buNone/>
            </a:pPr>
            <a:r>
              <a:rPr lang="en-US" sz="1200" dirty="0">
                <a:solidFill>
                  <a:schemeClr val="tx2"/>
                </a:solidFill>
              </a:rPr>
              <a:t>green means well formed</a:t>
            </a:r>
            <a:endParaRPr lang="en-US" sz="1200" dirty="0"/>
          </a:p>
        </p:txBody>
      </p:sp>
      <p:sp>
        <p:nvSpPr>
          <p:cNvPr id="21" name="node-410"/>
          <p:cNvSpPr/>
          <p:nvPr/>
        </p:nvSpPr>
        <p:spPr>
          <a:xfrm>
            <a:off x="5943600" y="3739896"/>
            <a:ext cx="384048" cy="384048"/>
          </a:xfrm>
          <a:prstGeom prst="ellipse">
            <a:avLst/>
          </a:prstGeom>
          <a:solidFill>
            <a:schemeClr val="accent1"/>
          </a:solidFill>
          <a:ln/>
        </p:spPr>
      </p:sp>
      <p:sp>
        <p:nvSpPr>
          <p:cNvPr id="22" name="text-411"/>
          <p:cNvSpPr txBox="1"/>
          <p:nvPr/>
        </p:nvSpPr>
        <p:spPr>
          <a:xfrm>
            <a:off x="5943600" y="37398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ard-412"/>
          <p:cNvSpPr/>
          <p:nvPr/>
        </p:nvSpPr>
        <p:spPr>
          <a:xfrm>
            <a:off x="6492240" y="3730752"/>
            <a:ext cx="5148072" cy="402336"/>
          </a:xfrm>
          <a:prstGeom prst="roundRect">
            <a:avLst>
              <a:gd name="adj" fmla="val 13636"/>
            </a:avLst>
          </a:prstGeom>
          <a:solidFill>
            <a:schemeClr val="bg2"/>
          </a:solidFill>
          <a:ln/>
        </p:spPr>
      </p:sp>
      <p:sp>
        <p:nvSpPr>
          <p:cNvPr id="24" name="text-413"/>
          <p:cNvSpPr txBox="1"/>
          <p:nvPr/>
        </p:nvSpPr>
        <p:spPr>
          <a:xfrm>
            <a:off x="6629400" y="3730752"/>
            <a:ext cx="4937760" cy="402336"/>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/e2e-generate scenarios/pricing-demo</a:t>
            </a:r>
            <a:endParaRPr lang="en-US" sz="1300" dirty="0"/>
          </a:p>
        </p:txBody>
      </p:sp>
      <p:sp>
        <p:nvSpPr>
          <p:cNvPr id="25" name="text-414"/>
          <p:cNvSpPr txBox="1"/>
          <p:nvPr/>
        </p:nvSpPr>
        <p:spPr>
          <a:xfrm>
            <a:off x="6629400" y="4169664"/>
            <a:ext cx="4937760" cy="274320"/>
          </a:xfrm>
          <a:prstGeom prst="rect">
            <a:avLst/>
          </a:prstGeom>
          <a:noFill/>
          <a:ln/>
        </p:spPr>
        <p:txBody>
          <a:bodyPr wrap="square" lIns="0" tIns="0" rIns="0" bIns="0" rtlCol="0" anchor="ctr"/>
          <a:lstStyle/>
          <a:p>
            <a:pPr indent="0" marL="0">
              <a:buNone/>
            </a:pPr>
            <a:r>
              <a:rPr lang="en-US" sz="1200" dirty="0">
                <a:solidFill>
                  <a:schemeClr val="tx2"/>
                </a:solidFill>
              </a:rPr>
              <a:t>the agent opens /pricing and writes the test</a:t>
            </a:r>
            <a:endParaRPr lang="en-US" sz="1200" dirty="0"/>
          </a:p>
        </p:txBody>
      </p:sp>
      <p:sp>
        <p:nvSpPr>
          <p:cNvPr id="26" name="node-415"/>
          <p:cNvSpPr/>
          <p:nvPr/>
        </p:nvSpPr>
        <p:spPr>
          <a:xfrm>
            <a:off x="5943600" y="4526280"/>
            <a:ext cx="384048" cy="384048"/>
          </a:xfrm>
          <a:prstGeom prst="ellipse">
            <a:avLst/>
          </a:prstGeom>
          <a:solidFill>
            <a:schemeClr val="accent1"/>
          </a:solidFill>
          <a:ln/>
        </p:spPr>
      </p:sp>
      <p:sp>
        <p:nvSpPr>
          <p:cNvPr id="27" name="text-416"/>
          <p:cNvSpPr txBox="1"/>
          <p:nvPr/>
        </p:nvSpPr>
        <p:spPr>
          <a:xfrm>
            <a:off x="5943600" y="4526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ard-417"/>
          <p:cNvSpPr/>
          <p:nvPr/>
        </p:nvSpPr>
        <p:spPr>
          <a:xfrm>
            <a:off x="6492240" y="4517136"/>
            <a:ext cx="5148072" cy="402336"/>
          </a:xfrm>
          <a:prstGeom prst="roundRect">
            <a:avLst>
              <a:gd name="adj" fmla="val 13636"/>
            </a:avLst>
          </a:prstGeom>
          <a:solidFill>
            <a:schemeClr val="bg2"/>
          </a:solidFill>
          <a:ln/>
        </p:spPr>
      </p:sp>
      <p:sp>
        <p:nvSpPr>
          <p:cNvPr id="29" name="text-418"/>
          <p:cNvSpPr txBox="1"/>
          <p:nvPr/>
        </p:nvSpPr>
        <p:spPr>
          <a:xfrm>
            <a:off x="6629400" y="4517136"/>
            <a:ext cx="4937760" cy="402336"/>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make test scenarios/pricing-demo</a:t>
            </a:r>
            <a:endParaRPr lang="en-US" sz="1300" dirty="0"/>
          </a:p>
        </p:txBody>
      </p:sp>
      <p:sp>
        <p:nvSpPr>
          <p:cNvPr id="30" name="text-419"/>
          <p:cNvSpPr txBox="1"/>
          <p:nvPr/>
        </p:nvSpPr>
        <p:spPr>
          <a:xfrm>
            <a:off x="6629400" y="4956048"/>
            <a:ext cx="4937760" cy="274320"/>
          </a:xfrm>
          <a:prstGeom prst="rect">
            <a:avLst/>
          </a:prstGeom>
          <a:noFill/>
          <a:ln/>
        </p:spPr>
        <p:txBody>
          <a:bodyPr wrap="square" lIns="0" tIns="0" rIns="0" bIns="0" rtlCol="0" anchor="ctr"/>
          <a:lstStyle/>
          <a:p>
            <a:pPr indent="0" marL="0">
              <a:buNone/>
            </a:pPr>
            <a:r>
              <a:rPr lang="en-US" sz="1200" dirty="0">
                <a:solidFill>
                  <a:schemeClr val="tx2"/>
                </a:solidFill>
              </a:rPr>
              <a:t>runs it signed out</a:t>
            </a:r>
            <a:endParaRPr lang="en-US" sz="1200" dirty="0"/>
          </a:p>
        </p:txBody>
      </p:sp>
      <p:sp>
        <p:nvSpPr>
          <p:cNvPr id="31" name="node-420"/>
          <p:cNvSpPr/>
          <p:nvPr/>
        </p:nvSpPr>
        <p:spPr>
          <a:xfrm>
            <a:off x="5943600" y="5312664"/>
            <a:ext cx="384048" cy="384048"/>
          </a:xfrm>
          <a:prstGeom prst="ellipse">
            <a:avLst/>
          </a:prstGeom>
          <a:solidFill>
            <a:schemeClr val="accent1"/>
          </a:solidFill>
          <a:ln/>
        </p:spPr>
      </p:sp>
      <p:sp>
        <p:nvSpPr>
          <p:cNvPr id="32" name="text-421"/>
          <p:cNvSpPr txBox="1"/>
          <p:nvPr/>
        </p:nvSpPr>
        <p:spPr>
          <a:xfrm>
            <a:off x="5943600" y="53126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ard-422"/>
          <p:cNvSpPr/>
          <p:nvPr/>
        </p:nvSpPr>
        <p:spPr>
          <a:xfrm>
            <a:off x="6492240" y="5303520"/>
            <a:ext cx="5148072" cy="402336"/>
          </a:xfrm>
          <a:prstGeom prst="roundRect">
            <a:avLst>
              <a:gd name="adj" fmla="val 13636"/>
            </a:avLst>
          </a:prstGeom>
          <a:solidFill>
            <a:schemeClr val="bg2"/>
          </a:solidFill>
          <a:ln/>
        </p:spPr>
      </p:sp>
      <p:sp>
        <p:nvSpPr>
          <p:cNvPr id="34" name="text-423"/>
          <p:cNvSpPr txBox="1"/>
          <p:nvPr/>
        </p:nvSpPr>
        <p:spPr>
          <a:xfrm>
            <a:off x="6629400" y="5303520"/>
            <a:ext cx="4937760" cy="402336"/>
          </a:xfrm>
          <a:prstGeom prst="rect">
            <a:avLst/>
          </a:prstGeom>
          <a:noFill/>
          <a:ln/>
        </p:spPr>
        <p:txBody>
          <a:bodyPr wrap="square" lIns="0" tIns="0" rIns="0" bIns="0" rtlCol="0" anchor="ctr"/>
          <a:lstStyle/>
          <a:p>
            <a:pPr indent="0" marL="0">
              <a:buNone/>
            </a:pPr>
            <a:r>
              <a:rPr lang="en-US" sz="1300" b="1" dirty="0">
                <a:solidFill>
                  <a:schemeClr val="tx1"/>
                </a:solidFill>
                <a:latin typeface="Menlo" pitchFamily="34" charset="0"/>
                <a:ea typeface="Menlo" pitchFamily="34" charset="-122"/>
                <a:cs typeface="Menlo" pitchFamily="34" charset="-120"/>
              </a:rPr>
              <a:t>make report</a:t>
            </a:r>
            <a:endParaRPr lang="en-US" sz="1300" dirty="0"/>
          </a:p>
        </p:txBody>
      </p:sp>
      <p:sp>
        <p:nvSpPr>
          <p:cNvPr id="35" name="text-424"/>
          <p:cNvSpPr txBox="1"/>
          <p:nvPr/>
        </p:nvSpPr>
        <p:spPr>
          <a:xfrm>
            <a:off x="6629400" y="5742432"/>
            <a:ext cx="4937760" cy="274320"/>
          </a:xfrm>
          <a:prstGeom prst="rect">
            <a:avLst/>
          </a:prstGeom>
          <a:noFill/>
          <a:ln/>
        </p:spPr>
        <p:txBody>
          <a:bodyPr wrap="square" lIns="0" tIns="0" rIns="0" bIns="0" rtlCol="0" anchor="ctr"/>
          <a:lstStyle/>
          <a:p>
            <a:pPr indent="0" marL="0">
              <a:buNone/>
            </a:pPr>
            <a:r>
              <a:rPr lang="en-US" sz="1200" dirty="0">
                <a:solidFill>
                  <a:schemeClr val="tx2"/>
                </a:solidFill>
              </a:rPr>
              <a:t>see what ran, step by step</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777240"/>
          </a:xfrm>
          <a:prstGeom prst="rect">
            <a:avLst/>
          </a:prstGeom>
          <a:noFill/>
          <a:ln/>
        </p:spPr>
        <p:txBody>
          <a:bodyPr wrap="square" lIns="0" tIns="0" rIns="0" bIns="0" rtlCol="0" anchor="ctr"/>
          <a:lstStyle/>
          <a:p>
            <a:pPr algn="l" indent="0" marL="0">
              <a:buNone/>
            </a:pPr>
            <a:r>
              <a:rPr lang="en-US" sz="3400" b="1" dirty="0">
                <a:solidFill>
                  <a:schemeClr val="tx1"/>
                </a:solidFill>
              </a:rPr>
              <a:t>A red test asks one question</a:t>
            </a:r>
            <a:endParaRPr lang="en-US" sz="3400" dirty="0"/>
          </a:p>
        </p:txBody>
      </p:sp>
      <p:sp>
        <p:nvSpPr>
          <p:cNvPr id="3" name="text-425"/>
          <p:cNvSpPr txBox="1"/>
          <p:nvPr/>
        </p:nvSpPr>
        <p:spPr>
          <a:xfrm>
            <a:off x="548640" y="1371600"/>
            <a:ext cx="11091672" cy="86868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Did the product change on purpose?</a:t>
            </a:r>
            <a:endParaRPr lang="en-US" sz="4000" dirty="0"/>
          </a:p>
        </p:txBody>
      </p:sp>
      <p:sp>
        <p:nvSpPr>
          <p:cNvPr id="4" name="card-426"/>
          <p:cNvSpPr/>
          <p:nvPr/>
        </p:nvSpPr>
        <p:spPr>
          <a:xfrm>
            <a:off x="548640" y="2514600"/>
            <a:ext cx="5440680" cy="2148840"/>
          </a:xfrm>
          <a:prstGeom prst="roundRect">
            <a:avLst>
              <a:gd name="adj" fmla="val 5957"/>
            </a:avLst>
          </a:prstGeom>
          <a:solidFill>
            <a:schemeClr val="accent1"/>
          </a:solidFill>
          <a:ln/>
        </p:spPr>
      </p:sp>
      <p:sp>
        <p:nvSpPr>
          <p:cNvPr id="5" name="node-427"/>
          <p:cNvSpPr/>
          <p:nvPr/>
        </p:nvSpPr>
        <p:spPr>
          <a:xfrm>
            <a:off x="859536" y="2779776"/>
            <a:ext cx="749808" cy="749808"/>
          </a:xfrm>
          <a:prstGeom prst="ellipse">
            <a:avLst/>
          </a:prstGeom>
          <a:solidFill>
            <a:schemeClr val="bg1"/>
          </a:solidFill>
          <a:ln/>
        </p:spPr>
      </p:sp>
      <p:pic>
        <p:nvPicPr>
          <p:cNvPr id="6" name="icon-428" descr="preencoded.png">    </p:cNvPr>
          <p:cNvPicPr>
            <a:picLocks noChangeAspect="1"/>
          </p:cNvPicPr>
          <p:nvPr/>
        </p:nvPicPr>
        <p:blipFill>
          <a:blip r:embed="rId1"/>
          <a:stretch>
            <a:fillRect/>
          </a:stretch>
        </p:blipFill>
        <p:spPr>
          <a:xfrm>
            <a:off x="1046988" y="2967228"/>
            <a:ext cx="374904" cy="374904"/>
          </a:xfrm>
          <a:prstGeom prst="rect">
            <a:avLst/>
          </a:prstGeom>
        </p:spPr>
      </p:pic>
      <p:sp>
        <p:nvSpPr>
          <p:cNvPr id="7" name="text-429"/>
          <p:cNvSpPr txBox="1"/>
          <p:nvPr/>
        </p:nvSpPr>
        <p:spPr>
          <a:xfrm>
            <a:off x="1828800" y="2788920"/>
            <a:ext cx="3931920" cy="68580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Yes</a:t>
            </a:r>
            <a:endParaRPr lang="en-US" sz="3200" dirty="0"/>
          </a:p>
        </p:txBody>
      </p:sp>
      <p:sp>
        <p:nvSpPr>
          <p:cNvPr id="8" name="text-430"/>
          <p:cNvSpPr txBox="1"/>
          <p:nvPr/>
        </p:nvSpPr>
        <p:spPr>
          <a:xfrm>
            <a:off x="960120" y="3703320"/>
            <a:ext cx="4754880" cy="777240"/>
          </a:xfrm>
          <a:prstGeom prst="rect">
            <a:avLst/>
          </a:prstGeom>
          <a:noFill/>
          <a:ln/>
        </p:spPr>
        <p:txBody>
          <a:bodyPr wrap="square" lIns="0" tIns="0" rIns="0" bIns="0" rtlCol="0" anchor="t"/>
          <a:lstStyle/>
          <a:p>
            <a:pPr indent="0" marL="0">
              <a:buNone/>
            </a:pPr>
            <a:r>
              <a:rPr lang="en-US" sz="1800" dirty="0">
                <a:solidFill>
                  <a:schemeClr val="bg1"/>
                </a:solidFill>
              </a:rPr>
              <a:t>Update scenario.md, then run </a:t>
            </a:r>
            <a:pPr indent="0" marL="0">
              <a:buNone/>
            </a:pPr>
            <a:r>
              <a:rPr lang="en-US" sz="1800" b="1" dirty="0">
                <a:solidFill>
                  <a:schemeClr val="bg1"/>
                </a:solidFill>
                <a:latin typeface="Menlo" pitchFamily="34" charset="0"/>
                <a:ea typeface="Menlo" pitchFamily="34" charset="-122"/>
                <a:cs typeface="Menlo" pitchFamily="34" charset="-120"/>
              </a:rPr>
              <a:t>/e2e-heal</a:t>
            </a:r>
            <a:endParaRPr lang="en-US" sz="1800" dirty="0"/>
          </a:p>
        </p:txBody>
      </p:sp>
      <p:sp>
        <p:nvSpPr>
          <p:cNvPr id="9" name="card-431"/>
          <p:cNvSpPr/>
          <p:nvPr/>
        </p:nvSpPr>
        <p:spPr>
          <a:xfrm>
            <a:off x="6199632" y="2514600"/>
            <a:ext cx="5440680" cy="2148840"/>
          </a:xfrm>
          <a:prstGeom prst="roundRect">
            <a:avLst>
              <a:gd name="adj" fmla="val 5957"/>
            </a:avLst>
          </a:prstGeom>
          <a:solidFill>
            <a:schemeClr val="accent4"/>
          </a:solidFill>
          <a:ln/>
        </p:spPr>
      </p:sp>
      <p:sp>
        <p:nvSpPr>
          <p:cNvPr id="10" name="node-432"/>
          <p:cNvSpPr/>
          <p:nvPr/>
        </p:nvSpPr>
        <p:spPr>
          <a:xfrm>
            <a:off x="6510528" y="2779776"/>
            <a:ext cx="749808" cy="749808"/>
          </a:xfrm>
          <a:prstGeom prst="ellipse">
            <a:avLst/>
          </a:prstGeom>
          <a:solidFill>
            <a:schemeClr val="bg1"/>
          </a:solidFill>
          <a:ln/>
        </p:spPr>
      </p:sp>
      <p:pic>
        <p:nvPicPr>
          <p:cNvPr id="11" name="icon-433" descr="preencoded.png">    </p:cNvPr>
          <p:cNvPicPr>
            <a:picLocks noChangeAspect="1"/>
          </p:cNvPicPr>
          <p:nvPr/>
        </p:nvPicPr>
        <p:blipFill>
          <a:blip r:embed="rId2"/>
          <a:stretch>
            <a:fillRect/>
          </a:stretch>
        </p:blipFill>
        <p:spPr>
          <a:xfrm>
            <a:off x="6697980" y="2967228"/>
            <a:ext cx="374904" cy="374904"/>
          </a:xfrm>
          <a:prstGeom prst="rect">
            <a:avLst/>
          </a:prstGeom>
        </p:spPr>
      </p:pic>
      <p:sp>
        <p:nvSpPr>
          <p:cNvPr id="12" name="text-434"/>
          <p:cNvSpPr txBox="1"/>
          <p:nvPr/>
        </p:nvSpPr>
        <p:spPr>
          <a:xfrm>
            <a:off x="7479792" y="2788920"/>
            <a:ext cx="3931920" cy="68580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No</a:t>
            </a:r>
            <a:endParaRPr lang="en-US" sz="3200" dirty="0"/>
          </a:p>
        </p:txBody>
      </p:sp>
      <p:sp>
        <p:nvSpPr>
          <p:cNvPr id="13" name="text-435"/>
          <p:cNvSpPr txBox="1"/>
          <p:nvPr/>
        </p:nvSpPr>
        <p:spPr>
          <a:xfrm>
            <a:off x="6611112" y="3703320"/>
            <a:ext cx="4754880" cy="777240"/>
          </a:xfrm>
          <a:prstGeom prst="rect">
            <a:avLst/>
          </a:prstGeom>
          <a:noFill/>
          <a:ln/>
        </p:spPr>
        <p:txBody>
          <a:bodyPr wrap="square" lIns="0" tIns="0" rIns="0" bIns="0" rtlCol="0" anchor="t"/>
          <a:lstStyle/>
          <a:p>
            <a:pPr indent="0" marL="0">
              <a:buNone/>
            </a:pPr>
            <a:r>
              <a:rPr lang="en-US" sz="1800" dirty="0">
                <a:solidFill>
                  <a:schemeClr val="bg1"/>
                </a:solidFill>
              </a:rPr>
              <a:t>It is a product bug. Report it, and leave the test as it is.</a:t>
            </a:r>
            <a:endParaRPr lang="en-US" sz="1800" dirty="0"/>
          </a:p>
        </p:txBody>
      </p:sp>
      <p:sp>
        <p:nvSpPr>
          <p:cNvPr id="14" name="text-436"/>
          <p:cNvSpPr txBox="1"/>
          <p:nvPr/>
        </p:nvSpPr>
        <p:spPr>
          <a:xfrm>
            <a:off x="548640" y="5074920"/>
            <a:ext cx="11091672" cy="411480"/>
          </a:xfrm>
          <a:prstGeom prst="rect">
            <a:avLst/>
          </a:prstGeom>
          <a:noFill/>
          <a:ln/>
        </p:spPr>
        <p:txBody>
          <a:bodyPr wrap="square" lIns="0" tIns="0" rIns="0" bIns="0" rtlCol="0" anchor="ctr"/>
          <a:lstStyle/>
          <a:p>
            <a:pPr indent="0" marL="0">
              <a:buNone/>
            </a:pPr>
            <a:r>
              <a:rPr lang="en-US" sz="2000" b="1" dirty="0">
                <a:solidFill>
                  <a:schemeClr val="tx1"/>
                </a:solidFill>
              </a:rPr>
              <a:t>Never edit an Expected result to make a run pass.</a:t>
            </a:r>
            <a:endParaRPr lang="en-US" sz="2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870"/>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BI E2E">
  <a:themeElements>
    <a:clrScheme name="OBI E2E">
      <a:dk1>
        <a:srgbClr val="0B1A2E"/>
      </a:dk1>
      <a:lt1>
        <a:srgbClr val="FFFFFF"/>
      </a:lt1>
      <a:dk2>
        <a:srgbClr val="4A5870"/>
      </a:dk2>
      <a:lt2>
        <a:srgbClr val="EEF2F7"/>
      </a:lt2>
      <a:accent1>
        <a:srgbClr val="026FD7"/>
      </a:accent1>
      <a:accent2>
        <a:srgbClr val="5CC8FF"/>
      </a:accent2>
      <a:accent3>
        <a:srgbClr val="25984D"/>
      </a:accent3>
      <a:accent4>
        <a:srgbClr val="E5484D"/>
      </a:accent4>
      <a:accent5>
        <a:srgbClr val="C99A2E"/>
      </a:accent5>
      <a:accent6>
        <a:srgbClr val="7C5CFF"/>
      </a:accent6>
      <a:hlink>
        <a:srgbClr val="026FD7"/>
      </a:hlink>
      <a:folHlink>
        <a:srgbClr val="7C5CFF"/>
      </a:folHlink>
    </a:clrScheme>
    <a:fontScheme name="OBI E2E">
      <a:majorFont>
        <a:latin typeface="Avenir Next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OBI end-to-end tests</dc:title>
  <dc:subject>PptxGenJS Presentation</dc:subject>
  <dc:creator>obi-e2e</dc:creator>
  <cp:lastModifiedBy>obi-e2e</cp:lastModifiedBy>
  <cp:revision>1</cp:revision>
  <dcterms:created xsi:type="dcterms:W3CDTF">2026-10-18T15:14:28Z</dcterms:created>
  <dcterms:modified xsi:type="dcterms:W3CDTF">2026-10-18T15:14:28Z</dcterms:modified>
</cp:coreProperties>
</file>